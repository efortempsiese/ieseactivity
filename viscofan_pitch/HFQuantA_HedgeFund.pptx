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charts/chart3.xml" ContentType="application/vnd.openxmlformats-officedocument.drawingml.chart+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Region</c:v>
                </c:pt>
              </c:strCache>
            </c:strRef>
          </c:tx>
          <c:spPr>
            <a:solidFill>
              <a:schemeClr val="accent1"/>
            </a:solidFill>
            <a:ln w="9525" cap="flat">
              <a:solidFill>
                <a:srgbClr val="F9F9F9"/>
              </a:solidFill>
              <a:prstDash val="solid"/>
              <a:round/>
            </a:ln>
            <a:effectLst/>
          </c:spPr>
          <c:dPt>
            <c:idx val="0"/>
            <c:bubble3D val="0"/>
            <c:spPr>
              <a:solidFill>
                <a:srgbClr val="14213D"/>
              </a:solidFill>
              <a:effectLst/>
            </c:spPr>
          </c:dPt>
          <c:dPt>
            <c:idx val="1"/>
            <c:bubble3D val="0"/>
            <c:spPr>
              <a:solidFill>
                <a:srgbClr val="5B7083"/>
              </a:solidFill>
              <a:effectLst/>
            </c:spPr>
          </c:dPt>
          <c:dPt>
            <c:idx val="2"/>
            <c:bubble3D val="0"/>
            <c:spPr>
              <a:solidFill>
                <a:srgbClr val="E8702A"/>
              </a:solidFill>
              <a:effectLst/>
            </c:spPr>
          </c:dPt>
          <c:dPt>
            <c:idx val="3"/>
            <c:bubble3D val="0"/>
            <c:spPr>
              <a:solidFill>
                <a:srgbClr val="A9B6C6"/>
              </a:solidFill>
              <a:effectLst/>
            </c:spPr>
          </c:dPt>
          <c:dLbls>
            <c:dLbl>
              <c:idx val="0"/>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2"/>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dLbl>
              <c:idx val="3"/>
              <c:numFmt formatCode="General" sourceLinked="0"/>
              <c:spPr/>
              <c:txPr>
                <a:bodyPr/>
                <a:lstStyle/>
                <a:p>
                  <a:pPr>
                    <a:defRPr sz="1200" b="0" i="0" u="none" strike="noStrike">
                      <a:solidFill>
                        <a:srgbClr val="FFFFFF"/>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EMEA</c:v>
                </c:pt>
                <c:pt idx="1">
                  <c:v>N. America</c:v>
                </c:pt>
                <c:pt idx="2">
                  <c:v>S. America</c:v>
                </c:pt>
                <c:pt idx="3">
                  <c:v>Asia-Pac.</c:v>
                </c:pt>
              </c:strCache>
            </c:strRef>
          </c:cat>
          <c:val>
            <c:numRef>
              <c:f>Sheet1!$B$2:$B$5</c:f>
              <c:numCache>
                <c:ptCount val="4"/>
                <c:pt idx="0">
                  <c:v>254.8</c:v>
                </c:pt>
                <c:pt idx="1">
                  <c:v>194.3</c:v>
                </c:pt>
                <c:pt idx="2">
                  <c:v>99.2</c:v>
                </c:pt>
                <c:pt idx="3">
                  <c:v>81.4</c:v>
                </c:pt>
              </c:numCache>
            </c:numRef>
          </c:val>
        </c:ser>
        <c:firstSliceAng val="0"/>
        <c:holeSize val="58"/>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EBITDA margin</c:v>
                </c:pt>
              </c:strCache>
            </c:strRef>
          </c:tx>
          <c:spPr>
            <a:solidFill>
              <a:srgbClr val="14213D"/>
            </a:solidFill>
            <a:effectLst/>
          </c:spPr>
          <c:invertIfNegative val="0"/>
          <c:dLbls>
            <c:numFmt formatCode="0.0" sourceLinked="0"/>
            <c:txPr>
              <a:bodyPr/>
              <a:lstStyle/>
              <a:p>
                <a:pPr>
                  <a:defRPr b="0" i="0" strike="noStrike" sz="900" u="none">
                    <a:solidFill>
                      <a:srgbClr val="1E2530"/>
                    </a:solidFill>
                    <a:latin typeface="Arial"/>
                  </a:defRPr>
                </a:pPr>
              </a:p>
            </c:txPr>
            <c:showLegendKey val="0"/>
            <c:showVal val="1"/>
            <c:showCatName val="0"/>
            <c:showSerName val="0"/>
            <c:showPercent val="0"/>
            <c:showBubbleSize val="0"/>
            <c:showLeaderLines val="0"/>
          </c:dLbls>
          <c:cat>
            <c:multiLvlStrRef>
              <c:f>Sheet1!$A$2:$A$7</c:f>
              <c:multiLvlStrCache>
                <c:ptCount val="6"/>
                <c:lvl>
                  <c:pt idx="0">
                    <c:v>FY21</c:v>
                  </c:pt>
                  <c:pt idx="1">
                    <c:v>FY22</c:v>
                  </c:pt>
                  <c:pt idx="2">
                    <c:v>FY23</c:v>
                  </c:pt>
                  <c:pt idx="3">
                    <c:v>FY24</c:v>
                  </c:pt>
                  <c:pt idx="4">
                    <c:v>FY25</c:v>
                  </c:pt>
                  <c:pt idx="5">
                    <c:v>LTM</c:v>
                  </c:pt>
                </c:lvl>
              </c:multiLvlStrCache>
            </c:multiLvlStrRef>
          </c:cat>
          <c:val>
            <c:numRef>
              <c:f>Sheet1!$B$2:$B$7</c:f>
              <c:numCache>
                <c:formatCode>General</c:formatCode>
                <c:ptCount val="6"/>
                <c:pt idx="0">
                  <c:v>25</c:v>
                </c:pt>
                <c:pt idx="1">
                  <c:v>21.8</c:v>
                </c:pt>
                <c:pt idx="2">
                  <c:v>21.5</c:v>
                </c:pt>
                <c:pt idx="3">
                  <c:v>23.2</c:v>
                </c:pt>
                <c:pt idx="4">
                  <c:v>22.6</c:v>
                </c:pt>
                <c:pt idx="5">
                  <c:v>21.5</c:v>
                </c:pt>
              </c:numCache>
            </c:numRef>
          </c:val>
        </c:ser>
        <c:dLbls>
          <c:numFmt formatCode="0.0" sourceLinked="0"/>
          <c:txPr>
            <a:bodyPr/>
            <a:lstStyle/>
            <a:p>
              <a:pPr>
                <a:defRPr b="0" i="0" strike="noStrike" sz="900" u="none">
                  <a:solidFill>
                    <a:srgbClr val="1E2530"/>
                  </a:solidFill>
                  <a:latin typeface="Arial"/>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900" b="0" i="0" u="none" strike="noStrike">
                <a:solidFill>
                  <a:srgbClr val="6B7684"/>
                </a:solidFill>
                <a:latin typeface="Arial"/>
              </a:defRPr>
            </a:pPr>
            <a:endParaRPr lang="en-US"/>
          </a:p>
        </c:txPr>
        <c:crossAx val="2094734552"/>
        <c:crosses val="autoZero"/>
        <c:auto val="1"/>
        <c:lblAlgn val="ctr"/>
        <c:noMultiLvlLbl val="1"/>
      </c:catAx>
      <c:valAx>
        <c:axId val="2094734552"/>
        <c:scaling>
          <c:orientation val="minMax"/>
          <c:max val="27"/>
          <c:min val="15"/>
        </c:scaling>
        <c:delete val="1"/>
        <c:axPos val="l"/>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Capex mix</c:v>
                </c:pt>
              </c:strCache>
            </c:strRef>
          </c:tx>
          <c:spPr>
            <a:solidFill>
              <a:schemeClr val="accent1"/>
            </a:solidFill>
            <a:ln w="9525" cap="flat">
              <a:solidFill>
                <a:srgbClr val="F9F9F9"/>
              </a:solidFill>
              <a:prstDash val="solid"/>
              <a:round/>
            </a:ln>
            <a:effectLst/>
          </c:spPr>
          <c:dPt>
            <c:idx val="0"/>
            <c:bubble3D val="0"/>
            <c:spPr>
              <a:solidFill>
                <a:srgbClr val="14213D"/>
              </a:solidFill>
              <a:effectLst/>
            </c:spPr>
          </c:dPt>
          <c:dPt>
            <c:idx val="1"/>
            <c:bubble3D val="0"/>
            <c:spPr>
              <a:solidFill>
                <a:srgbClr val="5B7083"/>
              </a:solidFill>
              <a:effectLst/>
            </c:spPr>
          </c:dPt>
          <c:dPt>
            <c:idx val="2"/>
            <c:bubble3D val="0"/>
            <c:spPr>
              <a:solidFill>
                <a:srgbClr val="E8702A"/>
              </a:solidFill>
              <a:effectLst/>
            </c:spPr>
          </c:dPt>
          <c:dPt>
            <c:idx val="3"/>
            <c:bubble3D val="0"/>
            <c:spPr>
              <a:solidFill>
                <a:srgbClr val="A9B6C6"/>
              </a:solidFill>
              <a:effectLst/>
            </c:spPr>
          </c:dPt>
          <c:dLbls>
            <c:dLbl>
              <c:idx val="0"/>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1"/>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2"/>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dLbl>
              <c:idx val="3"/>
              <c:numFmt formatCode="0%" sourceLinked="0"/>
              <c:spPr/>
              <c:txPr>
                <a:bodyPr/>
                <a:lstStyle/>
                <a:p>
                  <a:pPr>
                    <a:defRPr sz="1000" b="0" i="0" u="none" strike="noStrike">
                      <a:solidFill>
                        <a:srgbClr val="FFFFFF"/>
                      </a:solidFill>
                      <a:latin typeface="Arial"/>
                    </a:defRPr>
                  </a:pPr>
                </a:p>
              </c:txPr>
              <c:showLegendKey val="0"/>
              <c:showVal val="0"/>
              <c:showCatName val="0"/>
              <c:showSerName val="0"/>
              <c:showPercent val="1"/>
              <c:showBubbleSize val="0"/>
            </c:dLbl>
            <c:numFmt formatCode="0%"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Sheet1!$A$2:$A$5</c:f>
              <c:strCache>
                <c:ptCount val="4"/>
                <c:pt idx="0">
                  <c:v>Capacity</c:v>
                </c:pt>
                <c:pt idx="1">
                  <c:v>Process improvements</c:v>
                </c:pt>
                <c:pt idx="2">
                  <c:v>Environment &amp; safety</c:v>
                </c:pt>
                <c:pt idx="3">
                  <c:v>Other recurring</c:v>
                </c:pt>
              </c:strCache>
            </c:strRef>
          </c:cat>
          <c:val>
            <c:numRef>
              <c:f>Sheet1!$B$2:$B$5</c:f>
              <c:numCache>
                <c:ptCount val="4"/>
                <c:pt idx="0">
                  <c:v>56</c:v>
                </c:pt>
                <c:pt idx="1">
                  <c:v>20</c:v>
                </c:pt>
                <c:pt idx="2">
                  <c:v>13</c:v>
                </c:pt>
                <c:pt idx="3">
                  <c:v>11</c:v>
                </c:pt>
              </c:numCache>
            </c:numRef>
          </c:val>
        </c:ser>
        <c:firstSliceAng val="0"/>
        <c:holeSize val="55"/>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We are long Viscofan, with an 18–24 month target of €64.2, about 20% above today's €53.70, or roughly 32% including dividends. Three reasons. One: casing volumes are still growing everywhere, even through the Middle East conflict, and prices are going up in H2. Two: the margin drop is mostly FX and a one-off energy spike; like-for-like margin is 23%, not 21%. Three: at under 9x our FY27 EBITDA, with a 1x-levered balance sheet, the stock is cheap if margins simply normalise. We need no re-rating in our base case. The bull case is the Street's base case. Risk/reward is about 2 to 1, and we cap the downside with a stop at €45.6.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Viscofan makes the casings that sausages are made in. It is number one globally and the only company making all four casing technologies. Demand follows processed-meat consumption, so it is not cyclical, and two long-term shifts help: replacement of animal gut with collagen, and consolidation in cellulose where competitors are cutting capacity while Viscofan adds it. Margins have dipped before, with the 2022 energy shock, and came back above 23% within two years. Health and Pet are exciting, but under 2% of sales, so we keep them as bull-case upside rather than build the thesis on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(~75s) Our anchor is an exit multiple on FY27 EBITDA, because that is what the market will be pricing when we exit. Base case: EBITDA recovers to €315M, which is 4% below consensus, at today's 10x. That gives €61, so the upside comes from earnings, not from multiple expansion. Bear: the energy shock persists, the dollar weakens and the stock de-rates to food-peer levels at 8x: €42. Bull: energy normalises and the dollar helps, at 11.5x: €78, which is roughly the Street's own target. Weighting 15/50/35 gives €64.2. The DCF cross-checks at €61, and every method except the bear case sits above today's price.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(~60s) Our variant view: the headline numbers look bad, with EBITDA down 7%, but almost all of that is currency translation and a Q2 energy spike. Like-for-like, EBITDA grew 3%, and the company is already pushing prices through. FX is also turning: the stronger dollar already shows as gains in the finance line. So the stock trades at under 9x the earnings we expect in FY27, while the Street's own target implies 12x. Catalysts within our window: Q3 results this month as the first proof of price increases, then FY26 results and 2027 guidance in February. The disclosed shorts come from quant funds, so a better print could force covering. Trade: long at €53.70, target €64, stop at €45.6, with a USD forward overlay.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(~45s) What would make us wrong? First, FX. FX hits EBITDA three times harder than sales because Viscofan sells in dollars but produces partly in pesos and reais. Our answer is to sell dollars forward on about 30% of the position, and the dollar is currently moving in our favour. Second, energy: Q2 costs jumped 17%, but the gas sensitivity is small and prices are already going up. We review the position if the Q3 margin comes in below 21.4%. If both go wrong, the bear case is €42; our stop at €45.6 limits the loss to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chart" Target="/ppt/charts/chart3.xml"/><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13D"/>
        </a:solidFill>
      </p:bgPr>
    </p:bg>
    <p:spTree>
      <p:nvGrpSpPr>
        <p:cNvPr id="1" name=""/>
        <p:cNvGrpSpPr/>
        <p:nvPr/>
      </p:nvGrpSpPr>
      <p:grpSpPr>
        <a:xfrm>
          <a:off x="0" y="0"/>
          <a:ext cx="0" cy="0"/>
          <a:chOff x="0" y="0"/>
          <a:chExt cx="0" cy="0"/>
        </a:xfrm>
      </p:grpSpPr>
      <p:sp>
        <p:nvSpPr>
          <p:cNvPr id="2" name="Shape 0"/>
          <p:cNvSpPr/>
          <p:nvPr/>
        </p:nvSpPr>
        <p:spPr>
          <a:xfrm>
            <a:off x="457200" y="347472"/>
            <a:ext cx="384048" cy="384048"/>
          </a:xfrm>
          <a:prstGeom prst="ellipse">
            <a:avLst/>
          </a:prstGeom>
          <a:solidFill>
            <a:srgbClr val="E8702A"/>
          </a:solidFill>
          <a:ln w="12700">
            <a:solidFill>
              <a:srgbClr val="E8702A"/>
            </a:solidFill>
            <a:prstDash val="solid"/>
          </a:ln>
        </p:spPr>
      </p:sp>
      <p:sp>
        <p:nvSpPr>
          <p:cNvPr id="3" name="Text 1"/>
          <p:cNvSpPr txBox="1"/>
          <p:nvPr/>
        </p:nvSpPr>
        <p:spPr>
          <a:xfrm>
            <a:off x="457200" y="3474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4" name="Text 2"/>
          <p:cNvSpPr txBox="1"/>
          <p:nvPr/>
        </p:nvSpPr>
        <p:spPr>
          <a:xfrm>
            <a:off x="960120" y="347472"/>
            <a:ext cx="7315200" cy="384048"/>
          </a:xfrm>
          <a:prstGeom prst="rect">
            <a:avLst/>
          </a:prstGeom>
          <a:noFill/>
          <a:ln/>
        </p:spPr>
        <p:txBody>
          <a:bodyPr wrap="square" lIns="0" tIns="0" rIns="0" bIns="0" rtlCol="0" anchor="ctr"/>
          <a:lstStyle/>
          <a:p>
            <a:pPr indent="0" marL="0">
              <a:buNone/>
            </a:pPr>
            <a:r>
              <a:rPr lang="en-US" sz="1100" b="1" spc="200" kern="0" dirty="0">
                <a:solidFill>
                  <a:srgbClr val="AEB9CC"/>
                </a:solidFill>
                <a:latin typeface="Calibri" pitchFamily="34" charset="0"/>
                <a:ea typeface="Calibri" pitchFamily="34" charset="-122"/>
                <a:cs typeface="Calibri" pitchFamily="34" charset="-120"/>
              </a:rPr>
              <a:t>RECOMMENDATION &amp; THESIS</a:t>
            </a:r>
            <a:endParaRPr lang="en-US" sz="1100" dirty="0"/>
          </a:p>
        </p:txBody>
      </p:sp>
      <p:sp>
        <p:nvSpPr>
          <p:cNvPr id="5" name="Text 3"/>
          <p:cNvSpPr txBox="1"/>
          <p:nvPr/>
        </p:nvSpPr>
        <p:spPr>
          <a:xfrm>
            <a:off x="457200" y="777240"/>
            <a:ext cx="11277295" cy="685800"/>
          </a:xfrm>
          <a:prstGeom prst="rect">
            <a:avLst/>
          </a:prstGeom>
          <a:noFill/>
          <a:ln/>
        </p:spPr>
        <p:txBody>
          <a:bodyPr wrap="square" lIns="0" tIns="0" rIns="0" bIns="0" rtlCol="0" anchor="t"/>
          <a:lstStyle/>
          <a:p>
            <a:pPr indent="0" marL="0">
              <a:buNone/>
            </a:pPr>
            <a:r>
              <a:rPr lang="en-US" sz="2400" b="1" dirty="0">
                <a:solidFill>
                  <a:srgbClr val="FFFFFF"/>
                </a:solidFill>
                <a:latin typeface="Cambria" pitchFamily="34" charset="0"/>
                <a:ea typeface="Cambria" pitchFamily="34" charset="-122"/>
                <a:cs typeface="Cambria" pitchFamily="34" charset="-120"/>
              </a:rPr>
              <a:t>LONG Viscofan: volumes are intact and the margin trough is temporary. Target €64.2 (+20%) in 18–24 months</a:t>
            </a:r>
            <a:endParaRPr lang="en-US" sz="2400" dirty="0"/>
          </a:p>
        </p:txBody>
      </p:sp>
      <p:sp>
        <p:nvSpPr>
          <p:cNvPr id="6" name="Text 4"/>
          <p:cNvSpPr txBox="1"/>
          <p:nvPr/>
        </p:nvSpPr>
        <p:spPr>
          <a:xfrm>
            <a:off x="457200" y="1783080"/>
            <a:ext cx="3931920" cy="502920"/>
          </a:xfrm>
          <a:prstGeom prst="rect">
            <a:avLst/>
          </a:prstGeom>
          <a:noFill/>
          <a:ln/>
        </p:spPr>
        <p:txBody>
          <a:bodyPr wrap="square" lIns="0" tIns="0" rIns="0" bIns="0" rtlCol="0" anchor="t"/>
          <a:lstStyle/>
          <a:p>
            <a:pPr indent="0" marL="0">
              <a:buNone/>
            </a:pPr>
            <a:r>
              <a:rPr lang="en-US" sz="3000" b="1" dirty="0">
                <a:solidFill>
                  <a:srgbClr val="E8702A"/>
                </a:solidFill>
                <a:latin typeface="Cambria" pitchFamily="34" charset="0"/>
                <a:ea typeface="Cambria" pitchFamily="34" charset="-122"/>
                <a:cs typeface="Cambria" pitchFamily="34" charset="-120"/>
              </a:rPr>
              <a:t>€53.70 → €64.2</a:t>
            </a:r>
            <a:endParaRPr lang="en-US" sz="3000" dirty="0"/>
          </a:p>
        </p:txBody>
      </p:sp>
      <p:sp>
        <p:nvSpPr>
          <p:cNvPr id="7" name="Text 5"/>
          <p:cNvSpPr txBox="1"/>
          <p:nvPr/>
        </p:nvSpPr>
        <p:spPr>
          <a:xfrm>
            <a:off x="457200" y="2286000"/>
            <a:ext cx="3931920" cy="411480"/>
          </a:xfrm>
          <a:prstGeom prst="rect">
            <a:avLst/>
          </a:prstGeom>
          <a:noFill/>
          <a:ln/>
        </p:spPr>
        <p:txBody>
          <a:bodyPr wrap="square" lIns="0" tIns="0" rIns="0" bIns="0" rtlCol="0" anchor="t"/>
          <a:lstStyle/>
          <a:p>
            <a:pPr indent="0" marL="0">
              <a:buNone/>
            </a:pPr>
            <a:r>
              <a:rPr lang="en-US" sz="1100" dirty="0">
                <a:solidFill>
                  <a:srgbClr val="C3CCDA"/>
                </a:solidFill>
                <a:latin typeface="Calibri" pitchFamily="34" charset="0"/>
                <a:ea typeface="Calibri" pitchFamily="34" charset="-122"/>
                <a:cs typeface="Calibri" pitchFamily="34" charset="-120"/>
              </a:rPr>
              <a:t>Share price → probability-weighted target (15% bear / 50% base / 35% bull)</a:t>
            </a:r>
            <a:endParaRPr lang="en-US" sz="1100" dirty="0"/>
          </a:p>
        </p:txBody>
      </p:sp>
      <p:sp>
        <p:nvSpPr>
          <p:cNvPr id="8" name="Text 6"/>
          <p:cNvSpPr txBox="1"/>
          <p:nvPr/>
        </p:nvSpPr>
        <p:spPr>
          <a:xfrm>
            <a:off x="457200" y="2807208"/>
            <a:ext cx="393192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+19.6%</a:t>
            </a:r>
            <a:endParaRPr lang="en-US" sz="3000" dirty="0"/>
          </a:p>
        </p:txBody>
      </p:sp>
      <p:sp>
        <p:nvSpPr>
          <p:cNvPr id="9" name="Text 7"/>
          <p:cNvSpPr txBox="1"/>
          <p:nvPr/>
        </p:nvSpPr>
        <p:spPr>
          <a:xfrm>
            <a:off x="457200" y="3310128"/>
            <a:ext cx="3931920" cy="411480"/>
          </a:xfrm>
          <a:prstGeom prst="rect">
            <a:avLst/>
          </a:prstGeom>
          <a:noFill/>
          <a:ln/>
        </p:spPr>
        <p:txBody>
          <a:bodyPr wrap="square" lIns="0" tIns="0" rIns="0" bIns="0" rtlCol="0" anchor="t"/>
          <a:lstStyle/>
          <a:p>
            <a:pPr indent="0" marL="0">
              <a:buNone/>
            </a:pPr>
            <a:r>
              <a:rPr lang="en-US" sz="1100" dirty="0">
                <a:solidFill>
                  <a:srgbClr val="C3CCDA"/>
                </a:solidFill>
                <a:latin typeface="Calibri" pitchFamily="34" charset="0"/>
                <a:ea typeface="Calibri" pitchFamily="34" charset="-122"/>
                <a:cs typeface="Calibri" pitchFamily="34" charset="-120"/>
              </a:rPr>
              <a:t>Price upside; base case assumes no re-rating</a:t>
            </a:r>
            <a:endParaRPr lang="en-US" sz="1100" dirty="0"/>
          </a:p>
        </p:txBody>
      </p:sp>
      <p:sp>
        <p:nvSpPr>
          <p:cNvPr id="10" name="Text 8"/>
          <p:cNvSpPr txBox="1"/>
          <p:nvPr/>
        </p:nvSpPr>
        <p:spPr>
          <a:xfrm>
            <a:off x="457200" y="3831336"/>
            <a:ext cx="393192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+32%</a:t>
            </a:r>
            <a:endParaRPr lang="en-US" sz="3000" dirty="0"/>
          </a:p>
        </p:txBody>
      </p:sp>
      <p:sp>
        <p:nvSpPr>
          <p:cNvPr id="11" name="Text 9"/>
          <p:cNvSpPr txBox="1"/>
          <p:nvPr/>
        </p:nvSpPr>
        <p:spPr>
          <a:xfrm>
            <a:off x="457200" y="4334256"/>
            <a:ext cx="3931920" cy="411480"/>
          </a:xfrm>
          <a:prstGeom prst="rect">
            <a:avLst/>
          </a:prstGeom>
          <a:noFill/>
          <a:ln/>
        </p:spPr>
        <p:txBody>
          <a:bodyPr wrap="square" lIns="0" tIns="0" rIns="0" bIns="0" rtlCol="0" anchor="t"/>
          <a:lstStyle/>
          <a:p>
            <a:pPr indent="0" marL="0">
              <a:buNone/>
            </a:pPr>
            <a:r>
              <a:rPr lang="en-US" sz="1100" dirty="0">
                <a:solidFill>
                  <a:srgbClr val="C3CCDA"/>
                </a:solidFill>
                <a:latin typeface="Calibri" pitchFamily="34" charset="0"/>
                <a:ea typeface="Calibri" pitchFamily="34" charset="-122"/>
                <a:cs typeface="Calibri" pitchFamily="34" charset="-120"/>
              </a:rPr>
              <a:t>Expected total return incl. €6.68 consensus dividends (~17% p.a.)</a:t>
            </a:r>
            <a:endParaRPr lang="en-US" sz="1100" dirty="0"/>
          </a:p>
        </p:txBody>
      </p:sp>
      <p:sp>
        <p:nvSpPr>
          <p:cNvPr id="12" name="Text 10"/>
          <p:cNvSpPr txBox="1"/>
          <p:nvPr/>
        </p:nvSpPr>
        <p:spPr>
          <a:xfrm>
            <a:off x="457200" y="4855464"/>
            <a:ext cx="3931920" cy="502920"/>
          </a:xfrm>
          <a:prstGeom prst="rect">
            <a:avLst/>
          </a:prstGeom>
          <a:noFill/>
          <a:ln/>
        </p:spPr>
        <p:txBody>
          <a:bodyPr wrap="square" lIns="0" tIns="0" rIns="0" bIns="0" rtlCol="0" anchor="t"/>
          <a:lstStyle/>
          <a:p>
            <a:pPr indent="0" marL="0">
              <a:buNone/>
            </a:pPr>
            <a:r>
              <a:rPr lang="en-US" sz="3000" b="1" dirty="0">
                <a:solidFill>
                  <a:srgbClr val="FFFFFF"/>
                </a:solidFill>
                <a:latin typeface="Cambria" pitchFamily="34" charset="0"/>
                <a:ea typeface="Cambria" pitchFamily="34" charset="-122"/>
                <a:cs typeface="Cambria" pitchFamily="34" charset="-120"/>
              </a:rPr>
              <a:t>2.1x</a:t>
            </a:r>
            <a:endParaRPr lang="en-US" sz="3000" dirty="0"/>
          </a:p>
        </p:txBody>
      </p:sp>
      <p:sp>
        <p:nvSpPr>
          <p:cNvPr id="13" name="Text 11"/>
          <p:cNvSpPr txBox="1"/>
          <p:nvPr/>
        </p:nvSpPr>
        <p:spPr>
          <a:xfrm>
            <a:off x="457200" y="5358384"/>
            <a:ext cx="3931920" cy="411480"/>
          </a:xfrm>
          <a:prstGeom prst="rect">
            <a:avLst/>
          </a:prstGeom>
          <a:noFill/>
          <a:ln/>
        </p:spPr>
        <p:txBody>
          <a:bodyPr wrap="square" lIns="0" tIns="0" rIns="0" bIns="0" rtlCol="0" anchor="t"/>
          <a:lstStyle/>
          <a:p>
            <a:pPr indent="0" marL="0">
              <a:buNone/>
            </a:pPr>
            <a:r>
              <a:rPr lang="en-US" sz="1100" dirty="0">
                <a:solidFill>
                  <a:srgbClr val="C3CCDA"/>
                </a:solidFill>
                <a:latin typeface="Calibri" pitchFamily="34" charset="0"/>
                <a:ea typeface="Calibri" pitchFamily="34" charset="-122"/>
                <a:cs typeface="Calibri" pitchFamily="34" charset="-120"/>
              </a:rPr>
              <a:t>Upside / downside: bull +45% vs bear −21%</a:t>
            </a:r>
            <a:endParaRPr lang="en-US" sz="1100" dirty="0"/>
          </a:p>
        </p:txBody>
      </p:sp>
      <p:sp>
        <p:nvSpPr>
          <p:cNvPr id="14" name="Shape 12"/>
          <p:cNvSpPr/>
          <p:nvPr/>
        </p:nvSpPr>
        <p:spPr>
          <a:xfrm>
            <a:off x="4709160" y="1783080"/>
            <a:ext cx="7022592" cy="1234440"/>
          </a:xfrm>
          <a:prstGeom prst="roundRect">
            <a:avLst>
              <a:gd name="adj" fmla="val 5926"/>
            </a:avLst>
          </a:prstGeom>
          <a:solidFill>
            <a:srgbClr val="22345C"/>
          </a:solidFill>
          <a:ln w="12700">
            <a:solidFill>
              <a:srgbClr val="22345C"/>
            </a:solidFill>
            <a:prstDash val="solid"/>
          </a:ln>
        </p:spPr>
      </p:sp>
      <p:sp>
        <p:nvSpPr>
          <p:cNvPr id="15" name="Text 13"/>
          <p:cNvSpPr txBox="1"/>
          <p:nvPr/>
        </p:nvSpPr>
        <p:spPr>
          <a:xfrm>
            <a:off x="4892040" y="1947672"/>
            <a:ext cx="411480" cy="548640"/>
          </a:xfrm>
          <a:prstGeom prst="rect">
            <a:avLst/>
          </a:prstGeom>
          <a:noFill/>
          <a:ln/>
        </p:spPr>
        <p:txBody>
          <a:bodyPr wrap="square" lIns="0" tIns="0" rIns="0" bIns="0" rtlCol="0" anchor="t"/>
          <a:lstStyle/>
          <a:p>
            <a:pPr indent="0" marL="0">
              <a:buNone/>
            </a:pPr>
            <a:r>
              <a:rPr lang="en-US" sz="3000" b="1" dirty="0">
                <a:solidFill>
                  <a:srgbClr val="E8702A"/>
                </a:solidFill>
                <a:latin typeface="Cambria" pitchFamily="34" charset="0"/>
                <a:ea typeface="Cambria" pitchFamily="34" charset="-122"/>
                <a:cs typeface="Cambria" pitchFamily="34" charset="-120"/>
              </a:rPr>
              <a:t>1</a:t>
            </a:r>
            <a:endParaRPr lang="en-US" sz="3000" dirty="0"/>
          </a:p>
        </p:txBody>
      </p:sp>
      <p:sp>
        <p:nvSpPr>
          <p:cNvPr id="16" name="Text 14"/>
          <p:cNvSpPr txBox="1"/>
          <p:nvPr/>
        </p:nvSpPr>
        <p:spPr>
          <a:xfrm>
            <a:off x="5440680" y="1920240"/>
            <a:ext cx="6108192" cy="32004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Volumes held, prices pass through</a:t>
            </a:r>
            <a:endParaRPr lang="en-US" sz="1500" dirty="0"/>
          </a:p>
        </p:txBody>
      </p:sp>
      <p:sp>
        <p:nvSpPr>
          <p:cNvPr id="17" name="Text 15"/>
          <p:cNvSpPr txBox="1"/>
          <p:nvPr/>
        </p:nvSpPr>
        <p:spPr>
          <a:xfrm>
            <a:off x="5440680" y="2258568"/>
            <a:ext cx="6108192" cy="685800"/>
          </a:xfrm>
          <a:prstGeom prst="rect">
            <a:avLst/>
          </a:prstGeom>
          <a:noFill/>
          <a:ln/>
        </p:spPr>
        <p:txBody>
          <a:bodyPr wrap="square" lIns="0" tIns="0" rIns="0" bIns="0" rtlCol="0" anchor="t"/>
          <a:lstStyle/>
          <a:p>
            <a:pPr indent="0" marL="0">
              <a:buNone/>
            </a:pPr>
            <a:r>
              <a:rPr lang="en-US" sz="1150" dirty="0">
                <a:solidFill>
                  <a:srgbClr val="D6DDE8"/>
                </a:solidFill>
                <a:latin typeface="Calibri" pitchFamily="34" charset="0"/>
                <a:ea typeface="Calibri" pitchFamily="34" charset="-122"/>
                <a:cs typeface="Calibri" pitchFamily="34" charset="-120"/>
              </a:rPr>
              <a:t>Like-for-like revenue +4.8% in 1H26 with volume growth in all four regions. Q2 revenue +4.3% in the middle of the Middle East conflict; H2-26 price increases already implemented.</a:t>
            </a:r>
            <a:endParaRPr lang="en-US" sz="1150" dirty="0"/>
          </a:p>
        </p:txBody>
      </p:sp>
      <p:sp>
        <p:nvSpPr>
          <p:cNvPr id="18" name="Shape 16"/>
          <p:cNvSpPr/>
          <p:nvPr/>
        </p:nvSpPr>
        <p:spPr>
          <a:xfrm>
            <a:off x="4709160" y="3154680"/>
            <a:ext cx="7022592" cy="1234440"/>
          </a:xfrm>
          <a:prstGeom prst="roundRect">
            <a:avLst>
              <a:gd name="adj" fmla="val 5926"/>
            </a:avLst>
          </a:prstGeom>
          <a:solidFill>
            <a:srgbClr val="22345C"/>
          </a:solidFill>
          <a:ln w="12700">
            <a:solidFill>
              <a:srgbClr val="22345C"/>
            </a:solidFill>
            <a:prstDash val="solid"/>
          </a:ln>
        </p:spPr>
      </p:sp>
      <p:sp>
        <p:nvSpPr>
          <p:cNvPr id="19" name="Text 17"/>
          <p:cNvSpPr txBox="1"/>
          <p:nvPr/>
        </p:nvSpPr>
        <p:spPr>
          <a:xfrm>
            <a:off x="4892040" y="3319272"/>
            <a:ext cx="411480" cy="548640"/>
          </a:xfrm>
          <a:prstGeom prst="rect">
            <a:avLst/>
          </a:prstGeom>
          <a:noFill/>
          <a:ln/>
        </p:spPr>
        <p:txBody>
          <a:bodyPr wrap="square" lIns="0" tIns="0" rIns="0" bIns="0" rtlCol="0" anchor="t"/>
          <a:lstStyle/>
          <a:p>
            <a:pPr indent="0" marL="0">
              <a:buNone/>
            </a:pPr>
            <a:r>
              <a:rPr lang="en-US" sz="3000" b="1" dirty="0">
                <a:solidFill>
                  <a:srgbClr val="E8702A"/>
                </a:solidFill>
                <a:latin typeface="Cambria" pitchFamily="34" charset="0"/>
                <a:ea typeface="Cambria" pitchFamily="34" charset="-122"/>
                <a:cs typeface="Cambria" pitchFamily="34" charset="-120"/>
              </a:rPr>
              <a:t>2</a:t>
            </a:r>
            <a:endParaRPr lang="en-US" sz="3000" dirty="0"/>
          </a:p>
        </p:txBody>
      </p:sp>
      <p:sp>
        <p:nvSpPr>
          <p:cNvPr id="20" name="Text 18"/>
          <p:cNvSpPr txBox="1"/>
          <p:nvPr/>
        </p:nvSpPr>
        <p:spPr>
          <a:xfrm>
            <a:off x="5440680" y="3291840"/>
            <a:ext cx="6108192" cy="32004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The margin dip is cyclical, not structural</a:t>
            </a:r>
            <a:endParaRPr lang="en-US" sz="1500" dirty="0"/>
          </a:p>
        </p:txBody>
      </p:sp>
      <p:sp>
        <p:nvSpPr>
          <p:cNvPr id="21" name="Text 19"/>
          <p:cNvSpPr txBox="1"/>
          <p:nvPr/>
        </p:nvSpPr>
        <p:spPr>
          <a:xfrm>
            <a:off x="5440680" y="3630168"/>
            <a:ext cx="6108192" cy="685800"/>
          </a:xfrm>
          <a:prstGeom prst="rect">
            <a:avLst/>
          </a:prstGeom>
          <a:noFill/>
          <a:ln/>
        </p:spPr>
        <p:txBody>
          <a:bodyPr wrap="square" lIns="0" tIns="0" rIns="0" bIns="0" rtlCol="0" anchor="t"/>
          <a:lstStyle/>
          <a:p>
            <a:pPr indent="0" marL="0">
              <a:buNone/>
            </a:pPr>
            <a:r>
              <a:rPr lang="en-US" sz="1150" dirty="0">
                <a:solidFill>
                  <a:srgbClr val="D6DDE8"/>
                </a:solidFill>
                <a:latin typeface="Calibri" pitchFamily="34" charset="0"/>
                <a:ea typeface="Calibri" pitchFamily="34" charset="-122"/>
                <a:cs typeface="Calibri" pitchFamily="34" charset="-120"/>
              </a:rPr>
              <a:t>Like-for-like EBITDA margin 23.1% vs 21.4% reported: FX alone cost €14.6M of EBITDA. A +10% gas move costs only ~€1.7M of operating profit.</a:t>
            </a:r>
            <a:endParaRPr lang="en-US" sz="1150" dirty="0"/>
          </a:p>
        </p:txBody>
      </p:sp>
      <p:sp>
        <p:nvSpPr>
          <p:cNvPr id="22" name="Shape 20"/>
          <p:cNvSpPr/>
          <p:nvPr/>
        </p:nvSpPr>
        <p:spPr>
          <a:xfrm>
            <a:off x="4709160" y="4526280"/>
            <a:ext cx="7022592" cy="1234440"/>
          </a:xfrm>
          <a:prstGeom prst="roundRect">
            <a:avLst>
              <a:gd name="adj" fmla="val 5926"/>
            </a:avLst>
          </a:prstGeom>
          <a:solidFill>
            <a:srgbClr val="22345C"/>
          </a:solidFill>
          <a:ln w="12700">
            <a:solidFill>
              <a:srgbClr val="22345C"/>
            </a:solidFill>
            <a:prstDash val="solid"/>
          </a:ln>
        </p:spPr>
      </p:sp>
      <p:sp>
        <p:nvSpPr>
          <p:cNvPr id="23" name="Text 21"/>
          <p:cNvSpPr txBox="1"/>
          <p:nvPr/>
        </p:nvSpPr>
        <p:spPr>
          <a:xfrm>
            <a:off x="4892040" y="4690872"/>
            <a:ext cx="411480" cy="548640"/>
          </a:xfrm>
          <a:prstGeom prst="rect">
            <a:avLst/>
          </a:prstGeom>
          <a:noFill/>
          <a:ln/>
        </p:spPr>
        <p:txBody>
          <a:bodyPr wrap="square" lIns="0" tIns="0" rIns="0" bIns="0" rtlCol="0" anchor="t"/>
          <a:lstStyle/>
          <a:p>
            <a:pPr indent="0" marL="0">
              <a:buNone/>
            </a:pPr>
            <a:r>
              <a:rPr lang="en-US" sz="3000" b="1" dirty="0">
                <a:solidFill>
                  <a:srgbClr val="E8702A"/>
                </a:solidFill>
                <a:latin typeface="Cambria" pitchFamily="34" charset="0"/>
                <a:ea typeface="Cambria" pitchFamily="34" charset="-122"/>
                <a:cs typeface="Cambria" pitchFamily="34" charset="-120"/>
              </a:rPr>
              <a:t>3</a:t>
            </a:r>
            <a:endParaRPr lang="en-US" sz="3000" dirty="0"/>
          </a:p>
        </p:txBody>
      </p:sp>
      <p:sp>
        <p:nvSpPr>
          <p:cNvPr id="24" name="Text 22"/>
          <p:cNvSpPr txBox="1"/>
          <p:nvPr/>
        </p:nvSpPr>
        <p:spPr>
          <a:xfrm>
            <a:off x="5440680" y="4663440"/>
            <a:ext cx="6108192" cy="320040"/>
          </a:xfrm>
          <a:prstGeom prst="rect">
            <a:avLst/>
          </a:prstGeom>
          <a:noFill/>
          <a:ln/>
        </p:spPr>
        <p:txBody>
          <a:bodyPr wrap="square" lIns="0" tIns="0" rIns="0" bIns="0" rtlCol="0" anchor="t"/>
          <a:lstStyle/>
          <a:p>
            <a:pPr indent="0" marL="0">
              <a:buNone/>
            </a:pPr>
            <a:r>
              <a:rPr lang="en-US" sz="1500" b="1" dirty="0">
                <a:solidFill>
                  <a:srgbClr val="FFFFFF"/>
                </a:solidFill>
                <a:latin typeface="Cambria" pitchFamily="34" charset="0"/>
                <a:ea typeface="Cambria" pitchFamily="34" charset="-122"/>
                <a:cs typeface="Cambria" pitchFamily="34" charset="-120"/>
              </a:rPr>
              <a:t>Cheap on recovery, balance sheet intact</a:t>
            </a:r>
            <a:endParaRPr lang="en-US" sz="1500" dirty="0"/>
          </a:p>
        </p:txBody>
      </p:sp>
      <p:sp>
        <p:nvSpPr>
          <p:cNvPr id="25" name="Text 23"/>
          <p:cNvSpPr txBox="1"/>
          <p:nvPr/>
        </p:nvSpPr>
        <p:spPr>
          <a:xfrm>
            <a:off x="5440680" y="5001768"/>
            <a:ext cx="6108192" cy="685800"/>
          </a:xfrm>
          <a:prstGeom prst="rect">
            <a:avLst/>
          </a:prstGeom>
          <a:noFill/>
          <a:ln/>
        </p:spPr>
        <p:txBody>
          <a:bodyPr wrap="square" lIns="0" tIns="0" rIns="0" bIns="0" rtlCol="0" anchor="t"/>
          <a:lstStyle/>
          <a:p>
            <a:pPr indent="0" marL="0">
              <a:buNone/>
            </a:pPr>
            <a:r>
              <a:rPr lang="en-US" sz="1150" dirty="0">
                <a:solidFill>
                  <a:srgbClr val="D6DDE8"/>
                </a:solidFill>
                <a:latin typeface="Calibri" pitchFamily="34" charset="0"/>
                <a:ea typeface="Calibri" pitchFamily="34" charset="-122"/>
                <a:cs typeface="Calibri" pitchFamily="34" charset="-120"/>
              </a:rPr>
              <a:t>8.9x EV / our FY27E EBITDA vs 12.0x implied by the Street's €78.7 target. Net bank debt 1.0x EBITDA funds €100M Beat'30 capex and ~€3.3/share dividends.</a:t>
            </a:r>
            <a:endParaRPr lang="en-US" sz="1150" dirty="0"/>
          </a:p>
        </p:txBody>
      </p:sp>
      <p:sp>
        <p:nvSpPr>
          <p:cNvPr id="26" name="Shape 24"/>
          <p:cNvSpPr/>
          <p:nvPr/>
        </p:nvSpPr>
        <p:spPr>
          <a:xfrm>
            <a:off x="457200" y="5925312"/>
            <a:ext cx="11277295" cy="502920"/>
          </a:xfrm>
          <a:prstGeom prst="roundRect">
            <a:avLst>
              <a:gd name="adj" fmla="val 14545"/>
            </a:avLst>
          </a:prstGeom>
          <a:solidFill>
            <a:srgbClr val="0E182E"/>
          </a:solidFill>
          <a:ln w="12700">
            <a:solidFill>
              <a:srgbClr val="0E182E"/>
            </a:solidFill>
            <a:prstDash val="solid"/>
          </a:ln>
        </p:spPr>
      </p:sp>
      <p:sp>
        <p:nvSpPr>
          <p:cNvPr id="27" name="Text 25"/>
          <p:cNvSpPr txBox="1"/>
          <p:nvPr/>
        </p:nvSpPr>
        <p:spPr>
          <a:xfrm>
            <a:off x="640080" y="5925312"/>
            <a:ext cx="10911535" cy="502920"/>
          </a:xfrm>
          <a:prstGeom prst="rect">
            <a:avLst/>
          </a:prstGeom>
          <a:noFill/>
          <a:ln/>
        </p:spPr>
        <p:txBody>
          <a:bodyPr wrap="square" lIns="0" tIns="0" rIns="0" bIns="0" rtlCol="0" anchor="ctr"/>
          <a:lstStyle/>
          <a:p>
            <a:pPr indent="0" marL="0">
              <a:buNone/>
            </a:pPr>
            <a:r>
              <a:rPr lang="en-US" sz="1150" b="1" dirty="0">
                <a:solidFill>
                  <a:srgbClr val="E8702A"/>
                </a:solidFill>
                <a:latin typeface="Calibri" pitchFamily="34" charset="0"/>
                <a:ea typeface="Calibri" pitchFamily="34" charset="-122"/>
                <a:cs typeface="Calibri" pitchFamily="34" charset="-120"/>
              </a:rPr>
              <a:t>Variant view: </a:t>
            </a:r>
            <a:pPr indent="0" marL="0">
              <a:buNone/>
            </a:pPr>
            <a:r>
              <a:rPr lang="en-US" sz="1150" dirty="0">
                <a:solidFill>
                  <a:srgbClr val="FFFFFF"/>
                </a:solidFill>
                <a:latin typeface="Calibri" pitchFamily="34" charset="0"/>
                <a:ea typeface="Calibri" pitchFamily="34" charset="-122"/>
                <a:cs typeface="Calibri" pitchFamily="34" charset="-120"/>
              </a:rPr>
              <a:t>the market prices Viscofan on FX-distorted trough numbers. We underwrite FY27E EBITDA of €315M (4% below consensus) at today's 10x.   </a:t>
            </a:r>
            <a:pPr indent="0" marL="0">
              <a:buNone/>
            </a:pPr>
            <a:r>
              <a:rPr lang="en-US" sz="1150" b="1" dirty="0">
                <a:solidFill>
                  <a:srgbClr val="E8702A"/>
                </a:solidFill>
                <a:latin typeface="Calibri" pitchFamily="34" charset="0"/>
                <a:ea typeface="Calibri" pitchFamily="34" charset="-122"/>
                <a:cs typeface="Calibri" pitchFamily="34" charset="-120"/>
              </a:rPr>
              <a:t>Trade: </a:t>
            </a:r>
            <a:pPr indent="0" marL="0">
              <a:buNone/>
            </a:pPr>
            <a:r>
              <a:rPr lang="en-US" sz="1150" dirty="0">
                <a:solidFill>
                  <a:srgbClr val="FFFFFF"/>
                </a:solidFill>
                <a:latin typeface="Calibri" pitchFamily="34" charset="0"/>
                <a:ea typeface="Calibri" pitchFamily="34" charset="-122"/>
                <a:cs typeface="Calibri" pitchFamily="34" charset="-120"/>
              </a:rPr>
              <a:t>long, 30% USD overlay, stop-loss €45.6</a:t>
            </a:r>
            <a:endParaRPr lang="en-US" sz="1150" dirty="0"/>
          </a:p>
        </p:txBody>
      </p:sp>
      <p:sp>
        <p:nvSpPr>
          <p:cNvPr id="28" name="Text 26"/>
          <p:cNvSpPr txBox="1"/>
          <p:nvPr/>
        </p:nvSpPr>
        <p:spPr>
          <a:xfrm>
            <a:off x="457200" y="6473952"/>
            <a:ext cx="10180015" cy="274320"/>
          </a:xfrm>
          <a:prstGeom prst="rect">
            <a:avLst/>
          </a:prstGeom>
          <a:noFill/>
          <a:ln/>
        </p:spPr>
        <p:txBody>
          <a:bodyPr wrap="square" lIns="0" tIns="0" rIns="0" bIns="0" rtlCol="0" anchor="b"/>
          <a:lstStyle/>
          <a:p>
            <a:pPr indent="0" marL="0">
              <a:buNone/>
            </a:pPr>
            <a:r>
              <a:rPr lang="en-US" sz="850" dirty="0">
                <a:solidFill>
                  <a:srgbClr val="8E9AB0"/>
                </a:solidFill>
                <a:latin typeface="Calibri" pitchFamily="34" charset="0"/>
                <a:ea typeface="Calibri" pitchFamily="34" charset="-122"/>
                <a:cs typeface="Calibri" pitchFamily="34" charset="-120"/>
              </a:rPr>
              <a:t>Sources: Viscofan 1H26 results presentation; S&amp;P Capital IQ consensus (EUR); team model. Price €53.70 at 1 Oct 2026.</a:t>
            </a:r>
            <a:endParaRPr lang="en-US" sz="850" dirty="0"/>
          </a:p>
        </p:txBody>
      </p:sp>
      <p:sp>
        <p:nvSpPr>
          <p:cNvPr id="29" name="Text 27"/>
          <p:cNvSpPr txBox="1"/>
          <p:nvPr/>
        </p:nvSpPr>
        <p:spPr>
          <a:xfrm>
            <a:off x="8991295" y="6473952"/>
            <a:ext cx="2743200" cy="274320"/>
          </a:xfrm>
          <a:prstGeom prst="rect">
            <a:avLst/>
          </a:prstGeom>
          <a:noFill/>
          <a:ln/>
        </p:spPr>
        <p:txBody>
          <a:bodyPr wrap="square" lIns="0" tIns="0" rIns="0" bIns="0" rtlCol="0" anchor="b"/>
          <a:lstStyle/>
          <a:p>
            <a:pPr algn="r" indent="0" marL="0">
              <a:buNone/>
            </a:pPr>
            <a:r>
              <a:rPr lang="en-US" sz="850" dirty="0">
                <a:solidFill>
                  <a:srgbClr val="8E9AB0"/>
                </a:solidFill>
                <a:latin typeface="Calibri" pitchFamily="34" charset="0"/>
                <a:ea typeface="Calibri" pitchFamily="34" charset="-122"/>
                <a:cs typeface="Calibri" pitchFamily="34" charset="-120"/>
              </a:rPr>
              <a:t>HF &amp; Quant A · Viscofan (BME:VIS)</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84048" cy="384048"/>
          </a:xfrm>
          <a:prstGeom prst="ellipse">
            <a:avLst/>
          </a:prstGeom>
          <a:solidFill>
            <a:srgbClr val="E8702A"/>
          </a:solidFill>
          <a:ln w="12700">
            <a:solidFill>
              <a:srgbClr val="E8702A"/>
            </a:solidFill>
            <a:prstDash val="solid"/>
          </a:ln>
        </p:spPr>
      </p:sp>
      <p:sp>
        <p:nvSpPr>
          <p:cNvPr id="3" name="Text 1"/>
          <p:cNvSpPr txBox="1"/>
          <p:nvPr/>
        </p:nvSpPr>
        <p:spPr>
          <a:xfrm>
            <a:off x="457200" y="3474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4" name="Text 2"/>
          <p:cNvSpPr txBox="1"/>
          <p:nvPr/>
        </p:nvSpPr>
        <p:spPr>
          <a:xfrm>
            <a:off x="960120" y="347472"/>
            <a:ext cx="7315200" cy="384048"/>
          </a:xfrm>
          <a:prstGeom prst="rect">
            <a:avLst/>
          </a:prstGeom>
          <a:noFill/>
          <a:ln/>
        </p:spPr>
        <p:txBody>
          <a:bodyPr wrap="square" lIns="0" tIns="0" rIns="0" bIns="0" rtlCol="0" anchor="ctr"/>
          <a:lstStyle/>
          <a:p>
            <a:pPr indent="0" marL="0">
              <a:buNone/>
            </a:pPr>
            <a:r>
              <a:rPr lang="en-US" sz="1100" b="1" spc="200" kern="0" dirty="0">
                <a:solidFill>
                  <a:srgbClr val="5B7083"/>
                </a:solidFill>
                <a:latin typeface="Calibri" pitchFamily="34" charset="0"/>
                <a:ea typeface="Calibri" pitchFamily="34" charset="-122"/>
                <a:cs typeface="Calibri" pitchFamily="34" charset="-120"/>
              </a:rPr>
              <a:t>COMPANY &amp; MARKET SNAPSHOT</a:t>
            </a:r>
            <a:endParaRPr lang="en-US" sz="1100" dirty="0"/>
          </a:p>
        </p:txBody>
      </p:sp>
      <p:sp>
        <p:nvSpPr>
          <p:cNvPr id="5" name="Text 3"/>
          <p:cNvSpPr txBox="1"/>
          <p:nvPr/>
        </p:nvSpPr>
        <p:spPr>
          <a:xfrm>
            <a:off x="457200" y="777240"/>
            <a:ext cx="11277295" cy="685800"/>
          </a:xfrm>
          <a:prstGeom prst="rect">
            <a:avLst/>
          </a:prstGeom>
          <a:noFill/>
          <a:ln/>
        </p:spPr>
        <p:txBody>
          <a:bodyPr wrap="square" lIns="0" tIns="0" rIns="0" bIns="0" rtlCol="0" anchor="t"/>
          <a:lstStyle/>
          <a:p>
            <a:pPr indent="0" marL="0">
              <a:buNone/>
            </a:pPr>
            <a:r>
              <a:rPr lang="en-US" sz="2400" b="1" dirty="0">
                <a:solidFill>
                  <a:srgbClr val="14213D"/>
                </a:solidFill>
                <a:latin typeface="Cambria" pitchFamily="34" charset="0"/>
                <a:ea typeface="Cambria" pitchFamily="34" charset="-122"/>
                <a:cs typeface="Cambria" pitchFamily="34" charset="-120"/>
              </a:rPr>
              <a:t>A global casing leader with defensive volumes, structural tailwinds and new growth options</a:t>
            </a:r>
            <a:endParaRPr lang="en-US" sz="2400" dirty="0"/>
          </a:p>
        </p:txBody>
      </p:sp>
      <p:sp>
        <p:nvSpPr>
          <p:cNvPr id="6" name="Shape 4"/>
          <p:cNvSpPr/>
          <p:nvPr/>
        </p:nvSpPr>
        <p:spPr>
          <a:xfrm>
            <a:off x="457200" y="1600200"/>
            <a:ext cx="2697480" cy="914400"/>
          </a:xfrm>
          <a:prstGeom prst="roundRect">
            <a:avLst>
              <a:gd name="adj" fmla="val 8000"/>
            </a:avLst>
          </a:prstGeom>
          <a:solidFill>
            <a:srgbClr val="F3F5F8"/>
          </a:solidFill>
          <a:ln w="12700">
            <a:solidFill>
              <a:srgbClr val="F3F5F8"/>
            </a:solidFill>
            <a:prstDash val="solid"/>
          </a:ln>
        </p:spPr>
      </p:sp>
      <p:sp>
        <p:nvSpPr>
          <p:cNvPr id="7" name="Text 5"/>
          <p:cNvSpPr txBox="1"/>
          <p:nvPr/>
        </p:nvSpPr>
        <p:spPr>
          <a:xfrm>
            <a:off x="640080" y="1691640"/>
            <a:ext cx="2331720" cy="457200"/>
          </a:xfrm>
          <a:prstGeom prst="rect">
            <a:avLst/>
          </a:prstGeom>
          <a:noFill/>
          <a:ln/>
        </p:spPr>
        <p:txBody>
          <a:bodyPr wrap="square" lIns="0" tIns="0" rIns="0" bIns="0" rtlCol="0" anchor="t"/>
          <a:lstStyle/>
          <a:p>
            <a:pPr indent="0" marL="0">
              <a:buNone/>
            </a:pPr>
            <a:r>
              <a:rPr lang="en-US" sz="2400" b="1" dirty="0">
                <a:solidFill>
                  <a:srgbClr val="14213D"/>
                </a:solidFill>
                <a:latin typeface="Cambria" pitchFamily="34" charset="0"/>
                <a:ea typeface="Cambria" pitchFamily="34" charset="-122"/>
                <a:cs typeface="Cambria" pitchFamily="34" charset="-120"/>
              </a:rPr>
              <a:t>€1,263M</a:t>
            </a:r>
            <a:endParaRPr lang="en-US" sz="2400" dirty="0"/>
          </a:p>
        </p:txBody>
      </p:sp>
      <p:sp>
        <p:nvSpPr>
          <p:cNvPr id="8" name="Text 6"/>
          <p:cNvSpPr txBox="1"/>
          <p:nvPr/>
        </p:nvSpPr>
        <p:spPr>
          <a:xfrm>
            <a:off x="640080" y="2148840"/>
            <a:ext cx="2331720" cy="292608"/>
          </a:xfrm>
          <a:prstGeom prst="rect">
            <a:avLst/>
          </a:prstGeom>
          <a:noFill/>
          <a:ln/>
        </p:spPr>
        <p:txBody>
          <a:bodyPr wrap="square" lIns="0" tIns="0" rIns="0" bIns="0" rtlCol="0" anchor="t"/>
          <a:lstStyle/>
          <a:p>
            <a:pPr indent="0" marL="0">
              <a:buNone/>
            </a:pPr>
            <a:r>
              <a:rPr lang="en-US" sz="1100" dirty="0">
                <a:solidFill>
                  <a:srgbClr val="6B7684"/>
                </a:solidFill>
                <a:latin typeface="Calibri" pitchFamily="34" charset="0"/>
                <a:ea typeface="Calibri" pitchFamily="34" charset="-122"/>
                <a:cs typeface="Calibri" pitchFamily="34" charset="-120"/>
              </a:rPr>
              <a:t>LTM revenue (Jun-26)</a:t>
            </a:r>
            <a:endParaRPr lang="en-US" sz="1100" dirty="0"/>
          </a:p>
        </p:txBody>
      </p:sp>
      <p:sp>
        <p:nvSpPr>
          <p:cNvPr id="9" name="Shape 7"/>
          <p:cNvSpPr/>
          <p:nvPr/>
        </p:nvSpPr>
        <p:spPr>
          <a:xfrm>
            <a:off x="3319272" y="1600200"/>
            <a:ext cx="2697480" cy="914400"/>
          </a:xfrm>
          <a:prstGeom prst="roundRect">
            <a:avLst>
              <a:gd name="adj" fmla="val 8000"/>
            </a:avLst>
          </a:prstGeom>
          <a:solidFill>
            <a:srgbClr val="F3F5F8"/>
          </a:solidFill>
          <a:ln w="12700">
            <a:solidFill>
              <a:srgbClr val="F3F5F8"/>
            </a:solidFill>
            <a:prstDash val="solid"/>
          </a:ln>
        </p:spPr>
      </p:sp>
      <p:sp>
        <p:nvSpPr>
          <p:cNvPr id="10" name="Text 8"/>
          <p:cNvSpPr txBox="1"/>
          <p:nvPr/>
        </p:nvSpPr>
        <p:spPr>
          <a:xfrm>
            <a:off x="3502152" y="1691640"/>
            <a:ext cx="2331720" cy="457200"/>
          </a:xfrm>
          <a:prstGeom prst="rect">
            <a:avLst/>
          </a:prstGeom>
          <a:noFill/>
          <a:ln/>
        </p:spPr>
        <p:txBody>
          <a:bodyPr wrap="square" lIns="0" tIns="0" rIns="0" bIns="0" rtlCol="0" anchor="t"/>
          <a:lstStyle/>
          <a:p>
            <a:pPr indent="0" marL="0">
              <a:buNone/>
            </a:pPr>
            <a:r>
              <a:rPr lang="en-US" sz="2400" b="1" dirty="0">
                <a:solidFill>
                  <a:srgbClr val="14213D"/>
                </a:solidFill>
                <a:latin typeface="Cambria" pitchFamily="34" charset="0"/>
                <a:ea typeface="Cambria" pitchFamily="34" charset="-122"/>
                <a:cs typeface="Cambria" pitchFamily="34" charset="-120"/>
              </a:rPr>
              <a:t>€279M</a:t>
            </a:r>
            <a:endParaRPr lang="en-US" sz="2400" dirty="0"/>
          </a:p>
        </p:txBody>
      </p:sp>
      <p:sp>
        <p:nvSpPr>
          <p:cNvPr id="11" name="Text 9"/>
          <p:cNvSpPr txBox="1"/>
          <p:nvPr/>
        </p:nvSpPr>
        <p:spPr>
          <a:xfrm>
            <a:off x="3502152" y="2148840"/>
            <a:ext cx="2331720" cy="292608"/>
          </a:xfrm>
          <a:prstGeom prst="rect">
            <a:avLst/>
          </a:prstGeom>
          <a:noFill/>
          <a:ln/>
        </p:spPr>
        <p:txBody>
          <a:bodyPr wrap="square" lIns="0" tIns="0" rIns="0" bIns="0" rtlCol="0" anchor="t"/>
          <a:lstStyle/>
          <a:p>
            <a:pPr indent="0" marL="0">
              <a:buNone/>
            </a:pPr>
            <a:r>
              <a:rPr lang="en-US" sz="1100" dirty="0">
                <a:solidFill>
                  <a:srgbClr val="6B7684"/>
                </a:solidFill>
                <a:latin typeface="Calibri" pitchFamily="34" charset="0"/>
                <a:ea typeface="Calibri" pitchFamily="34" charset="-122"/>
                <a:cs typeface="Calibri" pitchFamily="34" charset="-120"/>
              </a:rPr>
              <a:t>LTM EBITDA · 22.1% margin</a:t>
            </a:r>
            <a:endParaRPr lang="en-US" sz="1100" dirty="0"/>
          </a:p>
        </p:txBody>
      </p:sp>
      <p:sp>
        <p:nvSpPr>
          <p:cNvPr id="12" name="Shape 10"/>
          <p:cNvSpPr/>
          <p:nvPr/>
        </p:nvSpPr>
        <p:spPr>
          <a:xfrm>
            <a:off x="6181344" y="1600200"/>
            <a:ext cx="2697480" cy="914400"/>
          </a:xfrm>
          <a:prstGeom prst="roundRect">
            <a:avLst>
              <a:gd name="adj" fmla="val 8000"/>
            </a:avLst>
          </a:prstGeom>
          <a:solidFill>
            <a:srgbClr val="F3F5F8"/>
          </a:solidFill>
          <a:ln w="12700">
            <a:solidFill>
              <a:srgbClr val="F3F5F8"/>
            </a:solidFill>
            <a:prstDash val="solid"/>
          </a:ln>
        </p:spPr>
      </p:sp>
      <p:sp>
        <p:nvSpPr>
          <p:cNvPr id="13" name="Text 11"/>
          <p:cNvSpPr txBox="1"/>
          <p:nvPr/>
        </p:nvSpPr>
        <p:spPr>
          <a:xfrm>
            <a:off x="6364224" y="1691640"/>
            <a:ext cx="2331720" cy="457200"/>
          </a:xfrm>
          <a:prstGeom prst="rect">
            <a:avLst/>
          </a:prstGeom>
          <a:noFill/>
          <a:ln/>
        </p:spPr>
        <p:txBody>
          <a:bodyPr wrap="square" lIns="0" tIns="0" rIns="0" bIns="0" rtlCol="0" anchor="t"/>
          <a:lstStyle/>
          <a:p>
            <a:pPr indent="0" marL="0">
              <a:buNone/>
            </a:pPr>
            <a:r>
              <a:rPr lang="en-US" sz="2400" b="1" dirty="0">
                <a:solidFill>
                  <a:srgbClr val="14213D"/>
                </a:solidFill>
                <a:latin typeface="Cambria" pitchFamily="34" charset="0"/>
                <a:ea typeface="Cambria" pitchFamily="34" charset="-122"/>
                <a:cs typeface="Cambria" pitchFamily="34" charset="-120"/>
              </a:rPr>
              <a:t>#1 globally</a:t>
            </a:r>
            <a:endParaRPr lang="en-US" sz="2400" dirty="0"/>
          </a:p>
        </p:txBody>
      </p:sp>
      <p:sp>
        <p:nvSpPr>
          <p:cNvPr id="14" name="Text 12"/>
          <p:cNvSpPr txBox="1"/>
          <p:nvPr/>
        </p:nvSpPr>
        <p:spPr>
          <a:xfrm>
            <a:off x="6364224" y="2148840"/>
            <a:ext cx="2331720" cy="292608"/>
          </a:xfrm>
          <a:prstGeom prst="rect">
            <a:avLst/>
          </a:prstGeom>
          <a:noFill/>
          <a:ln/>
        </p:spPr>
        <p:txBody>
          <a:bodyPr wrap="square" lIns="0" tIns="0" rIns="0" bIns="0" rtlCol="0" anchor="t"/>
          <a:lstStyle/>
          <a:p>
            <a:pPr indent="0" marL="0">
              <a:buNone/>
            </a:pPr>
            <a:r>
              <a:rPr lang="en-US" sz="1100" dirty="0">
                <a:solidFill>
                  <a:srgbClr val="6B7684"/>
                </a:solidFill>
                <a:latin typeface="Calibri" pitchFamily="34" charset="0"/>
                <a:ea typeface="Calibri" pitchFamily="34" charset="-122"/>
                <a:cs typeface="Calibri" pitchFamily="34" charset="-120"/>
              </a:rPr>
              <a:t>Only player across all 4 casing technologies</a:t>
            </a:r>
            <a:endParaRPr lang="en-US" sz="1100" dirty="0"/>
          </a:p>
        </p:txBody>
      </p:sp>
      <p:sp>
        <p:nvSpPr>
          <p:cNvPr id="15" name="Shape 13"/>
          <p:cNvSpPr/>
          <p:nvPr/>
        </p:nvSpPr>
        <p:spPr>
          <a:xfrm>
            <a:off x="9043416" y="1600200"/>
            <a:ext cx="2697480" cy="914400"/>
          </a:xfrm>
          <a:prstGeom prst="roundRect">
            <a:avLst>
              <a:gd name="adj" fmla="val 8000"/>
            </a:avLst>
          </a:prstGeom>
          <a:solidFill>
            <a:srgbClr val="F3F5F8"/>
          </a:solidFill>
          <a:ln w="12700">
            <a:solidFill>
              <a:srgbClr val="F3F5F8"/>
            </a:solidFill>
            <a:prstDash val="solid"/>
          </a:ln>
        </p:spPr>
      </p:sp>
      <p:sp>
        <p:nvSpPr>
          <p:cNvPr id="16" name="Text 14"/>
          <p:cNvSpPr txBox="1"/>
          <p:nvPr/>
        </p:nvSpPr>
        <p:spPr>
          <a:xfrm>
            <a:off x="9226296" y="1691640"/>
            <a:ext cx="2331720" cy="457200"/>
          </a:xfrm>
          <a:prstGeom prst="rect">
            <a:avLst/>
          </a:prstGeom>
          <a:noFill/>
          <a:ln/>
        </p:spPr>
        <p:txBody>
          <a:bodyPr wrap="square" lIns="0" tIns="0" rIns="0" bIns="0" rtlCol="0" anchor="t"/>
          <a:lstStyle/>
          <a:p>
            <a:pPr indent="0" marL="0">
              <a:buNone/>
            </a:pPr>
            <a:r>
              <a:rPr lang="en-US" sz="2400" b="1" dirty="0">
                <a:solidFill>
                  <a:srgbClr val="14213D"/>
                </a:solidFill>
                <a:latin typeface="Cambria" pitchFamily="34" charset="0"/>
                <a:ea typeface="Cambria" pitchFamily="34" charset="-122"/>
                <a:cs typeface="Cambria" pitchFamily="34" charset="-120"/>
              </a:rPr>
              <a:t>1.0x</a:t>
            </a:r>
            <a:endParaRPr lang="en-US" sz="2400" dirty="0"/>
          </a:p>
        </p:txBody>
      </p:sp>
      <p:sp>
        <p:nvSpPr>
          <p:cNvPr id="17" name="Text 15"/>
          <p:cNvSpPr txBox="1"/>
          <p:nvPr/>
        </p:nvSpPr>
        <p:spPr>
          <a:xfrm>
            <a:off x="9226296" y="2148840"/>
            <a:ext cx="2331720" cy="292608"/>
          </a:xfrm>
          <a:prstGeom prst="rect">
            <a:avLst/>
          </a:prstGeom>
          <a:noFill/>
          <a:ln/>
        </p:spPr>
        <p:txBody>
          <a:bodyPr wrap="square" lIns="0" tIns="0" rIns="0" bIns="0" rtlCol="0" anchor="t"/>
          <a:lstStyle/>
          <a:p>
            <a:pPr indent="0" marL="0">
              <a:buNone/>
            </a:pPr>
            <a:r>
              <a:rPr lang="en-US" sz="1100" dirty="0">
                <a:solidFill>
                  <a:srgbClr val="6B7684"/>
                </a:solidFill>
                <a:latin typeface="Calibri" pitchFamily="34" charset="0"/>
                <a:ea typeface="Calibri" pitchFamily="34" charset="-122"/>
                <a:cs typeface="Calibri" pitchFamily="34" charset="-120"/>
              </a:rPr>
              <a:t>Net bank debt / LTM EBITDA</a:t>
            </a:r>
            <a:endParaRPr lang="en-US" sz="1100" dirty="0"/>
          </a:p>
        </p:txBody>
      </p:sp>
      <p:sp>
        <p:nvSpPr>
          <p:cNvPr id="18" name="Text 16"/>
          <p:cNvSpPr txBox="1"/>
          <p:nvPr/>
        </p:nvSpPr>
        <p:spPr>
          <a:xfrm>
            <a:off x="457200" y="2743200"/>
            <a:ext cx="4023360" cy="320040"/>
          </a:xfrm>
          <a:prstGeom prst="rect">
            <a:avLst/>
          </a:prstGeom>
          <a:noFill/>
          <a:ln/>
        </p:spPr>
        <p:txBody>
          <a:bodyPr wrap="square" lIns="0" tIns="0" rIns="0" bIns="0" rtlCol="0" anchor="t"/>
          <a:lstStyle/>
          <a:p>
            <a:pPr indent="0" marL="0">
              <a:buNone/>
            </a:pPr>
            <a:r>
              <a:rPr lang="en-US" sz="1500" b="1" dirty="0">
                <a:solidFill>
                  <a:srgbClr val="14213D"/>
                </a:solidFill>
                <a:latin typeface="Cambria" pitchFamily="34" charset="0"/>
                <a:ea typeface="Cambria" pitchFamily="34" charset="-122"/>
                <a:cs typeface="Cambria" pitchFamily="34" charset="-120"/>
              </a:rPr>
              <a:t>Why the franchise is defensive</a:t>
            </a:r>
            <a:endParaRPr lang="en-US" sz="1500" dirty="0"/>
          </a:p>
        </p:txBody>
      </p:sp>
      <p:sp>
        <p:nvSpPr>
          <p:cNvPr id="19" name="Text 17"/>
          <p:cNvSpPr txBox="1"/>
          <p:nvPr/>
        </p:nvSpPr>
        <p:spPr>
          <a:xfrm>
            <a:off x="457200" y="3127248"/>
            <a:ext cx="4023360" cy="3017520"/>
          </a:xfrm>
          <a:prstGeom prst="rect">
            <a:avLst/>
          </a:prstGeom>
          <a:noFill/>
          <a:ln/>
        </p:spPr>
        <p:txBody>
          <a:bodyPr wrap="square" lIns="0" tIns="0" rIns="0" bIns="0" rtlCol="0" anchor="t"/>
          <a:lstStyle/>
          <a:p>
            <a:pPr marL="152400" indent="-152400">
              <a:spcAft>
                <a:spcPts val="400"/>
              </a:spcAft>
              <a:buSzPct val="100000"/>
              <a:buChar char="•"/>
            </a:pPr>
            <a:r>
              <a:rPr lang="en-US" sz="1200" b="1" dirty="0">
                <a:solidFill>
                  <a:srgbClr val="1E2530"/>
                </a:solidFill>
                <a:latin typeface="Calibri" pitchFamily="34" charset="0"/>
                <a:ea typeface="Calibri" pitchFamily="34" charset="-122"/>
                <a:cs typeface="Calibri" pitchFamily="34" charset="-120"/>
              </a:rPr>
              <a:t>Non-cyclical demand: </a:t>
            </a:r>
            <a:pPr indent="0" marL="0">
              <a:spcAft>
                <a:spcPts val="400"/>
              </a:spcAft>
              <a:buNone/>
            </a:pPr>
            <a:r>
              <a:rPr lang="en-US" sz="1200" dirty="0">
                <a:solidFill>
                  <a:srgbClr val="1E2530"/>
                </a:solidFill>
                <a:latin typeface="Calibri" pitchFamily="34" charset="0"/>
                <a:ea typeface="Calibri" pitchFamily="34" charset="-122"/>
                <a:cs typeface="Calibri" pitchFamily="34" charset="-120"/>
              </a:rPr>
              <a:t>€5.1B casing market, 2–4% volume growth a year (≈4% in 2025)</a:t>
            </a:r>
            <a:endParaRPr lang="en-US" sz="1200" dirty="0"/>
          </a:p>
          <a:p>
            <a:pPr marL="152400" indent="-152400">
              <a:spcAft>
                <a:spcPts val="400"/>
              </a:spcAft>
              <a:buSzPct val="100000"/>
              <a:buChar char="•"/>
            </a:pPr>
            <a:r>
              <a:rPr lang="en-US" sz="1200" b="1" dirty="0">
                <a:solidFill>
                  <a:srgbClr val="1E2530"/>
                </a:solidFill>
                <a:latin typeface="Calibri" pitchFamily="34" charset="0"/>
                <a:ea typeface="Calibri" pitchFamily="34" charset="-122"/>
                <a:cs typeface="Calibri" pitchFamily="34" charset="-120"/>
              </a:rPr>
              <a:t>Gut → collagen replacement: </a:t>
            </a:r>
            <a:pPr indent="0" marL="0">
              <a:spcAft>
                <a:spcPts val="400"/>
              </a:spcAft>
              <a:buNone/>
            </a:pPr>
            <a:r>
              <a:rPr lang="en-US" sz="1200" dirty="0">
                <a:solidFill>
                  <a:srgbClr val="1E2530"/>
                </a:solidFill>
                <a:latin typeface="Calibri" pitchFamily="34" charset="0"/>
                <a:ea typeface="Calibri" pitchFamily="34" charset="-122"/>
                <a:cs typeface="Calibri" pitchFamily="34" charset="-120"/>
              </a:rPr>
              <a:t>multi-decade shift to manufactured casings</a:t>
            </a:r>
            <a:endParaRPr lang="en-US" sz="1200" dirty="0"/>
          </a:p>
          <a:p>
            <a:pPr marL="152400" indent="-152400">
              <a:spcAft>
                <a:spcPts val="400"/>
              </a:spcAft>
              <a:buSzPct val="100000"/>
              <a:buChar char="•"/>
            </a:pPr>
            <a:r>
              <a:rPr lang="en-US" sz="1200" b="1" dirty="0">
                <a:solidFill>
                  <a:srgbClr val="1E2530"/>
                </a:solidFill>
                <a:latin typeface="Calibri" pitchFamily="34" charset="0"/>
                <a:ea typeface="Calibri" pitchFamily="34" charset="-122"/>
                <a:cs typeface="Calibri" pitchFamily="34" charset="-120"/>
              </a:rPr>
              <a:t>Cellulose consolidation: </a:t>
            </a:r>
            <a:pPr indent="0" marL="0">
              <a:spcAft>
                <a:spcPts val="400"/>
              </a:spcAft>
              <a:buNone/>
            </a:pPr>
            <a:r>
              <a:rPr lang="en-US" sz="1200" dirty="0">
                <a:solidFill>
                  <a:srgbClr val="1E2530"/>
                </a:solidFill>
                <a:latin typeface="Calibri" pitchFamily="34" charset="0"/>
                <a:ea typeface="Calibri" pitchFamily="34" charset="-122"/>
                <a:cs typeface="Calibri" pitchFamily="34" charset="-120"/>
              </a:rPr>
              <a:t>rivals cutting capacity while Viscofan expands (Zacapu, Mexico)</a:t>
            </a:r>
            <a:endParaRPr lang="en-US" sz="1200" dirty="0"/>
          </a:p>
          <a:p>
            <a:pPr marL="152400" indent="-152400">
              <a:spcAft>
                <a:spcPts val="400"/>
              </a:spcAft>
              <a:buSzPct val="100000"/>
              <a:buChar char="•"/>
            </a:pPr>
            <a:r>
              <a:rPr lang="en-US" sz="1200" b="1" dirty="0">
                <a:solidFill>
                  <a:srgbClr val="1E2530"/>
                </a:solidFill>
                <a:latin typeface="Calibri" pitchFamily="34" charset="0"/>
                <a:ea typeface="Calibri" pitchFamily="34" charset="-122"/>
                <a:cs typeface="Calibri" pitchFamily="34" charset="-120"/>
              </a:rPr>
              <a:t>Beat'30 (2026–30): </a:t>
            </a:r>
            <a:pPr indent="0" marL="0">
              <a:spcAft>
                <a:spcPts val="400"/>
              </a:spcAft>
              <a:buNone/>
            </a:pPr>
            <a:r>
              <a:rPr lang="en-US" sz="1200" dirty="0">
                <a:solidFill>
                  <a:srgbClr val="1E2530"/>
                </a:solidFill>
                <a:latin typeface="Calibri" pitchFamily="34" charset="0"/>
                <a:ea typeface="Calibri" pitchFamily="34" charset="-122"/>
                <a:cs typeface="Calibri" pitchFamily="34" charset="-120"/>
              </a:rPr>
              <a:t>grow faster than the market, enrich mix (Health, Pet), net debt well below 2x</a:t>
            </a:r>
            <a:endParaRPr lang="en-US" sz="1200" dirty="0"/>
          </a:p>
        </p:txBody>
      </p:sp>
      <p:sp>
        <p:nvSpPr>
          <p:cNvPr id="20" name="Text 18"/>
          <p:cNvSpPr txBox="1"/>
          <p:nvPr/>
        </p:nvSpPr>
        <p:spPr>
          <a:xfrm>
            <a:off x="4709160" y="2743200"/>
            <a:ext cx="4023360" cy="320040"/>
          </a:xfrm>
          <a:prstGeom prst="rect">
            <a:avLst/>
          </a:prstGeom>
          <a:noFill/>
          <a:ln/>
        </p:spPr>
        <p:txBody>
          <a:bodyPr wrap="square" lIns="0" tIns="0" rIns="0" bIns="0" rtlCol="0" anchor="t"/>
          <a:lstStyle/>
          <a:p>
            <a:pPr indent="0" marL="0">
              <a:buNone/>
            </a:pPr>
            <a:r>
              <a:rPr lang="en-US" sz="1500" b="1" dirty="0">
                <a:solidFill>
                  <a:srgbClr val="14213D"/>
                </a:solidFill>
                <a:latin typeface="Cambria" pitchFamily="34" charset="0"/>
                <a:ea typeface="Cambria" pitchFamily="34" charset="-122"/>
                <a:cs typeface="Cambria" pitchFamily="34" charset="-120"/>
              </a:rPr>
              <a:t>1H26 revenue by region</a:t>
            </a:r>
            <a:endParaRPr lang="en-US" sz="1500" dirty="0"/>
          </a:p>
        </p:txBody>
      </p:sp>
      <p:graphicFrame>
        <p:nvGraphicFramePr>
          <p:cNvPr id="21" name="Chart 0" descr=""/>
          <p:cNvGraphicFramePr/>
          <p:nvPr/>
        </p:nvGraphicFramePr>
        <p:xfrm>
          <a:off x="4617720" y="3063240"/>
          <a:ext cx="2103120" cy="2103120"/>
        </p:xfrm>
        <a:graphic xmlns:a="http://schemas.openxmlformats.org/drawingml/2006/main">
          <a:graphicData uri="http://schemas.openxmlformats.org/drawingml/2006/chart">
            <c:chart xmlns:c="http://schemas.openxmlformats.org/drawingml/2006/chart" r:id="rId1"/>
          </a:graphicData>
        </a:graphic>
      </p:graphicFrame>
      <p:sp>
        <p:nvSpPr>
          <p:cNvPr id="22" name="Shape 19"/>
          <p:cNvSpPr/>
          <p:nvPr/>
        </p:nvSpPr>
        <p:spPr>
          <a:xfrm>
            <a:off x="6812280" y="3319272"/>
            <a:ext cx="146304" cy="146304"/>
          </a:xfrm>
          <a:prstGeom prst="ellipse">
            <a:avLst/>
          </a:prstGeom>
          <a:solidFill>
            <a:srgbClr val="14213D"/>
          </a:solidFill>
          <a:ln w="12700">
            <a:solidFill>
              <a:srgbClr val="14213D"/>
            </a:solidFill>
            <a:prstDash val="solid"/>
          </a:ln>
        </p:spPr>
      </p:sp>
      <p:sp>
        <p:nvSpPr>
          <p:cNvPr id="23" name="Text 20"/>
          <p:cNvSpPr txBox="1"/>
          <p:nvPr/>
        </p:nvSpPr>
        <p:spPr>
          <a:xfrm>
            <a:off x="7040880" y="3246120"/>
            <a:ext cx="1828800" cy="365760"/>
          </a:xfrm>
          <a:prstGeom prst="rect">
            <a:avLst/>
          </a:prstGeom>
          <a:noFill/>
          <a:ln/>
        </p:spPr>
        <p:txBody>
          <a:bodyPr wrap="square" lIns="0" tIns="0" rIns="0" bIns="0" rtlCol="0" anchor="t"/>
          <a:lstStyle/>
          <a:p>
            <a:pPr indent="0" marL="0">
              <a:buNone/>
            </a:pPr>
            <a:r>
              <a:rPr lang="en-US" sz="1000" b="1" dirty="0">
                <a:solidFill>
                  <a:srgbClr val="1E2530"/>
                </a:solidFill>
                <a:latin typeface="Calibri" pitchFamily="34" charset="0"/>
                <a:ea typeface="Calibri" pitchFamily="34" charset="-122"/>
                <a:cs typeface="Calibri" pitchFamily="34" charset="-120"/>
              </a:rPr>
              <a:t>EMEA </a:t>
            </a:r>
            <a:pPr indent="0" marL="0">
              <a:buNone/>
            </a:pPr>
            <a:r>
              <a:rPr lang="en-US" sz="1000" dirty="0">
                <a:solidFill>
                  <a:srgbClr val="6B7684"/>
                </a:solidFill>
                <a:latin typeface="Calibri" pitchFamily="34" charset="0"/>
                <a:ea typeface="Calibri" pitchFamily="34" charset="-122"/>
                <a:cs typeface="Calibri" pitchFamily="34" charset="-120"/>
              </a:rPr>
              <a:t>40% · LFL −0.2%</a:t>
            </a:r>
            <a:endParaRPr lang="en-US" sz="1000" dirty="0"/>
          </a:p>
        </p:txBody>
      </p:sp>
      <p:sp>
        <p:nvSpPr>
          <p:cNvPr id="24" name="Shape 21"/>
          <p:cNvSpPr/>
          <p:nvPr/>
        </p:nvSpPr>
        <p:spPr>
          <a:xfrm>
            <a:off x="6812280" y="3749040"/>
            <a:ext cx="146304" cy="146304"/>
          </a:xfrm>
          <a:prstGeom prst="ellipse">
            <a:avLst/>
          </a:prstGeom>
          <a:solidFill>
            <a:srgbClr val="5B7083"/>
          </a:solidFill>
          <a:ln w="12700">
            <a:solidFill>
              <a:srgbClr val="5B7083"/>
            </a:solidFill>
            <a:prstDash val="solid"/>
          </a:ln>
        </p:spPr>
      </p:sp>
      <p:sp>
        <p:nvSpPr>
          <p:cNvPr id="25" name="Text 22"/>
          <p:cNvSpPr txBox="1"/>
          <p:nvPr/>
        </p:nvSpPr>
        <p:spPr>
          <a:xfrm>
            <a:off x="7040880" y="3675888"/>
            <a:ext cx="1828800" cy="365760"/>
          </a:xfrm>
          <a:prstGeom prst="rect">
            <a:avLst/>
          </a:prstGeom>
          <a:noFill/>
          <a:ln/>
        </p:spPr>
        <p:txBody>
          <a:bodyPr wrap="square" lIns="0" tIns="0" rIns="0" bIns="0" rtlCol="0" anchor="t"/>
          <a:lstStyle/>
          <a:p>
            <a:pPr indent="0" marL="0">
              <a:buNone/>
            </a:pPr>
            <a:r>
              <a:rPr lang="en-US" sz="1000" b="1" dirty="0">
                <a:solidFill>
                  <a:srgbClr val="1E2530"/>
                </a:solidFill>
                <a:latin typeface="Calibri" pitchFamily="34" charset="0"/>
                <a:ea typeface="Calibri" pitchFamily="34" charset="-122"/>
                <a:cs typeface="Calibri" pitchFamily="34" charset="-120"/>
              </a:rPr>
              <a:t>N. America </a:t>
            </a:r>
            <a:pPr indent="0" marL="0">
              <a:buNone/>
            </a:pPr>
            <a:r>
              <a:rPr lang="en-US" sz="1000" dirty="0">
                <a:solidFill>
                  <a:srgbClr val="6B7684"/>
                </a:solidFill>
                <a:latin typeface="Calibri" pitchFamily="34" charset="0"/>
                <a:ea typeface="Calibri" pitchFamily="34" charset="-122"/>
                <a:cs typeface="Calibri" pitchFamily="34" charset="-120"/>
              </a:rPr>
              <a:t>31% · LFL +5.8%</a:t>
            </a:r>
            <a:endParaRPr lang="en-US" sz="1000" dirty="0"/>
          </a:p>
        </p:txBody>
      </p:sp>
      <p:sp>
        <p:nvSpPr>
          <p:cNvPr id="26" name="Shape 23"/>
          <p:cNvSpPr/>
          <p:nvPr/>
        </p:nvSpPr>
        <p:spPr>
          <a:xfrm>
            <a:off x="6812280" y="4178808"/>
            <a:ext cx="146304" cy="146304"/>
          </a:xfrm>
          <a:prstGeom prst="ellipse">
            <a:avLst/>
          </a:prstGeom>
          <a:solidFill>
            <a:srgbClr val="E8702A"/>
          </a:solidFill>
          <a:ln w="12700">
            <a:solidFill>
              <a:srgbClr val="E8702A"/>
            </a:solidFill>
            <a:prstDash val="solid"/>
          </a:ln>
        </p:spPr>
      </p:sp>
      <p:sp>
        <p:nvSpPr>
          <p:cNvPr id="27" name="Text 24"/>
          <p:cNvSpPr txBox="1"/>
          <p:nvPr/>
        </p:nvSpPr>
        <p:spPr>
          <a:xfrm>
            <a:off x="7040880" y="4105656"/>
            <a:ext cx="1828800" cy="365760"/>
          </a:xfrm>
          <a:prstGeom prst="rect">
            <a:avLst/>
          </a:prstGeom>
          <a:noFill/>
          <a:ln/>
        </p:spPr>
        <p:txBody>
          <a:bodyPr wrap="square" lIns="0" tIns="0" rIns="0" bIns="0" rtlCol="0" anchor="t"/>
          <a:lstStyle/>
          <a:p>
            <a:pPr indent="0" marL="0">
              <a:buNone/>
            </a:pPr>
            <a:r>
              <a:rPr lang="en-US" sz="1000" b="1" dirty="0">
                <a:solidFill>
                  <a:srgbClr val="1E2530"/>
                </a:solidFill>
                <a:latin typeface="Calibri" pitchFamily="34" charset="0"/>
                <a:ea typeface="Calibri" pitchFamily="34" charset="-122"/>
                <a:cs typeface="Calibri" pitchFamily="34" charset="-120"/>
              </a:rPr>
              <a:t>S. America </a:t>
            </a:r>
            <a:pPr indent="0" marL="0">
              <a:buNone/>
            </a:pPr>
            <a:r>
              <a:rPr lang="en-US" sz="1000" dirty="0">
                <a:solidFill>
                  <a:srgbClr val="6B7684"/>
                </a:solidFill>
                <a:latin typeface="Calibri" pitchFamily="34" charset="0"/>
                <a:ea typeface="Calibri" pitchFamily="34" charset="-122"/>
                <a:cs typeface="Calibri" pitchFamily="34" charset="-120"/>
              </a:rPr>
              <a:t>16% · LFL +14.7%</a:t>
            </a:r>
            <a:endParaRPr lang="en-US" sz="1000" dirty="0"/>
          </a:p>
        </p:txBody>
      </p:sp>
      <p:sp>
        <p:nvSpPr>
          <p:cNvPr id="28" name="Shape 25"/>
          <p:cNvSpPr/>
          <p:nvPr/>
        </p:nvSpPr>
        <p:spPr>
          <a:xfrm>
            <a:off x="6812280" y="4608576"/>
            <a:ext cx="146304" cy="146304"/>
          </a:xfrm>
          <a:prstGeom prst="ellipse">
            <a:avLst/>
          </a:prstGeom>
          <a:solidFill>
            <a:srgbClr val="A9B6C6"/>
          </a:solidFill>
          <a:ln w="12700">
            <a:solidFill>
              <a:srgbClr val="A9B6C6"/>
            </a:solidFill>
            <a:prstDash val="solid"/>
          </a:ln>
        </p:spPr>
      </p:sp>
      <p:sp>
        <p:nvSpPr>
          <p:cNvPr id="29" name="Text 26"/>
          <p:cNvSpPr txBox="1"/>
          <p:nvPr/>
        </p:nvSpPr>
        <p:spPr>
          <a:xfrm>
            <a:off x="7040880" y="4535424"/>
            <a:ext cx="1828800" cy="365760"/>
          </a:xfrm>
          <a:prstGeom prst="rect">
            <a:avLst/>
          </a:prstGeom>
          <a:noFill/>
          <a:ln/>
        </p:spPr>
        <p:txBody>
          <a:bodyPr wrap="square" lIns="0" tIns="0" rIns="0" bIns="0" rtlCol="0" anchor="t"/>
          <a:lstStyle/>
          <a:p>
            <a:pPr indent="0" marL="0">
              <a:buNone/>
            </a:pPr>
            <a:r>
              <a:rPr lang="en-US" sz="1000" b="1" dirty="0">
                <a:solidFill>
                  <a:srgbClr val="1E2530"/>
                </a:solidFill>
                <a:latin typeface="Calibri" pitchFamily="34" charset="0"/>
                <a:ea typeface="Calibri" pitchFamily="34" charset="-122"/>
                <a:cs typeface="Calibri" pitchFamily="34" charset="-120"/>
              </a:rPr>
              <a:t>Asia-Pacific </a:t>
            </a:r>
            <a:pPr indent="0" marL="0">
              <a:buNone/>
            </a:pPr>
            <a:r>
              <a:rPr lang="en-US" sz="1000" dirty="0">
                <a:solidFill>
                  <a:srgbClr val="6B7684"/>
                </a:solidFill>
                <a:latin typeface="Calibri" pitchFamily="34" charset="0"/>
                <a:ea typeface="Calibri" pitchFamily="34" charset="-122"/>
                <a:cs typeface="Calibri" pitchFamily="34" charset="-120"/>
              </a:rPr>
              <a:t>13% · LFL +7.3%</a:t>
            </a:r>
            <a:endParaRPr lang="en-US" sz="1000" dirty="0"/>
          </a:p>
        </p:txBody>
      </p:sp>
      <p:sp>
        <p:nvSpPr>
          <p:cNvPr id="30" name="Text 27"/>
          <p:cNvSpPr txBox="1"/>
          <p:nvPr/>
        </p:nvSpPr>
        <p:spPr>
          <a:xfrm>
            <a:off x="4709160" y="5257800"/>
            <a:ext cx="4023360" cy="548640"/>
          </a:xfrm>
          <a:prstGeom prst="rect">
            <a:avLst/>
          </a:prstGeom>
          <a:noFill/>
          <a:ln/>
        </p:spPr>
        <p:txBody>
          <a:bodyPr wrap="square" lIns="0" tIns="0" rIns="0" bIns="0" rtlCol="0" anchor="t"/>
          <a:lstStyle/>
          <a:p>
            <a:pPr indent="0" marL="0">
              <a:buNone/>
            </a:pPr>
            <a:r>
              <a:rPr lang="en-US" sz="1000" i="1" dirty="0">
                <a:solidFill>
                  <a:srgbClr val="6B7684"/>
                </a:solidFill>
                <a:latin typeface="Calibri" pitchFamily="34" charset="0"/>
                <a:ea typeface="Calibri" pitchFamily="34" charset="-122"/>
                <a:cs typeface="Calibri" pitchFamily="34" charset="-120"/>
              </a:rPr>
              <a:t>Volumes grew in every region; EMEA held back by lower energy (cogeneration) sales (+1.9% ex energy).</a:t>
            </a:r>
            <a:endParaRPr lang="en-US" sz="1000" dirty="0"/>
          </a:p>
        </p:txBody>
      </p:sp>
      <p:sp>
        <p:nvSpPr>
          <p:cNvPr id="31" name="Text 28"/>
          <p:cNvSpPr txBox="1"/>
          <p:nvPr/>
        </p:nvSpPr>
        <p:spPr>
          <a:xfrm>
            <a:off x="8915400" y="2743200"/>
            <a:ext cx="2834640" cy="320040"/>
          </a:xfrm>
          <a:prstGeom prst="rect">
            <a:avLst/>
          </a:prstGeom>
          <a:noFill/>
          <a:ln/>
        </p:spPr>
        <p:txBody>
          <a:bodyPr wrap="square" lIns="0" tIns="0" rIns="0" bIns="0" rtlCol="0" anchor="t"/>
          <a:lstStyle/>
          <a:p>
            <a:pPr indent="0" marL="0">
              <a:buNone/>
            </a:pPr>
            <a:r>
              <a:rPr lang="en-US" sz="1500" b="1" dirty="0">
                <a:solidFill>
                  <a:srgbClr val="14213D"/>
                </a:solidFill>
                <a:latin typeface="Cambria" pitchFamily="34" charset="0"/>
                <a:ea typeface="Cambria" pitchFamily="34" charset="-122"/>
                <a:cs typeface="Cambria" pitchFamily="34" charset="-120"/>
              </a:rPr>
              <a:t>EBITDA margin (%)</a:t>
            </a:r>
            <a:endParaRPr lang="en-US" sz="1500" dirty="0"/>
          </a:p>
        </p:txBody>
      </p:sp>
      <p:graphicFrame>
        <p:nvGraphicFramePr>
          <p:cNvPr id="32" name="Chart 1" descr=""/>
          <p:cNvGraphicFramePr/>
          <p:nvPr/>
        </p:nvGraphicFramePr>
        <p:xfrm>
          <a:off x="8778240" y="3063240"/>
          <a:ext cx="3017520" cy="2148840"/>
        </p:xfrm>
        <a:graphic xmlns:a="http://schemas.openxmlformats.org/drawingml/2006/main">
          <a:graphicData uri="http://schemas.openxmlformats.org/drawingml/2006/chart">
            <c:chart xmlns:c="http://schemas.openxmlformats.org/drawingml/2006/chart" r:id="rId2"/>
          </a:graphicData>
        </a:graphic>
      </p:graphicFrame>
      <p:sp>
        <p:nvSpPr>
          <p:cNvPr id="33" name="Text 29"/>
          <p:cNvSpPr txBox="1"/>
          <p:nvPr/>
        </p:nvSpPr>
        <p:spPr>
          <a:xfrm>
            <a:off x="8915400" y="5257800"/>
            <a:ext cx="2834640" cy="548640"/>
          </a:xfrm>
          <a:prstGeom prst="rect">
            <a:avLst/>
          </a:prstGeom>
          <a:noFill/>
          <a:ln/>
        </p:spPr>
        <p:txBody>
          <a:bodyPr wrap="square" lIns="0" tIns="0" rIns="0" bIns="0" rtlCol="0" anchor="t"/>
          <a:lstStyle/>
          <a:p>
            <a:pPr indent="0" marL="0">
              <a:buNone/>
            </a:pPr>
            <a:r>
              <a:rPr lang="en-US" sz="1000" i="1" dirty="0">
                <a:solidFill>
                  <a:srgbClr val="6B7684"/>
                </a:solidFill>
                <a:latin typeface="Calibri" pitchFamily="34" charset="0"/>
                <a:ea typeface="Calibri" pitchFamily="34" charset="-122"/>
                <a:cs typeface="Calibri" pitchFamily="34" charset="-120"/>
              </a:rPr>
              <a:t>Margin dips have recovered before (2022 energy shock → 23.2% by FY24). 1H26 like-for-like margin: 23.1%.</a:t>
            </a:r>
            <a:endParaRPr lang="en-US" sz="1000" dirty="0"/>
          </a:p>
        </p:txBody>
      </p:sp>
      <p:sp>
        <p:nvSpPr>
          <p:cNvPr id="34" name="Shape 30"/>
          <p:cNvSpPr/>
          <p:nvPr/>
        </p:nvSpPr>
        <p:spPr>
          <a:xfrm>
            <a:off x="457200" y="5870448"/>
            <a:ext cx="11277295" cy="502920"/>
          </a:xfrm>
          <a:prstGeom prst="roundRect">
            <a:avLst>
              <a:gd name="adj" fmla="val 14545"/>
            </a:avLst>
          </a:prstGeom>
          <a:solidFill>
            <a:srgbClr val="F3F5F8"/>
          </a:solidFill>
          <a:ln w="12700">
            <a:solidFill>
              <a:srgbClr val="F3F5F8"/>
            </a:solidFill>
            <a:prstDash val="solid"/>
          </a:ln>
        </p:spPr>
      </p:sp>
      <p:sp>
        <p:nvSpPr>
          <p:cNvPr id="35" name="Text 31"/>
          <p:cNvSpPr txBox="1"/>
          <p:nvPr/>
        </p:nvSpPr>
        <p:spPr>
          <a:xfrm>
            <a:off x="640080" y="5870448"/>
            <a:ext cx="10911535" cy="502920"/>
          </a:xfrm>
          <a:prstGeom prst="rect">
            <a:avLst/>
          </a:prstGeom>
          <a:noFill/>
          <a:ln/>
        </p:spPr>
        <p:txBody>
          <a:bodyPr wrap="square" lIns="0" tIns="0" rIns="0" bIns="0" rtlCol="0" anchor="ctr"/>
          <a:lstStyle/>
          <a:p>
            <a:pPr indent="0" marL="0">
              <a:buNone/>
            </a:pPr>
            <a:r>
              <a:rPr lang="en-US" sz="1100" b="1" dirty="0">
                <a:solidFill>
                  <a:srgbClr val="E8702A"/>
                </a:solidFill>
                <a:latin typeface="Calibri" pitchFamily="34" charset="0"/>
                <a:ea typeface="Calibri" pitchFamily="34" charset="-122"/>
                <a:cs typeface="Calibri" pitchFamily="34" charset="-120"/>
              </a:rPr>
              <a:t>Growth options: </a:t>
            </a:r>
            <a:pPr indent="0" marL="0">
              <a:buNone/>
            </a:pPr>
            <a:r>
              <a:rPr lang="en-US" sz="1100" dirty="0">
                <a:solidFill>
                  <a:srgbClr val="1E2530"/>
                </a:solidFill>
                <a:latin typeface="Calibri" pitchFamily="34" charset="0"/>
                <a:ea typeface="Calibri" pitchFamily="34" charset="-122"/>
                <a:cs typeface="Calibri" pitchFamily="34" charset="-120"/>
              </a:rPr>
              <a:t>Health (€3.8M, +57%) and Pet treats (€8.3M, +88%) are only 1.9% of revenue. We value them in the bull case only. Energy (cogeneration, €26.0M, −15.4%) is a by-product of the plants, not a strategic division.</a:t>
            </a:r>
            <a:endParaRPr lang="en-US" sz="1100" dirty="0"/>
          </a:p>
        </p:txBody>
      </p:sp>
      <p:sp>
        <p:nvSpPr>
          <p:cNvPr id="36" name="Text 32"/>
          <p:cNvSpPr txBox="1"/>
          <p:nvPr/>
        </p:nvSpPr>
        <p:spPr>
          <a:xfrm>
            <a:off x="457200" y="6473952"/>
            <a:ext cx="10180015" cy="274320"/>
          </a:xfrm>
          <a:prstGeom prst="rect">
            <a:avLst/>
          </a:prstGeom>
          <a:noFill/>
          <a:ln/>
        </p:spPr>
        <p:txBody>
          <a:bodyPr wrap="square" lIns="0" tIns="0" rIns="0" bIns="0" rtlCol="0" anchor="b"/>
          <a:lstStyle/>
          <a:p>
            <a:pPr indent="0" marL="0">
              <a:buNone/>
            </a:pPr>
            <a:r>
              <a:rPr lang="en-US" sz="850" dirty="0">
                <a:solidFill>
                  <a:srgbClr val="6B7684"/>
                </a:solidFill>
                <a:latin typeface="Calibri" pitchFamily="34" charset="0"/>
                <a:ea typeface="Calibri" pitchFamily="34" charset="-122"/>
                <a:cs typeface="Calibri" pitchFamily="34" charset="-120"/>
              </a:rPr>
              <a:t>Sources: Viscofan 1H26 results presentation pp.3–6; S&amp;P Capital IQ (margin history, computed in USD); Viscofan annual report 2025 (market size).</a:t>
            </a:r>
            <a:endParaRPr lang="en-US" sz="850" dirty="0"/>
          </a:p>
        </p:txBody>
      </p:sp>
      <p:sp>
        <p:nvSpPr>
          <p:cNvPr id="37" name="Text 33"/>
          <p:cNvSpPr txBox="1"/>
          <p:nvPr/>
        </p:nvSpPr>
        <p:spPr>
          <a:xfrm>
            <a:off x="8991295" y="6473952"/>
            <a:ext cx="2743200" cy="274320"/>
          </a:xfrm>
          <a:prstGeom prst="rect">
            <a:avLst/>
          </a:prstGeom>
          <a:noFill/>
          <a:ln/>
        </p:spPr>
        <p:txBody>
          <a:bodyPr wrap="square" lIns="0" tIns="0" rIns="0" bIns="0" rtlCol="0" anchor="b"/>
          <a:lstStyle/>
          <a:p>
            <a:pPr algn="r" indent="0" marL="0">
              <a:buNone/>
            </a:pPr>
            <a:r>
              <a:rPr lang="en-US" sz="850" dirty="0">
                <a:solidFill>
                  <a:srgbClr val="6B7684"/>
                </a:solidFill>
                <a:latin typeface="Calibri" pitchFamily="34" charset="0"/>
                <a:ea typeface="Calibri" pitchFamily="34" charset="-122"/>
                <a:cs typeface="Calibri" pitchFamily="34" charset="-120"/>
              </a:rPr>
              <a:t>HF &amp; Quant A · Viscofan (BME:VIS)</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84048" cy="384048"/>
          </a:xfrm>
          <a:prstGeom prst="ellipse">
            <a:avLst/>
          </a:prstGeom>
          <a:solidFill>
            <a:srgbClr val="E8702A"/>
          </a:solidFill>
          <a:ln w="12700">
            <a:solidFill>
              <a:srgbClr val="E8702A"/>
            </a:solidFill>
            <a:prstDash val="solid"/>
          </a:ln>
        </p:spPr>
      </p:sp>
      <p:sp>
        <p:nvSpPr>
          <p:cNvPr id="3" name="Text 1"/>
          <p:cNvSpPr txBox="1"/>
          <p:nvPr/>
        </p:nvSpPr>
        <p:spPr>
          <a:xfrm>
            <a:off x="457200" y="3474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4" name="Text 2"/>
          <p:cNvSpPr txBox="1"/>
          <p:nvPr/>
        </p:nvSpPr>
        <p:spPr>
          <a:xfrm>
            <a:off x="960120" y="347472"/>
            <a:ext cx="7315200" cy="384048"/>
          </a:xfrm>
          <a:prstGeom prst="rect">
            <a:avLst/>
          </a:prstGeom>
          <a:noFill/>
          <a:ln/>
        </p:spPr>
        <p:txBody>
          <a:bodyPr wrap="square" lIns="0" tIns="0" rIns="0" bIns="0" rtlCol="0" anchor="ctr"/>
          <a:lstStyle/>
          <a:p>
            <a:pPr indent="0" marL="0">
              <a:buNone/>
            </a:pPr>
            <a:r>
              <a:rPr lang="en-US" sz="1100" b="1" spc="200" kern="0" dirty="0">
                <a:solidFill>
                  <a:srgbClr val="5B7083"/>
                </a:solidFill>
                <a:latin typeface="Calibri" pitchFamily="34" charset="0"/>
                <a:ea typeface="Calibri" pitchFamily="34" charset="-122"/>
                <a:cs typeface="Calibri" pitchFamily="34" charset="-120"/>
              </a:rPr>
              <a:t>VALUATION</a:t>
            </a:r>
            <a:endParaRPr lang="en-US" sz="1100" dirty="0"/>
          </a:p>
        </p:txBody>
      </p:sp>
      <p:sp>
        <p:nvSpPr>
          <p:cNvPr id="5" name="Text 3"/>
          <p:cNvSpPr txBox="1"/>
          <p:nvPr/>
        </p:nvSpPr>
        <p:spPr>
          <a:xfrm>
            <a:off x="457200" y="777240"/>
            <a:ext cx="11277295" cy="685800"/>
          </a:xfrm>
          <a:prstGeom prst="rect">
            <a:avLst/>
          </a:prstGeom>
          <a:noFill/>
          <a:ln/>
        </p:spPr>
        <p:txBody>
          <a:bodyPr wrap="square" lIns="0" tIns="0" rIns="0" bIns="0" rtlCol="0" anchor="t"/>
          <a:lstStyle/>
          <a:p>
            <a:pPr indent="0" marL="0">
              <a:buNone/>
            </a:pPr>
            <a:r>
              <a:rPr lang="en-US" sz="2400" b="1" dirty="0">
                <a:solidFill>
                  <a:srgbClr val="14213D"/>
                </a:solidFill>
                <a:latin typeface="Cambria" pitchFamily="34" charset="0"/>
                <a:ea typeface="Cambria" pitchFamily="34" charset="-122"/>
                <a:cs typeface="Cambria" pitchFamily="34" charset="-120"/>
              </a:rPr>
              <a:t>Valuation: €64.2 probability-weighted target. The base case needs only margin recovery, not a re-rating</a:t>
            </a:r>
            <a:endParaRPr lang="en-US" sz="2400" dirty="0"/>
          </a:p>
        </p:txBody>
      </p:sp>
      <p:sp>
        <p:nvSpPr>
          <p:cNvPr id="6" name="Text 4"/>
          <p:cNvSpPr txBox="1"/>
          <p:nvPr/>
        </p:nvSpPr>
        <p:spPr>
          <a:xfrm>
            <a:off x="457200" y="1645920"/>
            <a:ext cx="3657600" cy="320040"/>
          </a:xfrm>
          <a:prstGeom prst="rect">
            <a:avLst/>
          </a:prstGeom>
          <a:noFill/>
          <a:ln/>
        </p:spPr>
        <p:txBody>
          <a:bodyPr wrap="square" lIns="0" tIns="0" rIns="0" bIns="0" rtlCol="0" anchor="t"/>
          <a:lstStyle/>
          <a:p>
            <a:pPr indent="0" marL="0">
              <a:buNone/>
            </a:pPr>
            <a:r>
              <a:rPr lang="en-US" sz="1500" b="1" dirty="0">
                <a:solidFill>
                  <a:srgbClr val="14213D"/>
                </a:solidFill>
                <a:latin typeface="Cambria" pitchFamily="34" charset="0"/>
                <a:ea typeface="Cambria" pitchFamily="34" charset="-122"/>
                <a:cs typeface="Cambria" pitchFamily="34" charset="-120"/>
              </a:rPr>
              <a:t>Value per share (€)</a:t>
            </a:r>
            <a:endParaRPr lang="en-US" sz="1500" dirty="0"/>
          </a:p>
        </p:txBody>
      </p:sp>
      <p:sp>
        <p:nvSpPr>
          <p:cNvPr id="7" name="Shape 5"/>
          <p:cNvSpPr/>
          <p:nvPr/>
        </p:nvSpPr>
        <p:spPr>
          <a:xfrm>
            <a:off x="2697480" y="2057400"/>
            <a:ext cx="0" cy="2852928"/>
          </a:xfrm>
          <a:prstGeom prst="line">
            <a:avLst/>
          </a:prstGeom>
          <a:noFill/>
          <a:ln w="9525">
            <a:solidFill>
              <a:srgbClr val="E6EAF0"/>
            </a:solidFill>
            <a:prstDash val="solid"/>
          </a:ln>
        </p:spPr>
      </p:sp>
      <p:sp>
        <p:nvSpPr>
          <p:cNvPr id="8" name="Text 6"/>
          <p:cNvSpPr txBox="1"/>
          <p:nvPr/>
        </p:nvSpPr>
        <p:spPr>
          <a:xfrm>
            <a:off x="2423160" y="4956048"/>
            <a:ext cx="548640" cy="228600"/>
          </a:xfrm>
          <a:prstGeom prst="rect">
            <a:avLst/>
          </a:prstGeom>
          <a:noFill/>
          <a:ln/>
        </p:spPr>
        <p:txBody>
          <a:bodyPr wrap="square" lIns="0" tIns="0" rIns="0" bIns="0" rtlCol="0" anchor="t"/>
          <a:lstStyle/>
          <a:p>
            <a:pPr algn="ctr" indent="0" marL="0">
              <a:buNone/>
            </a:pPr>
            <a:r>
              <a:rPr lang="en-US" sz="900" dirty="0">
                <a:solidFill>
                  <a:srgbClr val="6B7684"/>
                </a:solidFill>
                <a:latin typeface="Calibri" pitchFamily="34" charset="0"/>
                <a:ea typeface="Calibri" pitchFamily="34" charset="-122"/>
                <a:cs typeface="Calibri" pitchFamily="34" charset="-120"/>
              </a:rPr>
              <a:t>€40</a:t>
            </a:r>
            <a:endParaRPr lang="en-US" sz="900" dirty="0"/>
          </a:p>
        </p:txBody>
      </p:sp>
      <p:sp>
        <p:nvSpPr>
          <p:cNvPr id="9" name="Shape 7"/>
          <p:cNvSpPr/>
          <p:nvPr/>
        </p:nvSpPr>
        <p:spPr>
          <a:xfrm>
            <a:off x="3652520" y="2057400"/>
            <a:ext cx="0" cy="2852928"/>
          </a:xfrm>
          <a:prstGeom prst="line">
            <a:avLst/>
          </a:prstGeom>
          <a:noFill/>
          <a:ln w="9525">
            <a:solidFill>
              <a:srgbClr val="E6EAF0"/>
            </a:solidFill>
            <a:prstDash val="solid"/>
          </a:ln>
        </p:spPr>
      </p:sp>
      <p:sp>
        <p:nvSpPr>
          <p:cNvPr id="10" name="Text 8"/>
          <p:cNvSpPr txBox="1"/>
          <p:nvPr/>
        </p:nvSpPr>
        <p:spPr>
          <a:xfrm>
            <a:off x="3378200" y="4956048"/>
            <a:ext cx="548640" cy="228600"/>
          </a:xfrm>
          <a:prstGeom prst="rect">
            <a:avLst/>
          </a:prstGeom>
          <a:noFill/>
          <a:ln/>
        </p:spPr>
        <p:txBody>
          <a:bodyPr wrap="square" lIns="0" tIns="0" rIns="0" bIns="0" rtlCol="0" anchor="t"/>
          <a:lstStyle/>
          <a:p>
            <a:pPr algn="ctr" indent="0" marL="0">
              <a:buNone/>
            </a:pPr>
            <a:r>
              <a:rPr lang="en-US" sz="900" dirty="0">
                <a:solidFill>
                  <a:srgbClr val="6B7684"/>
                </a:solidFill>
                <a:latin typeface="Calibri" pitchFamily="34" charset="0"/>
                <a:ea typeface="Calibri" pitchFamily="34" charset="-122"/>
                <a:cs typeface="Calibri" pitchFamily="34" charset="-120"/>
              </a:rPr>
              <a:t>€50</a:t>
            </a:r>
            <a:endParaRPr lang="en-US" sz="900" dirty="0"/>
          </a:p>
        </p:txBody>
      </p:sp>
      <p:sp>
        <p:nvSpPr>
          <p:cNvPr id="11" name="Shape 9"/>
          <p:cNvSpPr/>
          <p:nvPr/>
        </p:nvSpPr>
        <p:spPr>
          <a:xfrm>
            <a:off x="4607560" y="2057400"/>
            <a:ext cx="0" cy="2852928"/>
          </a:xfrm>
          <a:prstGeom prst="line">
            <a:avLst/>
          </a:prstGeom>
          <a:noFill/>
          <a:ln w="9525">
            <a:solidFill>
              <a:srgbClr val="E6EAF0"/>
            </a:solidFill>
            <a:prstDash val="solid"/>
          </a:ln>
        </p:spPr>
      </p:sp>
      <p:sp>
        <p:nvSpPr>
          <p:cNvPr id="12" name="Text 10"/>
          <p:cNvSpPr txBox="1"/>
          <p:nvPr/>
        </p:nvSpPr>
        <p:spPr>
          <a:xfrm>
            <a:off x="4333240" y="4956048"/>
            <a:ext cx="548640" cy="228600"/>
          </a:xfrm>
          <a:prstGeom prst="rect">
            <a:avLst/>
          </a:prstGeom>
          <a:noFill/>
          <a:ln/>
        </p:spPr>
        <p:txBody>
          <a:bodyPr wrap="square" lIns="0" tIns="0" rIns="0" bIns="0" rtlCol="0" anchor="t"/>
          <a:lstStyle/>
          <a:p>
            <a:pPr algn="ctr" indent="0" marL="0">
              <a:buNone/>
            </a:pPr>
            <a:r>
              <a:rPr lang="en-US" sz="900" dirty="0">
                <a:solidFill>
                  <a:srgbClr val="6B7684"/>
                </a:solidFill>
                <a:latin typeface="Calibri" pitchFamily="34" charset="0"/>
                <a:ea typeface="Calibri" pitchFamily="34" charset="-122"/>
                <a:cs typeface="Calibri" pitchFamily="34" charset="-120"/>
              </a:rPr>
              <a:t>€60</a:t>
            </a:r>
            <a:endParaRPr lang="en-US" sz="900" dirty="0"/>
          </a:p>
        </p:txBody>
      </p:sp>
      <p:sp>
        <p:nvSpPr>
          <p:cNvPr id="13" name="Shape 11"/>
          <p:cNvSpPr/>
          <p:nvPr/>
        </p:nvSpPr>
        <p:spPr>
          <a:xfrm>
            <a:off x="5562600" y="2057400"/>
            <a:ext cx="0" cy="2852928"/>
          </a:xfrm>
          <a:prstGeom prst="line">
            <a:avLst/>
          </a:prstGeom>
          <a:noFill/>
          <a:ln w="9525">
            <a:solidFill>
              <a:srgbClr val="E6EAF0"/>
            </a:solidFill>
            <a:prstDash val="solid"/>
          </a:ln>
        </p:spPr>
      </p:sp>
      <p:sp>
        <p:nvSpPr>
          <p:cNvPr id="14" name="Text 12"/>
          <p:cNvSpPr txBox="1"/>
          <p:nvPr/>
        </p:nvSpPr>
        <p:spPr>
          <a:xfrm>
            <a:off x="5288280" y="4956048"/>
            <a:ext cx="548640" cy="228600"/>
          </a:xfrm>
          <a:prstGeom prst="rect">
            <a:avLst/>
          </a:prstGeom>
          <a:noFill/>
          <a:ln/>
        </p:spPr>
        <p:txBody>
          <a:bodyPr wrap="square" lIns="0" tIns="0" rIns="0" bIns="0" rtlCol="0" anchor="t"/>
          <a:lstStyle/>
          <a:p>
            <a:pPr algn="ctr" indent="0" marL="0">
              <a:buNone/>
            </a:pPr>
            <a:r>
              <a:rPr lang="en-US" sz="900" dirty="0">
                <a:solidFill>
                  <a:srgbClr val="6B7684"/>
                </a:solidFill>
                <a:latin typeface="Calibri" pitchFamily="34" charset="0"/>
                <a:ea typeface="Calibri" pitchFamily="34" charset="-122"/>
                <a:cs typeface="Calibri" pitchFamily="34" charset="-120"/>
              </a:rPr>
              <a:t>€70</a:t>
            </a:r>
            <a:endParaRPr lang="en-US" sz="900" dirty="0"/>
          </a:p>
        </p:txBody>
      </p:sp>
      <p:sp>
        <p:nvSpPr>
          <p:cNvPr id="15" name="Shape 13"/>
          <p:cNvSpPr/>
          <p:nvPr/>
        </p:nvSpPr>
        <p:spPr>
          <a:xfrm>
            <a:off x="6517640" y="2057400"/>
            <a:ext cx="0" cy="2852928"/>
          </a:xfrm>
          <a:prstGeom prst="line">
            <a:avLst/>
          </a:prstGeom>
          <a:noFill/>
          <a:ln w="9525">
            <a:solidFill>
              <a:srgbClr val="E6EAF0"/>
            </a:solidFill>
            <a:prstDash val="solid"/>
          </a:ln>
        </p:spPr>
      </p:sp>
      <p:sp>
        <p:nvSpPr>
          <p:cNvPr id="16" name="Text 14"/>
          <p:cNvSpPr txBox="1"/>
          <p:nvPr/>
        </p:nvSpPr>
        <p:spPr>
          <a:xfrm>
            <a:off x="6243320" y="4956048"/>
            <a:ext cx="548640" cy="228600"/>
          </a:xfrm>
          <a:prstGeom prst="rect">
            <a:avLst/>
          </a:prstGeom>
          <a:noFill/>
          <a:ln/>
        </p:spPr>
        <p:txBody>
          <a:bodyPr wrap="square" lIns="0" tIns="0" rIns="0" bIns="0" rtlCol="0" anchor="t"/>
          <a:lstStyle/>
          <a:p>
            <a:pPr algn="ctr" indent="0" marL="0">
              <a:buNone/>
            </a:pPr>
            <a:r>
              <a:rPr lang="en-US" sz="900" dirty="0">
                <a:solidFill>
                  <a:srgbClr val="6B7684"/>
                </a:solidFill>
                <a:latin typeface="Calibri" pitchFamily="34" charset="0"/>
                <a:ea typeface="Calibri" pitchFamily="34" charset="-122"/>
                <a:cs typeface="Calibri" pitchFamily="34" charset="-120"/>
              </a:rPr>
              <a:t>€80</a:t>
            </a:r>
            <a:endParaRPr lang="en-US" sz="900" dirty="0"/>
          </a:p>
        </p:txBody>
      </p:sp>
      <p:sp>
        <p:nvSpPr>
          <p:cNvPr id="17" name="Text 15"/>
          <p:cNvSpPr txBox="1"/>
          <p:nvPr/>
        </p:nvSpPr>
        <p:spPr>
          <a:xfrm>
            <a:off x="457200" y="2130552"/>
            <a:ext cx="2194560" cy="228600"/>
          </a:xfrm>
          <a:prstGeom prst="rect">
            <a:avLst/>
          </a:prstGeom>
          <a:noFill/>
          <a:ln/>
        </p:spPr>
        <p:txBody>
          <a:bodyPr wrap="square" lIns="0" tIns="0" rIns="0" bIns="0" rtlCol="0" anchor="t"/>
          <a:lstStyle/>
          <a:p>
            <a:pPr indent="0" marL="0">
              <a:buNone/>
            </a:pPr>
            <a:r>
              <a:rPr lang="en-US" sz="1150" b="1" dirty="0">
                <a:solidFill>
                  <a:srgbClr val="1E2530"/>
                </a:solidFill>
                <a:latin typeface="Calibri" pitchFamily="34" charset="0"/>
                <a:ea typeface="Calibri" pitchFamily="34" charset="-122"/>
                <a:cs typeface="Calibri" pitchFamily="34" charset="-120"/>
              </a:rPr>
              <a:t>Scenarios (bear–bull)</a:t>
            </a:r>
            <a:endParaRPr lang="en-US" sz="1150" dirty="0"/>
          </a:p>
        </p:txBody>
      </p:sp>
      <p:sp>
        <p:nvSpPr>
          <p:cNvPr id="18" name="Text 16"/>
          <p:cNvSpPr txBox="1"/>
          <p:nvPr/>
        </p:nvSpPr>
        <p:spPr>
          <a:xfrm>
            <a:off x="457200" y="2350008"/>
            <a:ext cx="2194560" cy="228600"/>
          </a:xfrm>
          <a:prstGeom prst="rect">
            <a:avLst/>
          </a:prstGeom>
          <a:noFill/>
          <a:ln/>
        </p:spPr>
        <p:txBody>
          <a:bodyPr wrap="square" lIns="0" tIns="0" rIns="0" bIns="0" rtlCol="0" anchor="t"/>
          <a:lstStyle/>
          <a:p>
            <a:pPr indent="0" marL="0">
              <a:buNone/>
            </a:pPr>
            <a:r>
              <a:rPr lang="en-US" sz="900" dirty="0">
                <a:solidFill>
                  <a:srgbClr val="6B7684"/>
                </a:solidFill>
                <a:latin typeface="Calibri" pitchFamily="34" charset="0"/>
                <a:ea typeface="Calibri" pitchFamily="34" charset="-122"/>
                <a:cs typeface="Calibri" pitchFamily="34" charset="-120"/>
              </a:rPr>
              <a:t>Exit EV/EBITDA 8.0–11.5x on FY27E</a:t>
            </a:r>
            <a:endParaRPr lang="en-US" sz="900" dirty="0"/>
          </a:p>
        </p:txBody>
      </p:sp>
      <p:sp>
        <p:nvSpPr>
          <p:cNvPr id="19" name="Shape 17"/>
          <p:cNvSpPr/>
          <p:nvPr/>
        </p:nvSpPr>
        <p:spPr>
          <a:xfrm>
            <a:off x="2933425" y="2148840"/>
            <a:ext cx="3369349" cy="384048"/>
          </a:xfrm>
          <a:prstGeom prst="rect">
            <a:avLst/>
          </a:prstGeom>
          <a:solidFill>
            <a:srgbClr val="14213D"/>
          </a:solidFill>
          <a:ln w="12700">
            <a:solidFill>
              <a:srgbClr val="14213D"/>
            </a:solidFill>
            <a:prstDash val="solid"/>
          </a:ln>
        </p:spPr>
      </p:sp>
      <p:sp>
        <p:nvSpPr>
          <p:cNvPr id="20" name="Text 18"/>
          <p:cNvSpPr txBox="1"/>
          <p:nvPr/>
        </p:nvSpPr>
        <p:spPr>
          <a:xfrm>
            <a:off x="2366497" y="2148840"/>
            <a:ext cx="530352" cy="384048"/>
          </a:xfrm>
          <a:prstGeom prst="rect">
            <a:avLst/>
          </a:prstGeom>
          <a:noFill/>
          <a:ln/>
        </p:spPr>
        <p:txBody>
          <a:bodyPr wrap="square" lIns="0" tIns="0" rIns="0" bIns="0" rtlCol="0" anchor="ctr"/>
          <a:lstStyle/>
          <a:p>
            <a:pPr algn="r" indent="0" marL="0">
              <a:buNone/>
            </a:pPr>
            <a:r>
              <a:rPr lang="en-US" sz="950" dirty="0">
                <a:solidFill>
                  <a:srgbClr val="1E2530"/>
                </a:solidFill>
                <a:latin typeface="Calibri" pitchFamily="34" charset="0"/>
                <a:ea typeface="Calibri" pitchFamily="34" charset="-122"/>
                <a:cs typeface="Calibri" pitchFamily="34" charset="-120"/>
              </a:rPr>
              <a:t>€42.5</a:t>
            </a:r>
            <a:endParaRPr lang="en-US" sz="950" dirty="0"/>
          </a:p>
        </p:txBody>
      </p:sp>
      <p:sp>
        <p:nvSpPr>
          <p:cNvPr id="21" name="Text 19"/>
          <p:cNvSpPr txBox="1"/>
          <p:nvPr/>
        </p:nvSpPr>
        <p:spPr>
          <a:xfrm>
            <a:off x="6348494" y="2148840"/>
            <a:ext cx="548640" cy="384048"/>
          </a:xfrm>
          <a:prstGeom prst="rect">
            <a:avLst/>
          </a:prstGeom>
          <a:noFill/>
          <a:ln/>
        </p:spPr>
        <p:txBody>
          <a:bodyPr wrap="square" lIns="0" tIns="0" rIns="0" bIns="0" rtlCol="0" anchor="ctr"/>
          <a:lstStyle/>
          <a:p>
            <a:pPr indent="0" marL="0">
              <a:buNone/>
            </a:pPr>
            <a:r>
              <a:rPr lang="en-US" sz="950" dirty="0">
                <a:solidFill>
                  <a:srgbClr val="1E2530"/>
                </a:solidFill>
                <a:latin typeface="Calibri" pitchFamily="34" charset="0"/>
                <a:ea typeface="Calibri" pitchFamily="34" charset="-122"/>
                <a:cs typeface="Calibri" pitchFamily="34" charset="-120"/>
              </a:rPr>
              <a:t>€77.8</a:t>
            </a:r>
            <a:endParaRPr lang="en-US" sz="950" dirty="0"/>
          </a:p>
        </p:txBody>
      </p:sp>
      <p:sp>
        <p:nvSpPr>
          <p:cNvPr id="22" name="Text 20"/>
          <p:cNvSpPr txBox="1"/>
          <p:nvPr/>
        </p:nvSpPr>
        <p:spPr>
          <a:xfrm>
            <a:off x="457200" y="2843784"/>
            <a:ext cx="2194560" cy="228600"/>
          </a:xfrm>
          <a:prstGeom prst="rect">
            <a:avLst/>
          </a:prstGeom>
          <a:noFill/>
          <a:ln/>
        </p:spPr>
        <p:txBody>
          <a:bodyPr wrap="square" lIns="0" tIns="0" rIns="0" bIns="0" rtlCol="0" anchor="t"/>
          <a:lstStyle/>
          <a:p>
            <a:pPr indent="0" marL="0">
              <a:buNone/>
            </a:pPr>
            <a:r>
              <a:rPr lang="en-US" sz="1150" b="1" dirty="0">
                <a:solidFill>
                  <a:srgbClr val="1E2530"/>
                </a:solidFill>
                <a:latin typeface="Calibri" pitchFamily="34" charset="0"/>
                <a:ea typeface="Calibri" pitchFamily="34" charset="-122"/>
                <a:cs typeface="Calibri" pitchFamily="34" charset="-120"/>
              </a:rPr>
              <a:t>DCF</a:t>
            </a:r>
            <a:endParaRPr lang="en-US" sz="1150" dirty="0"/>
          </a:p>
        </p:txBody>
      </p:sp>
      <p:sp>
        <p:nvSpPr>
          <p:cNvPr id="23" name="Text 21"/>
          <p:cNvSpPr txBox="1"/>
          <p:nvPr/>
        </p:nvSpPr>
        <p:spPr>
          <a:xfrm>
            <a:off x="457200" y="3063240"/>
            <a:ext cx="2194560" cy="228600"/>
          </a:xfrm>
          <a:prstGeom prst="rect">
            <a:avLst/>
          </a:prstGeom>
          <a:noFill/>
          <a:ln/>
        </p:spPr>
        <p:txBody>
          <a:bodyPr wrap="square" lIns="0" tIns="0" rIns="0" bIns="0" rtlCol="0" anchor="t"/>
          <a:lstStyle/>
          <a:p>
            <a:pPr indent="0" marL="0">
              <a:buNone/>
            </a:pPr>
            <a:r>
              <a:rPr lang="en-US" sz="900" dirty="0">
                <a:solidFill>
                  <a:srgbClr val="6B7684"/>
                </a:solidFill>
                <a:latin typeface="Calibri" pitchFamily="34" charset="0"/>
                <a:ea typeface="Calibri" pitchFamily="34" charset="-122"/>
                <a:cs typeface="Calibri" pitchFamily="34" charset="-120"/>
              </a:rPr>
              <a:t>WACC 7.0–8.5%, g 1.5–2.5%</a:t>
            </a:r>
            <a:endParaRPr lang="en-US" sz="900" dirty="0"/>
          </a:p>
        </p:txBody>
      </p:sp>
      <p:sp>
        <p:nvSpPr>
          <p:cNvPr id="24" name="Shape 22"/>
          <p:cNvSpPr/>
          <p:nvPr/>
        </p:nvSpPr>
        <p:spPr>
          <a:xfrm>
            <a:off x="3512981" y="2862072"/>
            <a:ext cx="2761476" cy="384048"/>
          </a:xfrm>
          <a:prstGeom prst="rect">
            <a:avLst/>
          </a:prstGeom>
          <a:solidFill>
            <a:srgbClr val="5B7083"/>
          </a:solidFill>
          <a:ln w="12700">
            <a:solidFill>
              <a:srgbClr val="5B7083"/>
            </a:solidFill>
            <a:prstDash val="solid"/>
          </a:ln>
        </p:spPr>
      </p:sp>
      <p:sp>
        <p:nvSpPr>
          <p:cNvPr id="25" name="Text 23"/>
          <p:cNvSpPr txBox="1"/>
          <p:nvPr/>
        </p:nvSpPr>
        <p:spPr>
          <a:xfrm>
            <a:off x="2946053" y="2862072"/>
            <a:ext cx="530352" cy="384048"/>
          </a:xfrm>
          <a:prstGeom prst="rect">
            <a:avLst/>
          </a:prstGeom>
          <a:noFill/>
          <a:ln/>
        </p:spPr>
        <p:txBody>
          <a:bodyPr wrap="square" lIns="0" tIns="0" rIns="0" bIns="0" rtlCol="0" anchor="ctr"/>
          <a:lstStyle/>
          <a:p>
            <a:pPr algn="r" indent="0" marL="0">
              <a:buNone/>
            </a:pPr>
            <a:r>
              <a:rPr lang="en-US" sz="950" dirty="0">
                <a:solidFill>
                  <a:srgbClr val="1E2530"/>
                </a:solidFill>
                <a:latin typeface="Calibri" pitchFamily="34" charset="0"/>
                <a:ea typeface="Calibri" pitchFamily="34" charset="-122"/>
                <a:cs typeface="Calibri" pitchFamily="34" charset="-120"/>
              </a:rPr>
              <a:t>€48.5</a:t>
            </a:r>
            <a:endParaRPr lang="en-US" sz="950" dirty="0"/>
          </a:p>
        </p:txBody>
      </p:sp>
      <p:sp>
        <p:nvSpPr>
          <p:cNvPr id="26" name="Text 24"/>
          <p:cNvSpPr txBox="1"/>
          <p:nvPr/>
        </p:nvSpPr>
        <p:spPr>
          <a:xfrm>
            <a:off x="6320177" y="2862072"/>
            <a:ext cx="548640" cy="384048"/>
          </a:xfrm>
          <a:prstGeom prst="rect">
            <a:avLst/>
          </a:prstGeom>
          <a:noFill/>
          <a:ln/>
        </p:spPr>
        <p:txBody>
          <a:bodyPr wrap="square" lIns="0" tIns="0" rIns="0" bIns="0" rtlCol="0" anchor="ctr"/>
          <a:lstStyle/>
          <a:p>
            <a:pPr indent="0" marL="0">
              <a:buNone/>
            </a:pPr>
            <a:r>
              <a:rPr lang="en-US" sz="950" dirty="0">
                <a:solidFill>
                  <a:srgbClr val="1E2530"/>
                </a:solidFill>
                <a:latin typeface="Calibri" pitchFamily="34" charset="0"/>
                <a:ea typeface="Calibri" pitchFamily="34" charset="-122"/>
                <a:cs typeface="Calibri" pitchFamily="34" charset="-120"/>
              </a:rPr>
              <a:t>€77.5</a:t>
            </a:r>
            <a:endParaRPr lang="en-US" sz="950" dirty="0"/>
          </a:p>
        </p:txBody>
      </p:sp>
      <p:sp>
        <p:nvSpPr>
          <p:cNvPr id="27" name="Text 25"/>
          <p:cNvSpPr txBox="1"/>
          <p:nvPr/>
        </p:nvSpPr>
        <p:spPr>
          <a:xfrm>
            <a:off x="457200" y="3557016"/>
            <a:ext cx="2194560" cy="228600"/>
          </a:xfrm>
          <a:prstGeom prst="rect">
            <a:avLst/>
          </a:prstGeom>
          <a:noFill/>
          <a:ln/>
        </p:spPr>
        <p:txBody>
          <a:bodyPr wrap="square" lIns="0" tIns="0" rIns="0" bIns="0" rtlCol="0" anchor="t"/>
          <a:lstStyle/>
          <a:p>
            <a:pPr indent="0" marL="0">
              <a:buNone/>
            </a:pPr>
            <a:r>
              <a:rPr lang="en-US" sz="1150" b="1" dirty="0">
                <a:solidFill>
                  <a:srgbClr val="1E2530"/>
                </a:solidFill>
                <a:latin typeface="Calibri" pitchFamily="34" charset="0"/>
                <a:ea typeface="Calibri" pitchFamily="34" charset="-122"/>
                <a:cs typeface="Calibri" pitchFamily="34" charset="-120"/>
              </a:rPr>
              <a:t>Trading multiple</a:t>
            </a:r>
            <a:endParaRPr lang="en-US" sz="1150" dirty="0"/>
          </a:p>
        </p:txBody>
      </p:sp>
      <p:sp>
        <p:nvSpPr>
          <p:cNvPr id="28" name="Text 26"/>
          <p:cNvSpPr txBox="1"/>
          <p:nvPr/>
        </p:nvSpPr>
        <p:spPr>
          <a:xfrm>
            <a:off x="457200" y="3776472"/>
            <a:ext cx="2194560" cy="228600"/>
          </a:xfrm>
          <a:prstGeom prst="rect">
            <a:avLst/>
          </a:prstGeom>
          <a:noFill/>
          <a:ln/>
        </p:spPr>
        <p:txBody>
          <a:bodyPr wrap="square" lIns="0" tIns="0" rIns="0" bIns="0" rtlCol="0" anchor="t"/>
          <a:lstStyle/>
          <a:p>
            <a:pPr indent="0" marL="0">
              <a:buNone/>
            </a:pPr>
            <a:r>
              <a:rPr lang="en-US" sz="900" dirty="0">
                <a:solidFill>
                  <a:srgbClr val="6B7684"/>
                </a:solidFill>
                <a:latin typeface="Calibri" pitchFamily="34" charset="0"/>
                <a:ea typeface="Calibri" pitchFamily="34" charset="-122"/>
                <a:cs typeface="Calibri" pitchFamily="34" charset="-120"/>
              </a:rPr>
              <a:t>9–11x consensus FY27E EBITDA</a:t>
            </a:r>
            <a:endParaRPr lang="en-US" sz="900" dirty="0"/>
          </a:p>
        </p:txBody>
      </p:sp>
      <p:sp>
        <p:nvSpPr>
          <p:cNvPr id="29" name="Shape 27"/>
          <p:cNvSpPr/>
          <p:nvPr/>
        </p:nvSpPr>
        <p:spPr>
          <a:xfrm>
            <a:off x="4323622" y="3575304"/>
            <a:ext cx="1356256" cy="384048"/>
          </a:xfrm>
          <a:prstGeom prst="rect">
            <a:avLst/>
          </a:prstGeom>
          <a:solidFill>
            <a:srgbClr val="8796AB"/>
          </a:solidFill>
          <a:ln w="12700">
            <a:solidFill>
              <a:srgbClr val="8796AB"/>
            </a:solidFill>
            <a:prstDash val="solid"/>
          </a:ln>
        </p:spPr>
      </p:sp>
      <p:sp>
        <p:nvSpPr>
          <p:cNvPr id="30" name="Text 28"/>
          <p:cNvSpPr txBox="1"/>
          <p:nvPr/>
        </p:nvSpPr>
        <p:spPr>
          <a:xfrm>
            <a:off x="4369342" y="3575304"/>
            <a:ext cx="548640" cy="384048"/>
          </a:xfrm>
          <a:prstGeom prst="rect">
            <a:avLst/>
          </a:prstGeom>
          <a:noFill/>
          <a:ln/>
        </p:spPr>
        <p:txBody>
          <a:bodyPr wrap="square" lIns="0" tIns="0" rIns="0" bIns="0" rtlCol="0" anchor="ctr"/>
          <a:lstStyle/>
          <a:p>
            <a:pPr indent="0" marL="0">
              <a:buNone/>
            </a:pPr>
            <a:r>
              <a:rPr lang="en-US" sz="950" b="1" dirty="0">
                <a:solidFill>
                  <a:srgbClr val="FFFFFF"/>
                </a:solidFill>
                <a:latin typeface="Calibri" pitchFamily="34" charset="0"/>
                <a:ea typeface="Calibri" pitchFamily="34" charset="-122"/>
                <a:cs typeface="Calibri" pitchFamily="34" charset="-120"/>
              </a:rPr>
              <a:t>€57.0</a:t>
            </a:r>
            <a:endParaRPr lang="en-US" sz="950" dirty="0"/>
          </a:p>
        </p:txBody>
      </p:sp>
      <p:sp>
        <p:nvSpPr>
          <p:cNvPr id="31" name="Text 29"/>
          <p:cNvSpPr txBox="1"/>
          <p:nvPr/>
        </p:nvSpPr>
        <p:spPr>
          <a:xfrm>
            <a:off x="5725598" y="3575304"/>
            <a:ext cx="548640" cy="384048"/>
          </a:xfrm>
          <a:prstGeom prst="rect">
            <a:avLst/>
          </a:prstGeom>
          <a:noFill/>
          <a:ln/>
        </p:spPr>
        <p:txBody>
          <a:bodyPr wrap="square" lIns="0" tIns="0" rIns="0" bIns="0" rtlCol="0" anchor="ctr"/>
          <a:lstStyle/>
          <a:p>
            <a:pPr indent="0" marL="0">
              <a:buNone/>
            </a:pPr>
            <a:r>
              <a:rPr lang="en-US" sz="950" dirty="0">
                <a:solidFill>
                  <a:srgbClr val="1E2530"/>
                </a:solidFill>
                <a:latin typeface="Calibri" pitchFamily="34" charset="0"/>
                <a:ea typeface="Calibri" pitchFamily="34" charset="-122"/>
                <a:cs typeface="Calibri" pitchFamily="34" charset="-120"/>
              </a:rPr>
              <a:t>€71.2</a:t>
            </a:r>
            <a:endParaRPr lang="en-US" sz="950" dirty="0"/>
          </a:p>
        </p:txBody>
      </p:sp>
      <p:sp>
        <p:nvSpPr>
          <p:cNvPr id="32" name="Text 30"/>
          <p:cNvSpPr txBox="1"/>
          <p:nvPr/>
        </p:nvSpPr>
        <p:spPr>
          <a:xfrm>
            <a:off x="457200" y="4270248"/>
            <a:ext cx="2194560" cy="228600"/>
          </a:xfrm>
          <a:prstGeom prst="rect">
            <a:avLst/>
          </a:prstGeom>
          <a:noFill/>
          <a:ln/>
        </p:spPr>
        <p:txBody>
          <a:bodyPr wrap="square" lIns="0" tIns="0" rIns="0" bIns="0" rtlCol="0" anchor="t"/>
          <a:lstStyle/>
          <a:p>
            <a:pPr indent="0" marL="0">
              <a:buNone/>
            </a:pPr>
            <a:r>
              <a:rPr lang="en-US" sz="1150" b="1" dirty="0">
                <a:solidFill>
                  <a:srgbClr val="1E2530"/>
                </a:solidFill>
                <a:latin typeface="Calibri" pitchFamily="34" charset="0"/>
                <a:ea typeface="Calibri" pitchFamily="34" charset="-122"/>
                <a:cs typeface="Calibri" pitchFamily="34" charset="-120"/>
              </a:rPr>
              <a:t>Street target</a:t>
            </a:r>
            <a:endParaRPr lang="en-US" sz="1150" dirty="0"/>
          </a:p>
        </p:txBody>
      </p:sp>
      <p:sp>
        <p:nvSpPr>
          <p:cNvPr id="33" name="Text 31"/>
          <p:cNvSpPr txBox="1"/>
          <p:nvPr/>
        </p:nvSpPr>
        <p:spPr>
          <a:xfrm>
            <a:off x="457200" y="4489704"/>
            <a:ext cx="2194560" cy="228600"/>
          </a:xfrm>
          <a:prstGeom prst="rect">
            <a:avLst/>
          </a:prstGeom>
          <a:noFill/>
          <a:ln/>
        </p:spPr>
        <p:txBody>
          <a:bodyPr wrap="square" lIns="0" tIns="0" rIns="0" bIns="0" rtlCol="0" anchor="t"/>
          <a:lstStyle/>
          <a:p>
            <a:pPr indent="0" marL="0">
              <a:buNone/>
            </a:pPr>
            <a:r>
              <a:rPr lang="en-US" sz="900" dirty="0">
                <a:solidFill>
                  <a:srgbClr val="6B7684"/>
                </a:solidFill>
                <a:latin typeface="Calibri" pitchFamily="34" charset="0"/>
                <a:ea typeface="Calibri" pitchFamily="34" charset="-122"/>
                <a:cs typeface="Calibri" pitchFamily="34" charset="-120"/>
              </a:rPr>
              <a:t>10 analysts; 7 Buy/Outperform</a:t>
            </a:r>
            <a:endParaRPr lang="en-US" sz="900" dirty="0"/>
          </a:p>
        </p:txBody>
      </p:sp>
      <p:sp>
        <p:nvSpPr>
          <p:cNvPr id="34" name="Shape 32"/>
          <p:cNvSpPr/>
          <p:nvPr/>
        </p:nvSpPr>
        <p:spPr>
          <a:xfrm>
            <a:off x="6358148" y="4288536"/>
            <a:ext cx="66853" cy="384048"/>
          </a:xfrm>
          <a:prstGeom prst="rect">
            <a:avLst/>
          </a:prstGeom>
          <a:solidFill>
            <a:srgbClr val="E8702A"/>
          </a:solidFill>
          <a:ln w="12700">
            <a:solidFill>
              <a:srgbClr val="E8702A"/>
            </a:solidFill>
            <a:prstDash val="solid"/>
          </a:ln>
        </p:spPr>
      </p:sp>
      <p:sp>
        <p:nvSpPr>
          <p:cNvPr id="35" name="Text 33"/>
          <p:cNvSpPr txBox="1"/>
          <p:nvPr/>
        </p:nvSpPr>
        <p:spPr>
          <a:xfrm>
            <a:off x="6470721" y="4288536"/>
            <a:ext cx="640080" cy="384048"/>
          </a:xfrm>
          <a:prstGeom prst="rect">
            <a:avLst/>
          </a:prstGeom>
          <a:noFill/>
          <a:ln/>
        </p:spPr>
        <p:txBody>
          <a:bodyPr wrap="square" lIns="0" tIns="0" rIns="0" bIns="0" rtlCol="0" anchor="ctr"/>
          <a:lstStyle/>
          <a:p>
            <a:pPr indent="0" marL="0">
              <a:buNone/>
            </a:pPr>
            <a:r>
              <a:rPr lang="en-US" sz="950" dirty="0">
                <a:solidFill>
                  <a:srgbClr val="1E2530"/>
                </a:solidFill>
                <a:latin typeface="Calibri" pitchFamily="34" charset="0"/>
                <a:ea typeface="Calibri" pitchFamily="34" charset="-122"/>
                <a:cs typeface="Calibri" pitchFamily="34" charset="-120"/>
              </a:rPr>
              <a:t>€78.68</a:t>
            </a:r>
            <a:endParaRPr lang="en-US" sz="950" dirty="0"/>
          </a:p>
        </p:txBody>
      </p:sp>
      <p:sp>
        <p:nvSpPr>
          <p:cNvPr id="36" name="Shape 34"/>
          <p:cNvSpPr/>
          <p:nvPr/>
        </p:nvSpPr>
        <p:spPr>
          <a:xfrm>
            <a:off x="4005885" y="1920240"/>
            <a:ext cx="0" cy="2898648"/>
          </a:xfrm>
          <a:prstGeom prst="line">
            <a:avLst/>
          </a:prstGeom>
          <a:noFill/>
          <a:ln w="19050">
            <a:solidFill>
              <a:srgbClr val="B83B2E"/>
            </a:solidFill>
            <a:prstDash val="dash"/>
          </a:ln>
        </p:spPr>
      </p:sp>
      <p:sp>
        <p:nvSpPr>
          <p:cNvPr id="37" name="Shape 35"/>
          <p:cNvSpPr/>
          <p:nvPr/>
        </p:nvSpPr>
        <p:spPr>
          <a:xfrm>
            <a:off x="5011879" y="1920240"/>
            <a:ext cx="0" cy="2898648"/>
          </a:xfrm>
          <a:prstGeom prst="line">
            <a:avLst/>
          </a:prstGeom>
          <a:noFill/>
          <a:ln w="19050">
            <a:solidFill>
              <a:srgbClr val="2E7D4F"/>
            </a:solidFill>
            <a:prstDash val="dash"/>
          </a:ln>
        </p:spPr>
      </p:sp>
      <p:sp>
        <p:nvSpPr>
          <p:cNvPr id="38" name="Text 36"/>
          <p:cNvSpPr txBox="1"/>
          <p:nvPr/>
        </p:nvSpPr>
        <p:spPr>
          <a:xfrm>
            <a:off x="2908605" y="1719072"/>
            <a:ext cx="1051560" cy="201168"/>
          </a:xfrm>
          <a:prstGeom prst="rect">
            <a:avLst/>
          </a:prstGeom>
          <a:noFill/>
          <a:ln/>
        </p:spPr>
        <p:txBody>
          <a:bodyPr wrap="square" lIns="0" tIns="0" rIns="0" bIns="0" rtlCol="0" anchor="t"/>
          <a:lstStyle/>
          <a:p>
            <a:pPr algn="r" indent="0" marL="0">
              <a:buNone/>
            </a:pPr>
            <a:r>
              <a:rPr lang="en-US" sz="950" b="1" dirty="0">
                <a:solidFill>
                  <a:srgbClr val="B83B2E"/>
                </a:solidFill>
                <a:latin typeface="Calibri" pitchFamily="34" charset="0"/>
                <a:ea typeface="Calibri" pitchFamily="34" charset="-122"/>
                <a:cs typeface="Calibri" pitchFamily="34" charset="-120"/>
              </a:rPr>
              <a:t>Price €53.70</a:t>
            </a:r>
            <a:endParaRPr lang="en-US" sz="950" dirty="0"/>
          </a:p>
        </p:txBody>
      </p:sp>
      <p:sp>
        <p:nvSpPr>
          <p:cNvPr id="39" name="Text 37"/>
          <p:cNvSpPr txBox="1"/>
          <p:nvPr/>
        </p:nvSpPr>
        <p:spPr>
          <a:xfrm>
            <a:off x="5066743" y="1719072"/>
            <a:ext cx="1188720" cy="201168"/>
          </a:xfrm>
          <a:prstGeom prst="rect">
            <a:avLst/>
          </a:prstGeom>
          <a:noFill/>
          <a:ln/>
        </p:spPr>
        <p:txBody>
          <a:bodyPr wrap="square" lIns="0" tIns="0" rIns="0" bIns="0" rtlCol="0" anchor="t"/>
          <a:lstStyle/>
          <a:p>
            <a:pPr indent="0" marL="0">
              <a:buNone/>
            </a:pPr>
            <a:r>
              <a:rPr lang="en-US" sz="950" b="1" dirty="0">
                <a:solidFill>
                  <a:srgbClr val="2E7D4F"/>
                </a:solidFill>
                <a:latin typeface="Calibri" pitchFamily="34" charset="0"/>
                <a:ea typeface="Calibri" pitchFamily="34" charset="-122"/>
                <a:cs typeface="Calibri" pitchFamily="34" charset="-120"/>
              </a:rPr>
              <a:t>Target €64.2</a:t>
            </a:r>
            <a:endParaRPr lang="en-US" sz="950" dirty="0"/>
          </a:p>
        </p:txBody>
      </p:sp>
      <p:sp>
        <p:nvSpPr>
          <p:cNvPr id="40" name="Shape 38"/>
          <p:cNvSpPr/>
          <p:nvPr/>
        </p:nvSpPr>
        <p:spPr>
          <a:xfrm>
            <a:off x="457200" y="5257800"/>
            <a:ext cx="6583680" cy="1097280"/>
          </a:xfrm>
          <a:prstGeom prst="roundRect">
            <a:avLst>
              <a:gd name="adj" fmla="val 6667"/>
            </a:avLst>
          </a:prstGeom>
          <a:solidFill>
            <a:srgbClr val="F3F5F8"/>
          </a:solidFill>
          <a:ln w="12700">
            <a:solidFill>
              <a:srgbClr val="F3F5F8"/>
            </a:solidFill>
            <a:prstDash val="solid"/>
          </a:ln>
        </p:spPr>
      </p:sp>
      <p:sp>
        <p:nvSpPr>
          <p:cNvPr id="41" name="Text 39"/>
          <p:cNvSpPr txBox="1"/>
          <p:nvPr/>
        </p:nvSpPr>
        <p:spPr>
          <a:xfrm>
            <a:off x="640080" y="5330952"/>
            <a:ext cx="2743200" cy="274320"/>
          </a:xfrm>
          <a:prstGeom prst="rect">
            <a:avLst/>
          </a:prstGeom>
          <a:noFill/>
          <a:ln/>
        </p:spPr>
        <p:txBody>
          <a:bodyPr wrap="square" lIns="0" tIns="0" rIns="0" bIns="0" rtlCol="0" anchor="t"/>
          <a:lstStyle/>
          <a:p>
            <a:pPr indent="0" marL="0">
              <a:buNone/>
            </a:pPr>
            <a:r>
              <a:rPr lang="en-US" sz="1200" b="1" dirty="0">
                <a:solidFill>
                  <a:srgbClr val="14213D"/>
                </a:solidFill>
                <a:latin typeface="Calibri" pitchFamily="34" charset="0"/>
                <a:ea typeface="Calibri" pitchFamily="34" charset="-122"/>
                <a:cs typeface="Calibri" pitchFamily="34" charset="-120"/>
              </a:rPr>
              <a:t>Methodology</a:t>
            </a:r>
            <a:endParaRPr lang="en-US" sz="1200" dirty="0"/>
          </a:p>
        </p:txBody>
      </p:sp>
      <p:sp>
        <p:nvSpPr>
          <p:cNvPr id="42" name="Text 40"/>
          <p:cNvSpPr txBox="1"/>
          <p:nvPr/>
        </p:nvSpPr>
        <p:spPr>
          <a:xfrm>
            <a:off x="640080" y="5596128"/>
            <a:ext cx="6217920" cy="731520"/>
          </a:xfrm>
          <a:prstGeom prst="rect">
            <a:avLst/>
          </a:prstGeom>
          <a:noFill/>
          <a:ln/>
        </p:spPr>
        <p:txBody>
          <a:bodyPr wrap="square" lIns="0" tIns="0" rIns="0" bIns="0" rtlCol="0" anchor="t"/>
          <a:lstStyle/>
          <a:p>
            <a:pPr indent="0" marL="0">
              <a:buNone/>
            </a:pPr>
            <a:r>
              <a:rPr lang="en-US" sz="1050" dirty="0">
                <a:solidFill>
                  <a:srgbClr val="1E2530"/>
                </a:solidFill>
                <a:latin typeface="Calibri" pitchFamily="34" charset="0"/>
                <a:ea typeface="Calibri" pitchFamily="34" charset="-122"/>
                <a:cs typeface="Calibri" pitchFamily="34" charset="-120"/>
              </a:rPr>
              <a:t>Anchor: exit EV/EBITDA on FY27E EBITDA (the earnings the market will price at our exit), one share, no control premium. Cross-check: DCF €61.0 (WACC 7.65%, g 2.0%, terminal value 78% of EV, implied exit 9.4x). EV bridge: net debt €318M incl. leases; 46.2M diluted shares.</a:t>
            </a:r>
            <a:endParaRPr lang="en-US" sz="1050" dirty="0"/>
          </a:p>
        </p:txBody>
      </p:sp>
      <p:sp>
        <p:nvSpPr>
          <p:cNvPr id="43" name="Text 41"/>
          <p:cNvSpPr txBox="1"/>
          <p:nvPr/>
        </p:nvSpPr>
        <p:spPr>
          <a:xfrm>
            <a:off x="7452360" y="1645920"/>
            <a:ext cx="4297680" cy="320040"/>
          </a:xfrm>
          <a:prstGeom prst="rect">
            <a:avLst/>
          </a:prstGeom>
          <a:noFill/>
          <a:ln/>
        </p:spPr>
        <p:txBody>
          <a:bodyPr wrap="square" lIns="0" tIns="0" rIns="0" bIns="0" rtlCol="0" anchor="t"/>
          <a:lstStyle/>
          <a:p>
            <a:pPr indent="0" marL="0">
              <a:buNone/>
            </a:pPr>
            <a:r>
              <a:rPr lang="en-US" sz="1500" b="1" dirty="0">
                <a:solidFill>
                  <a:srgbClr val="14213D"/>
                </a:solidFill>
                <a:latin typeface="Cambria" pitchFamily="34" charset="0"/>
                <a:ea typeface="Cambria" pitchFamily="34" charset="-122"/>
                <a:cs typeface="Cambria" pitchFamily="34" charset="-120"/>
              </a:rPr>
              <a:t>Bear / base / bull (FY27E, € per share)</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7452360" y="2057400"/>
          <a:ext cx="4279392" cy="914400"/>
        </p:xfrm>
        <a:graphic>
          <a:graphicData uri="http://schemas.openxmlformats.org/drawingml/2006/table">
            <a:tbl>
              <a:tblPr/>
              <a:tblGrid>
                <a:gridCol w="1700784"/>
                <a:gridCol w="859536"/>
                <a:gridCol w="859536"/>
                <a:gridCol w="859536"/>
              </a:tblGrid>
              <a:tr h="329184">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Bear</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Base</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Bull</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r>
              <a:tr h="329184">
                <a:tc>
                  <a:txBody>
                    <a:bodyPr/>
                    <a:lstStyle/>
                    <a:p>
                      <a:pPr algn="l" indent="0" marL="0">
                        <a:buNone/>
                      </a:pPr>
                      <a:r>
                        <a:rPr lang="en-US" sz="1100" dirty="0">
                          <a:solidFill>
                            <a:srgbClr val="1E2530"/>
                          </a:solidFill>
                          <a:latin typeface="Calibri" pitchFamily="34" charset="0"/>
                          <a:ea typeface="Calibri" pitchFamily="34" charset="-122"/>
                          <a:cs typeface="Calibri" pitchFamily="34" charset="-120"/>
                        </a:rPr>
                        <a:t>Probability</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50%</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35%</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29184">
                <a:tc>
                  <a:txBody>
                    <a:bodyPr/>
                    <a:lstStyle/>
                    <a:p>
                      <a:pPr algn="l" indent="0" marL="0">
                        <a:buNone/>
                      </a:pPr>
                      <a:r>
                        <a:rPr lang="en-US" sz="1100" dirty="0">
                          <a:solidFill>
                            <a:srgbClr val="1E2530"/>
                          </a:solidFill>
                          <a:latin typeface="Calibri" pitchFamily="34" charset="0"/>
                          <a:ea typeface="Calibri" pitchFamily="34" charset="-122"/>
                          <a:cs typeface="Calibri" pitchFamily="34" charset="-120"/>
                        </a:rPr>
                        <a:t>FY27E EBITDA (€M)</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285</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315</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340</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29184">
                <a:tc>
                  <a:txBody>
                    <a:bodyPr/>
                    <a:lstStyle/>
                    <a:p>
                      <a:pPr algn="l" indent="0" marL="0">
                        <a:buNone/>
                      </a:pPr>
                      <a:r>
                        <a:rPr lang="en-US" sz="1100" dirty="0">
                          <a:solidFill>
                            <a:srgbClr val="6B7684"/>
                          </a:solidFill>
                          <a:latin typeface="Calibri" pitchFamily="34" charset="0"/>
                          <a:ea typeface="Calibri" pitchFamily="34" charset="-122"/>
                          <a:cs typeface="Calibri" pitchFamily="34" charset="-120"/>
                        </a:rPr>
                        <a:t>vs consensus €328M</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6B7684"/>
                          </a:solidFill>
                          <a:latin typeface="Calibri" pitchFamily="34" charset="0"/>
                          <a:ea typeface="Calibri" pitchFamily="34" charset="-122"/>
                          <a:cs typeface="Calibri" pitchFamily="34" charset="-120"/>
                        </a:rPr>
                        <a:t>−13%</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6B7684"/>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6B7684"/>
                          </a:solidFill>
                          <a:latin typeface="Calibri" pitchFamily="34" charset="0"/>
                          <a:ea typeface="Calibri" pitchFamily="34" charset="-122"/>
                          <a:cs typeface="Calibri" pitchFamily="34" charset="-120"/>
                        </a:rPr>
                        <a:t>+4%</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29184">
                <a:tc>
                  <a:txBody>
                    <a:bodyPr/>
                    <a:lstStyle/>
                    <a:p>
                      <a:pPr algn="l" indent="0" marL="0">
                        <a:buNone/>
                      </a:pPr>
                      <a:r>
                        <a:rPr lang="en-US" sz="1100" dirty="0">
                          <a:solidFill>
                            <a:srgbClr val="1E2530"/>
                          </a:solidFill>
                          <a:latin typeface="Calibri" pitchFamily="34" charset="0"/>
                          <a:ea typeface="Calibri" pitchFamily="34" charset="-122"/>
                          <a:cs typeface="Calibri" pitchFamily="34" charset="-120"/>
                        </a:rPr>
                        <a:t>EV / EBITDA</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8.0x</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10.0x</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11.5x</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29184">
                <a:tc>
                  <a:txBody>
                    <a:bodyPr/>
                    <a:lstStyle/>
                    <a:p>
                      <a:pPr algn="l" indent="0" marL="0">
                        <a:buNone/>
                      </a:pPr>
                      <a:r>
                        <a:rPr lang="en-US" sz="1100" b="1" dirty="0">
                          <a:solidFill>
                            <a:srgbClr val="1E2530"/>
                          </a:solidFill>
                          <a:latin typeface="Calibri" pitchFamily="34" charset="0"/>
                          <a:ea typeface="Calibri" pitchFamily="34" charset="-122"/>
                          <a:cs typeface="Calibri" pitchFamily="34" charset="-120"/>
                        </a:rPr>
                        <a:t>Value per share</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b="1" dirty="0">
                          <a:solidFill>
                            <a:srgbClr val="1E2530"/>
                          </a:solidFill>
                          <a:latin typeface="Calibri" pitchFamily="34" charset="0"/>
                          <a:ea typeface="Calibri" pitchFamily="34" charset="-122"/>
                          <a:cs typeface="Calibri" pitchFamily="34" charset="-120"/>
                        </a:rPr>
                        <a:t>€42.5</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b="1" dirty="0">
                          <a:solidFill>
                            <a:srgbClr val="1E2530"/>
                          </a:solidFill>
                          <a:latin typeface="Calibri" pitchFamily="34" charset="0"/>
                          <a:ea typeface="Calibri" pitchFamily="34" charset="-122"/>
                          <a:cs typeface="Calibri" pitchFamily="34" charset="-120"/>
                        </a:rPr>
                        <a:t>€61.3</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b="1" dirty="0">
                          <a:solidFill>
                            <a:srgbClr val="1E2530"/>
                          </a:solidFill>
                          <a:latin typeface="Calibri" pitchFamily="34" charset="0"/>
                          <a:ea typeface="Calibri" pitchFamily="34" charset="-122"/>
                          <a:cs typeface="Calibri" pitchFamily="34" charset="-120"/>
                        </a:rPr>
                        <a:t>€77.8</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29184">
                <a:tc>
                  <a:txBody>
                    <a:bodyPr/>
                    <a:lstStyle/>
                    <a:p>
                      <a:pPr algn="l" indent="0" marL="0">
                        <a:buNone/>
                      </a:pPr>
                      <a:r>
                        <a:rPr lang="en-US" sz="1100" dirty="0">
                          <a:solidFill>
                            <a:srgbClr val="1E2530"/>
                          </a:solidFill>
                          <a:latin typeface="Calibri" pitchFamily="34" charset="0"/>
                          <a:ea typeface="Calibri" pitchFamily="34" charset="-122"/>
                          <a:cs typeface="Calibri" pitchFamily="34" charset="-120"/>
                        </a:rPr>
                        <a:t>Up / (down)side</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b="1" dirty="0">
                          <a:solidFill>
                            <a:srgbClr val="B83B2E"/>
                          </a:solidFill>
                          <a:latin typeface="Calibri" pitchFamily="34" charset="0"/>
                          <a:ea typeface="Calibri" pitchFamily="34" charset="-122"/>
                          <a:cs typeface="Calibri" pitchFamily="34" charset="-120"/>
                        </a:rPr>
                        <a:t>−21%</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b="1" dirty="0">
                          <a:solidFill>
                            <a:srgbClr val="2E7D4F"/>
                          </a:solidFill>
                          <a:latin typeface="Calibri" pitchFamily="34" charset="0"/>
                          <a:ea typeface="Calibri" pitchFamily="34" charset="-122"/>
                          <a:cs typeface="Calibri" pitchFamily="34" charset="-120"/>
                        </a:rPr>
                        <a:t>+14%</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b="1" dirty="0">
                          <a:solidFill>
                            <a:srgbClr val="2E7D4F"/>
                          </a:solidFill>
                          <a:latin typeface="Calibri" pitchFamily="34" charset="0"/>
                          <a:ea typeface="Calibri" pitchFamily="34" charset="-122"/>
                          <a:cs typeface="Calibri" pitchFamily="34" charset="-120"/>
                        </a:rPr>
                        <a:t>+45%</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bl>
          </a:graphicData>
        </a:graphic>
      </p:graphicFrame>
      <p:sp>
        <p:nvSpPr>
          <p:cNvPr id="45" name="Shape 42"/>
          <p:cNvSpPr/>
          <p:nvPr/>
        </p:nvSpPr>
        <p:spPr>
          <a:xfrm>
            <a:off x="7452360" y="4526280"/>
            <a:ext cx="4279392" cy="566928"/>
          </a:xfrm>
          <a:prstGeom prst="roundRect">
            <a:avLst>
              <a:gd name="adj" fmla="val 12903"/>
            </a:avLst>
          </a:prstGeom>
          <a:solidFill>
            <a:srgbClr val="14213D"/>
          </a:solidFill>
          <a:ln w="12700">
            <a:solidFill>
              <a:srgbClr val="14213D"/>
            </a:solidFill>
            <a:prstDash val="solid"/>
          </a:ln>
        </p:spPr>
      </p:sp>
      <p:sp>
        <p:nvSpPr>
          <p:cNvPr id="46" name="Text 43"/>
          <p:cNvSpPr txBox="1"/>
          <p:nvPr/>
        </p:nvSpPr>
        <p:spPr>
          <a:xfrm>
            <a:off x="7589520" y="4526280"/>
            <a:ext cx="4023360" cy="56692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Weighted target €64.2  ·  +19.6%</a:t>
            </a:r>
            <a:endParaRPr lang="en-US" sz="1400" dirty="0"/>
          </a:p>
        </p:txBody>
      </p:sp>
      <p:sp>
        <p:nvSpPr>
          <p:cNvPr id="47" name="Text 44"/>
          <p:cNvSpPr txBox="1"/>
          <p:nvPr/>
        </p:nvSpPr>
        <p:spPr>
          <a:xfrm>
            <a:off x="7452360" y="5230368"/>
            <a:ext cx="4279392" cy="118872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1E2530"/>
                </a:solidFill>
                <a:latin typeface="Calibri" pitchFamily="34" charset="0"/>
                <a:ea typeface="Calibri" pitchFamily="34" charset="-122"/>
                <a:cs typeface="Calibri" pitchFamily="34" charset="-120"/>
              </a:rPr>
              <a:t>Base: margin back to ~23% (1H26 LFL 23.1%) on H2 price increases; 10.0x = today's multiple</a:t>
            </a:r>
            <a:endParaRPr lang="en-US" sz="1000" dirty="0"/>
          </a:p>
          <a:p>
            <a:pPr marL="152400" indent="-152400">
              <a:spcAft>
                <a:spcPts val="400"/>
              </a:spcAft>
              <a:buSzPct val="100000"/>
              <a:buChar char="•"/>
            </a:pPr>
            <a:r>
              <a:rPr lang="en-US" sz="1000" dirty="0">
                <a:solidFill>
                  <a:srgbClr val="1E2530"/>
                </a:solidFill>
                <a:latin typeface="Calibri" pitchFamily="34" charset="0"/>
                <a:ea typeface="Calibri" pitchFamily="34" charset="-122"/>
                <a:cs typeface="Calibri" pitchFamily="34" charset="-120"/>
              </a:rPr>
              <a:t>Bear: energy shock persists and USD weakens; de-rates toward food peers (~8x)</a:t>
            </a:r>
            <a:endParaRPr lang="en-US" sz="1000" dirty="0"/>
          </a:p>
          <a:p>
            <a:pPr marL="152400" indent="-152400">
              <a:spcAft>
                <a:spcPts val="400"/>
              </a:spcAft>
              <a:buSzPct val="100000"/>
              <a:buChar char="•"/>
            </a:pPr>
            <a:r>
              <a:rPr lang="en-US" sz="1000" dirty="0">
                <a:solidFill>
                  <a:srgbClr val="1E2530"/>
                </a:solidFill>
                <a:latin typeface="Calibri" pitchFamily="34" charset="0"/>
                <a:ea typeface="Calibri" pitchFamily="34" charset="-122"/>
                <a:cs typeface="Calibri" pitchFamily="34" charset="-120"/>
              </a:rPr>
              <a:t>Bull: Hormuz normalises, USD tailwind, Health/Pet valued. 11.5x is still below the Street's implied 12.0x</a:t>
            </a:r>
            <a:endParaRPr lang="en-US" sz="1000" dirty="0"/>
          </a:p>
        </p:txBody>
      </p:sp>
      <p:sp>
        <p:nvSpPr>
          <p:cNvPr id="48" name="Text 45"/>
          <p:cNvSpPr txBox="1"/>
          <p:nvPr/>
        </p:nvSpPr>
        <p:spPr>
          <a:xfrm>
            <a:off x="457200" y="6473952"/>
            <a:ext cx="10180015" cy="274320"/>
          </a:xfrm>
          <a:prstGeom prst="rect">
            <a:avLst/>
          </a:prstGeom>
          <a:noFill/>
          <a:ln/>
        </p:spPr>
        <p:txBody>
          <a:bodyPr wrap="square" lIns="0" tIns="0" rIns="0" bIns="0" rtlCol="0" anchor="b"/>
          <a:lstStyle/>
          <a:p>
            <a:pPr indent="0" marL="0">
              <a:buNone/>
            </a:pPr>
            <a:r>
              <a:rPr lang="en-US" sz="850" dirty="0">
                <a:solidFill>
                  <a:srgbClr val="6B7684"/>
                </a:solidFill>
                <a:latin typeface="Calibri" pitchFamily="34" charset="0"/>
                <a:ea typeface="Calibri" pitchFamily="34" charset="-122"/>
                <a:cs typeface="Calibri" pitchFamily="34" charset="-120"/>
              </a:rPr>
              <a:t>Sources: team model (Viscofan_HF_Model.xlsx); S&amp;P Capital IQ consensus (EUR) and estimates; Viscofan 1H26 results presentation.</a:t>
            </a:r>
            <a:endParaRPr lang="en-US" sz="850" dirty="0"/>
          </a:p>
        </p:txBody>
      </p:sp>
      <p:sp>
        <p:nvSpPr>
          <p:cNvPr id="49" name="Text 46"/>
          <p:cNvSpPr txBox="1"/>
          <p:nvPr/>
        </p:nvSpPr>
        <p:spPr>
          <a:xfrm>
            <a:off x="8991295" y="6473952"/>
            <a:ext cx="2743200" cy="274320"/>
          </a:xfrm>
          <a:prstGeom prst="rect">
            <a:avLst/>
          </a:prstGeom>
          <a:noFill/>
          <a:ln/>
        </p:spPr>
        <p:txBody>
          <a:bodyPr wrap="square" lIns="0" tIns="0" rIns="0" bIns="0" rtlCol="0" anchor="b"/>
          <a:lstStyle/>
          <a:p>
            <a:pPr algn="r" indent="0" marL="0">
              <a:buNone/>
            </a:pPr>
            <a:r>
              <a:rPr lang="en-US" sz="850" dirty="0">
                <a:solidFill>
                  <a:srgbClr val="6B7684"/>
                </a:solidFill>
                <a:latin typeface="Calibri" pitchFamily="34" charset="0"/>
                <a:ea typeface="Calibri" pitchFamily="34" charset="-122"/>
                <a:cs typeface="Calibri" pitchFamily="34" charset="-120"/>
              </a:rPr>
              <a:t>HF &amp; Quant A · Viscofan (BME:VIS)</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84048" cy="384048"/>
          </a:xfrm>
          <a:prstGeom prst="ellipse">
            <a:avLst/>
          </a:prstGeom>
          <a:solidFill>
            <a:srgbClr val="E8702A"/>
          </a:solidFill>
          <a:ln w="12700">
            <a:solidFill>
              <a:srgbClr val="E8702A"/>
            </a:solidFill>
            <a:prstDash val="solid"/>
          </a:ln>
        </p:spPr>
      </p:sp>
      <p:sp>
        <p:nvSpPr>
          <p:cNvPr id="3" name="Text 1"/>
          <p:cNvSpPr txBox="1"/>
          <p:nvPr/>
        </p:nvSpPr>
        <p:spPr>
          <a:xfrm>
            <a:off x="457200" y="3474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4" name="Text 2"/>
          <p:cNvSpPr txBox="1"/>
          <p:nvPr/>
        </p:nvSpPr>
        <p:spPr>
          <a:xfrm>
            <a:off x="960120" y="347472"/>
            <a:ext cx="7315200" cy="384048"/>
          </a:xfrm>
          <a:prstGeom prst="rect">
            <a:avLst/>
          </a:prstGeom>
          <a:noFill/>
          <a:ln/>
        </p:spPr>
        <p:txBody>
          <a:bodyPr wrap="square" lIns="0" tIns="0" rIns="0" bIns="0" rtlCol="0" anchor="ctr"/>
          <a:lstStyle/>
          <a:p>
            <a:pPr indent="0" marL="0">
              <a:buNone/>
            </a:pPr>
            <a:r>
              <a:rPr lang="en-US" sz="1100" b="1" spc="200" kern="0" dirty="0">
                <a:solidFill>
                  <a:srgbClr val="5B7083"/>
                </a:solidFill>
                <a:latin typeface="Calibri" pitchFamily="34" charset="0"/>
                <a:ea typeface="Calibri" pitchFamily="34" charset="-122"/>
                <a:cs typeface="Calibri" pitchFamily="34" charset="-120"/>
              </a:rPr>
              <a:t>VARIANT VIEW &amp; CATALYSTS</a:t>
            </a:r>
            <a:endParaRPr lang="en-US" sz="1100" dirty="0"/>
          </a:p>
        </p:txBody>
      </p:sp>
      <p:sp>
        <p:nvSpPr>
          <p:cNvPr id="5" name="Text 3"/>
          <p:cNvSpPr txBox="1"/>
          <p:nvPr/>
        </p:nvSpPr>
        <p:spPr>
          <a:xfrm>
            <a:off x="457200" y="777240"/>
            <a:ext cx="11277295" cy="685800"/>
          </a:xfrm>
          <a:prstGeom prst="rect">
            <a:avLst/>
          </a:prstGeom>
          <a:noFill/>
          <a:ln/>
        </p:spPr>
        <p:txBody>
          <a:bodyPr wrap="square" lIns="0" tIns="0" rIns="0" bIns="0" rtlCol="0" anchor="t"/>
          <a:lstStyle/>
          <a:p>
            <a:pPr indent="0" marL="0">
              <a:buNone/>
            </a:pPr>
            <a:r>
              <a:rPr lang="en-US" sz="2400" b="1" dirty="0">
                <a:solidFill>
                  <a:srgbClr val="14213D"/>
                </a:solidFill>
                <a:latin typeface="Cambria" pitchFamily="34" charset="0"/>
                <a:ea typeface="Cambria" pitchFamily="34" charset="-122"/>
                <a:cs typeface="Cambria" pitchFamily="34" charset="-120"/>
              </a:rPr>
              <a:t>Variant view: the market is anchored on trough, FX-distorted 1H26 numbers. Catalysts arrive within our horizon</a:t>
            </a:r>
            <a:endParaRPr lang="en-US" sz="24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6949440" cy="914400"/>
        </p:xfrm>
        <a:graphic>
          <a:graphicData uri="http://schemas.openxmlformats.org/drawingml/2006/table">
            <a:tbl>
              <a:tblPr/>
              <a:tblGrid>
                <a:gridCol w="2148840"/>
                <a:gridCol w="2240280"/>
                <a:gridCol w="2560320"/>
              </a:tblGrid>
              <a:tr h="347472">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The market sees</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We see</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Evidence</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r>
              <a:tr h="658368">
                <a:tc>
                  <a:txBody>
                    <a:bodyPr/>
                    <a:lstStyle/>
                    <a:p>
                      <a:pPr algn="l" indent="0" marL="0">
                        <a:buNone/>
                      </a:pPr>
                      <a:r>
                        <a:rPr lang="en-US" sz="1050" dirty="0">
                          <a:solidFill>
                            <a:srgbClr val="1E2530"/>
                          </a:solidFill>
                          <a:latin typeface="Calibri" pitchFamily="34" charset="0"/>
                          <a:ea typeface="Calibri" pitchFamily="34" charset="-122"/>
                          <a:cs typeface="Calibri" pitchFamily="34" charset="-120"/>
                        </a:rPr>
                        <a:t>EBITDA −7.4%: a business in decline</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l" indent="0" marL="0">
                        <a:buNone/>
                      </a:pPr>
                      <a:r>
                        <a:rPr lang="en-US" sz="1050" b="1" dirty="0">
                          <a:solidFill>
                            <a:srgbClr val="1E2530"/>
                          </a:solidFill>
                          <a:latin typeface="Calibri" pitchFamily="34" charset="0"/>
                          <a:ea typeface="Calibri" pitchFamily="34" charset="-122"/>
                          <a:cs typeface="Calibri" pitchFamily="34" charset="-120"/>
                        </a:rPr>
                        <a:t>Like-for-like EBITDA +3.1%; the decline is translation</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l" indent="0" marL="0">
                        <a:buNone/>
                      </a:pPr>
                      <a:r>
                        <a:rPr lang="en-US" sz="1050" dirty="0">
                          <a:solidFill>
                            <a:srgbClr val="6B7684"/>
                          </a:solidFill>
                          <a:latin typeface="Calibri" pitchFamily="34" charset="0"/>
                          <a:ea typeface="Calibri" pitchFamily="34" charset="-122"/>
                          <a:cs typeface="Calibri" pitchFamily="34" charset="-120"/>
                        </a:rPr>
                        <a:t>FX −€14.6M of EBITDA (−10.1pp); LFL margin 23.1%</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658368">
                <a:tc>
                  <a:txBody>
                    <a:bodyPr/>
                    <a:lstStyle/>
                    <a:p>
                      <a:pPr algn="l" indent="0" marL="0">
                        <a:buNone/>
                      </a:pPr>
                      <a:r>
                        <a:rPr lang="en-US" sz="1050" dirty="0">
                          <a:solidFill>
                            <a:srgbClr val="1E2530"/>
                          </a:solidFill>
                          <a:latin typeface="Calibri" pitchFamily="34" charset="0"/>
                          <a:ea typeface="Calibri" pitchFamily="34" charset="-122"/>
                          <a:cs typeface="Calibri" pitchFamily="34" charset="-120"/>
                        </a:rPr>
                        <a:t>Q2 cost shock (+16.8% consumption costs) is permanent</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l" indent="0" marL="0">
                        <a:buNone/>
                      </a:pPr>
                      <a:r>
                        <a:rPr lang="en-US" sz="1050" b="1" dirty="0">
                          <a:solidFill>
                            <a:srgbClr val="1E2530"/>
                          </a:solidFill>
                          <a:latin typeface="Calibri" pitchFamily="34" charset="0"/>
                          <a:ea typeface="Calibri" pitchFamily="34" charset="-122"/>
                          <a:cs typeface="Calibri" pitchFamily="34" charset="-120"/>
                        </a:rPr>
                        <a:t>A one-off spike, already being priced through</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l" indent="0" marL="0">
                        <a:buNone/>
                      </a:pPr>
                      <a:r>
                        <a:rPr lang="en-US" sz="1050" dirty="0">
                          <a:solidFill>
                            <a:srgbClr val="6B7684"/>
                          </a:solidFill>
                          <a:latin typeface="Calibri" pitchFamily="34" charset="0"/>
                          <a:ea typeface="Calibri" pitchFamily="34" charset="-122"/>
                          <a:cs typeface="Calibri" pitchFamily="34" charset="-120"/>
                        </a:rPr>
                        <a:t>H2-26 price increases + cost control; +10% gas ≈ €1.7M; Q2 revenue +4.3%</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658368">
                <a:tc>
                  <a:txBody>
                    <a:bodyPr/>
                    <a:lstStyle/>
                    <a:p>
                      <a:pPr algn="l" indent="0" marL="0">
                        <a:buNone/>
                      </a:pPr>
                      <a:r>
                        <a:rPr lang="en-US" sz="1050" dirty="0">
                          <a:solidFill>
                            <a:srgbClr val="1E2530"/>
                          </a:solidFill>
                          <a:latin typeface="Calibri" pitchFamily="34" charset="0"/>
                          <a:ea typeface="Calibri" pitchFamily="34" charset="-122"/>
                          <a:cs typeface="Calibri" pitchFamily="34" charset="-120"/>
                        </a:rPr>
                        <a:t>FX is a structural drag</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l" indent="0" marL="0">
                        <a:buNone/>
                      </a:pPr>
                      <a:r>
                        <a:rPr lang="en-US" sz="1050" b="1" dirty="0">
                          <a:solidFill>
                            <a:srgbClr val="1E2530"/>
                          </a:solidFill>
                          <a:latin typeface="Calibri" pitchFamily="34" charset="0"/>
                          <a:ea typeface="Calibri" pitchFamily="34" charset="-122"/>
                          <a:cs typeface="Calibri" pitchFamily="34" charset="-120"/>
                        </a:rPr>
                        <a:t>FX is turning: USD strength now helps</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l" indent="0" marL="0">
                        <a:buNone/>
                      </a:pPr>
                      <a:r>
                        <a:rPr lang="en-US" sz="1050" dirty="0">
                          <a:solidFill>
                            <a:srgbClr val="6B7684"/>
                          </a:solidFill>
                          <a:latin typeface="Calibri" pitchFamily="34" charset="0"/>
                          <a:ea typeface="Calibri" pitchFamily="34" charset="-122"/>
                          <a:cs typeface="Calibri" pitchFamily="34" charset="-120"/>
                        </a:rPr>
                        <a:t>Finance-line FX swung to +€3.7M (1H25: −€14.0M)</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658368">
                <a:tc>
                  <a:txBody>
                    <a:bodyPr/>
                    <a:lstStyle/>
                    <a:p>
                      <a:pPr algn="l" indent="0" marL="0">
                        <a:buNone/>
                      </a:pPr>
                      <a:r>
                        <a:rPr lang="en-US" sz="1050" dirty="0">
                          <a:solidFill>
                            <a:srgbClr val="1E2530"/>
                          </a:solidFill>
                          <a:latin typeface="Calibri" pitchFamily="34" charset="0"/>
                          <a:ea typeface="Calibri" pitchFamily="34" charset="-122"/>
                          <a:cs typeface="Calibri" pitchFamily="34" charset="-120"/>
                        </a:rPr>
                        <a:t>10x LTM EBITDA = full price</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l" indent="0" marL="0">
                        <a:buNone/>
                      </a:pPr>
                      <a:r>
                        <a:rPr lang="en-US" sz="1050" b="1" dirty="0">
                          <a:solidFill>
                            <a:srgbClr val="1E2530"/>
                          </a:solidFill>
                          <a:latin typeface="Calibri" pitchFamily="34" charset="0"/>
                          <a:ea typeface="Calibri" pitchFamily="34" charset="-122"/>
                          <a:cs typeface="Calibri" pitchFamily="34" charset="-120"/>
                        </a:rPr>
                        <a:t>8.9x our FY27E; 8.5x consensus FY27E</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l" indent="0" marL="0">
                        <a:buNone/>
                      </a:pPr>
                      <a:r>
                        <a:rPr lang="en-US" sz="1050" dirty="0">
                          <a:solidFill>
                            <a:srgbClr val="6B7684"/>
                          </a:solidFill>
                          <a:latin typeface="Calibri" pitchFamily="34" charset="0"/>
                          <a:ea typeface="Calibri" pitchFamily="34" charset="-122"/>
                          <a:cs typeface="Calibri" pitchFamily="34" charset="-120"/>
                        </a:rPr>
                        <a:t>Street target implies 12.0x; consensus EBITDA +18% FY26→28</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bl>
          </a:graphicData>
        </a:graphic>
      </p:graphicFrame>
      <p:sp>
        <p:nvSpPr>
          <p:cNvPr id="7" name="Text 4"/>
          <p:cNvSpPr txBox="1"/>
          <p:nvPr/>
        </p:nvSpPr>
        <p:spPr>
          <a:xfrm>
            <a:off x="7863840" y="1600200"/>
            <a:ext cx="3840480" cy="320040"/>
          </a:xfrm>
          <a:prstGeom prst="rect">
            <a:avLst/>
          </a:prstGeom>
          <a:noFill/>
          <a:ln/>
        </p:spPr>
        <p:txBody>
          <a:bodyPr wrap="square" lIns="0" tIns="0" rIns="0" bIns="0" rtlCol="0" anchor="t"/>
          <a:lstStyle/>
          <a:p>
            <a:pPr indent="0" marL="0">
              <a:buNone/>
            </a:pPr>
            <a:r>
              <a:rPr lang="en-US" sz="1500" b="1" dirty="0">
                <a:solidFill>
                  <a:srgbClr val="14213D"/>
                </a:solidFill>
                <a:latin typeface="Cambria" pitchFamily="34" charset="0"/>
                <a:ea typeface="Cambria" pitchFamily="34" charset="-122"/>
                <a:cs typeface="Cambria" pitchFamily="34" charset="-120"/>
              </a:rPr>
              <a:t>Catalyst timeline</a:t>
            </a:r>
            <a:endParaRPr lang="en-US" sz="1500" dirty="0"/>
          </a:p>
        </p:txBody>
      </p:sp>
      <p:sp>
        <p:nvSpPr>
          <p:cNvPr id="8" name="Shape 5"/>
          <p:cNvSpPr/>
          <p:nvPr/>
        </p:nvSpPr>
        <p:spPr>
          <a:xfrm>
            <a:off x="8083296" y="2148840"/>
            <a:ext cx="0" cy="2267712"/>
          </a:xfrm>
          <a:prstGeom prst="line">
            <a:avLst/>
          </a:prstGeom>
          <a:noFill/>
          <a:ln w="25400">
            <a:solidFill>
              <a:srgbClr val="D5DBE3"/>
            </a:solidFill>
            <a:prstDash val="solid"/>
          </a:ln>
        </p:spPr>
      </p:sp>
      <p:sp>
        <p:nvSpPr>
          <p:cNvPr id="9" name="Shape 6"/>
          <p:cNvSpPr/>
          <p:nvPr/>
        </p:nvSpPr>
        <p:spPr>
          <a:xfrm>
            <a:off x="8001000" y="2066544"/>
            <a:ext cx="164592" cy="164592"/>
          </a:xfrm>
          <a:prstGeom prst="ellipse">
            <a:avLst/>
          </a:prstGeom>
          <a:solidFill>
            <a:srgbClr val="E8702A"/>
          </a:solidFill>
          <a:ln w="19050">
            <a:solidFill>
              <a:srgbClr val="FFFFFF"/>
            </a:solidFill>
            <a:prstDash val="solid"/>
          </a:ln>
        </p:spPr>
      </p:sp>
      <p:sp>
        <p:nvSpPr>
          <p:cNvPr id="10" name="Text 7"/>
          <p:cNvSpPr txBox="1"/>
          <p:nvPr/>
        </p:nvSpPr>
        <p:spPr>
          <a:xfrm>
            <a:off x="8321040" y="2020824"/>
            <a:ext cx="3429000" cy="256032"/>
          </a:xfrm>
          <a:prstGeom prst="rect">
            <a:avLst/>
          </a:prstGeom>
          <a:noFill/>
          <a:ln/>
        </p:spPr>
        <p:txBody>
          <a:bodyPr wrap="square" lIns="0" tIns="0" rIns="0" bIns="0" rtlCol="0" anchor="t"/>
          <a:lstStyle/>
          <a:p>
            <a:pPr indent="0" marL="0">
              <a:buNone/>
            </a:pPr>
            <a:r>
              <a:rPr lang="en-US" sz="1100" b="1" dirty="0">
                <a:solidFill>
                  <a:srgbClr val="E8702A"/>
                </a:solidFill>
                <a:latin typeface="Calibri" pitchFamily="34" charset="0"/>
                <a:ea typeface="Calibri" pitchFamily="34" charset="-122"/>
                <a:cs typeface="Calibri" pitchFamily="34" charset="-120"/>
              </a:rPr>
              <a:t>Late Oct 2026  </a:t>
            </a:r>
            <a:pPr indent="0" marL="0">
              <a:buNone/>
            </a:pPr>
            <a:r>
              <a:rPr lang="en-US" sz="1100" b="1" dirty="0">
                <a:solidFill>
                  <a:srgbClr val="1E2530"/>
                </a:solidFill>
                <a:latin typeface="Calibri" pitchFamily="34" charset="0"/>
                <a:ea typeface="Calibri" pitchFamily="34" charset="-122"/>
                <a:cs typeface="Calibri" pitchFamily="34" charset="-120"/>
              </a:rPr>
              <a:t>Q3 results</a:t>
            </a:r>
            <a:endParaRPr lang="en-US" sz="1100" dirty="0"/>
          </a:p>
        </p:txBody>
      </p:sp>
      <p:sp>
        <p:nvSpPr>
          <p:cNvPr id="11" name="Text 8"/>
          <p:cNvSpPr txBox="1"/>
          <p:nvPr/>
        </p:nvSpPr>
        <p:spPr>
          <a:xfrm>
            <a:off x="8321040" y="2276856"/>
            <a:ext cx="3429000" cy="256032"/>
          </a:xfrm>
          <a:prstGeom prst="rect">
            <a:avLst/>
          </a:prstGeom>
          <a:noFill/>
          <a:ln/>
        </p:spPr>
        <p:txBody>
          <a:bodyPr wrap="square" lIns="0" tIns="0" rIns="0" bIns="0" rtlCol="0" anchor="t"/>
          <a:lstStyle/>
          <a:p>
            <a:pPr indent="0" marL="0">
              <a:buNone/>
            </a:pPr>
            <a:r>
              <a:rPr lang="en-US" sz="950" dirty="0">
                <a:solidFill>
                  <a:srgbClr val="6B7684"/>
                </a:solidFill>
                <a:latin typeface="Calibri" pitchFamily="34" charset="0"/>
                <a:ea typeface="Calibri" pitchFamily="34" charset="-122"/>
                <a:cs typeface="Calibri" pitchFamily="34" charset="-120"/>
              </a:rPr>
              <a:t>First quarter with H2 price increases</a:t>
            </a:r>
            <a:endParaRPr lang="en-US" sz="950" dirty="0"/>
          </a:p>
        </p:txBody>
      </p:sp>
      <p:sp>
        <p:nvSpPr>
          <p:cNvPr id="12" name="Shape 9"/>
          <p:cNvSpPr/>
          <p:nvPr/>
        </p:nvSpPr>
        <p:spPr>
          <a:xfrm>
            <a:off x="8001000" y="2633472"/>
            <a:ext cx="164592" cy="164592"/>
          </a:xfrm>
          <a:prstGeom prst="ellipse">
            <a:avLst/>
          </a:prstGeom>
          <a:solidFill>
            <a:srgbClr val="E8702A"/>
          </a:solidFill>
          <a:ln w="19050">
            <a:solidFill>
              <a:srgbClr val="FFFFFF"/>
            </a:solidFill>
            <a:prstDash val="solid"/>
          </a:ln>
        </p:spPr>
      </p:sp>
      <p:sp>
        <p:nvSpPr>
          <p:cNvPr id="13" name="Text 10"/>
          <p:cNvSpPr txBox="1"/>
          <p:nvPr/>
        </p:nvSpPr>
        <p:spPr>
          <a:xfrm>
            <a:off x="8321040" y="2587752"/>
            <a:ext cx="3429000" cy="256032"/>
          </a:xfrm>
          <a:prstGeom prst="rect">
            <a:avLst/>
          </a:prstGeom>
          <a:noFill/>
          <a:ln/>
        </p:spPr>
        <p:txBody>
          <a:bodyPr wrap="square" lIns="0" tIns="0" rIns="0" bIns="0" rtlCol="0" anchor="t"/>
          <a:lstStyle/>
          <a:p>
            <a:pPr indent="0" marL="0">
              <a:buNone/>
            </a:pPr>
            <a:r>
              <a:rPr lang="en-US" sz="1100" b="1" dirty="0">
                <a:solidFill>
                  <a:srgbClr val="E8702A"/>
                </a:solidFill>
                <a:latin typeface="Calibri" pitchFamily="34" charset="0"/>
                <a:ea typeface="Calibri" pitchFamily="34" charset="-122"/>
                <a:cs typeface="Calibri" pitchFamily="34" charset="-120"/>
              </a:rPr>
              <a:t>Feb 2027  </a:t>
            </a:r>
            <a:pPr indent="0" marL="0">
              <a:buNone/>
            </a:pPr>
            <a:r>
              <a:rPr lang="en-US" sz="1100" b="1" dirty="0">
                <a:solidFill>
                  <a:srgbClr val="1E2530"/>
                </a:solidFill>
                <a:latin typeface="Calibri" pitchFamily="34" charset="0"/>
                <a:ea typeface="Calibri" pitchFamily="34" charset="-122"/>
                <a:cs typeface="Calibri" pitchFamily="34" charset="-120"/>
              </a:rPr>
              <a:t>FY26 results + 2027 guidance</a:t>
            </a:r>
            <a:endParaRPr lang="en-US" sz="1100" dirty="0"/>
          </a:p>
        </p:txBody>
      </p:sp>
      <p:sp>
        <p:nvSpPr>
          <p:cNvPr id="14" name="Text 11"/>
          <p:cNvSpPr txBox="1"/>
          <p:nvPr/>
        </p:nvSpPr>
        <p:spPr>
          <a:xfrm>
            <a:off x="8321040" y="2843784"/>
            <a:ext cx="3429000" cy="256032"/>
          </a:xfrm>
          <a:prstGeom prst="rect">
            <a:avLst/>
          </a:prstGeom>
          <a:noFill/>
          <a:ln/>
        </p:spPr>
        <p:txBody>
          <a:bodyPr wrap="square" lIns="0" tIns="0" rIns="0" bIns="0" rtlCol="0" anchor="t"/>
          <a:lstStyle/>
          <a:p>
            <a:pPr indent="0" marL="0">
              <a:buNone/>
            </a:pPr>
            <a:r>
              <a:rPr lang="en-US" sz="950" dirty="0">
                <a:solidFill>
                  <a:srgbClr val="6B7684"/>
                </a:solidFill>
                <a:latin typeface="Calibri" pitchFamily="34" charset="0"/>
                <a:ea typeface="Calibri" pitchFamily="34" charset="-122"/>
                <a:cs typeface="Calibri" pitchFamily="34" charset="-120"/>
              </a:rPr>
              <a:t>Guidance reset from a trough base</a:t>
            </a:r>
            <a:endParaRPr lang="en-US" sz="950" dirty="0"/>
          </a:p>
        </p:txBody>
      </p:sp>
      <p:sp>
        <p:nvSpPr>
          <p:cNvPr id="15" name="Shape 12"/>
          <p:cNvSpPr/>
          <p:nvPr/>
        </p:nvSpPr>
        <p:spPr>
          <a:xfrm>
            <a:off x="8001000" y="3200400"/>
            <a:ext cx="164592" cy="164592"/>
          </a:xfrm>
          <a:prstGeom prst="ellipse">
            <a:avLst/>
          </a:prstGeom>
          <a:solidFill>
            <a:srgbClr val="14213D"/>
          </a:solidFill>
          <a:ln w="19050">
            <a:solidFill>
              <a:srgbClr val="FFFFFF"/>
            </a:solidFill>
            <a:prstDash val="solid"/>
          </a:ln>
        </p:spPr>
      </p:sp>
      <p:sp>
        <p:nvSpPr>
          <p:cNvPr id="16" name="Text 13"/>
          <p:cNvSpPr txBox="1"/>
          <p:nvPr/>
        </p:nvSpPr>
        <p:spPr>
          <a:xfrm>
            <a:off x="8321040" y="3154680"/>
            <a:ext cx="3429000" cy="256032"/>
          </a:xfrm>
          <a:prstGeom prst="rect">
            <a:avLst/>
          </a:prstGeom>
          <a:noFill/>
          <a:ln/>
        </p:spPr>
        <p:txBody>
          <a:bodyPr wrap="square" lIns="0" tIns="0" rIns="0" bIns="0" rtlCol="0" anchor="t"/>
          <a:lstStyle/>
          <a:p>
            <a:pPr indent="0" marL="0">
              <a:buNone/>
            </a:pPr>
            <a:r>
              <a:rPr lang="en-US" sz="1100" b="1" dirty="0">
                <a:solidFill>
                  <a:srgbClr val="14213D"/>
                </a:solidFill>
                <a:latin typeface="Calibri" pitchFamily="34" charset="0"/>
                <a:ea typeface="Calibri" pitchFamily="34" charset="-122"/>
                <a:cs typeface="Calibri" pitchFamily="34" charset="-120"/>
              </a:rPr>
              <a:t>2027  </a:t>
            </a:r>
            <a:pPr indent="0" marL="0">
              <a:buNone/>
            </a:pPr>
            <a:r>
              <a:rPr lang="en-US" sz="1100" b="1" dirty="0">
                <a:solidFill>
                  <a:srgbClr val="1E2530"/>
                </a:solidFill>
                <a:latin typeface="Calibri" pitchFamily="34" charset="0"/>
                <a:ea typeface="Calibri" pitchFamily="34" charset="-122"/>
                <a:cs typeface="Calibri" pitchFamily="34" charset="-120"/>
              </a:rPr>
              <a:t>Zacapu cellulose ramp-up</a:t>
            </a:r>
            <a:endParaRPr lang="en-US" sz="1100" dirty="0"/>
          </a:p>
        </p:txBody>
      </p:sp>
      <p:sp>
        <p:nvSpPr>
          <p:cNvPr id="17" name="Text 14"/>
          <p:cNvSpPr txBox="1"/>
          <p:nvPr/>
        </p:nvSpPr>
        <p:spPr>
          <a:xfrm>
            <a:off x="8321040" y="3410712"/>
            <a:ext cx="3429000" cy="256032"/>
          </a:xfrm>
          <a:prstGeom prst="rect">
            <a:avLst/>
          </a:prstGeom>
          <a:noFill/>
          <a:ln/>
        </p:spPr>
        <p:txBody>
          <a:bodyPr wrap="square" lIns="0" tIns="0" rIns="0" bIns="0" rtlCol="0" anchor="t"/>
          <a:lstStyle/>
          <a:p>
            <a:pPr indent="0" marL="0">
              <a:buNone/>
            </a:pPr>
            <a:r>
              <a:rPr lang="en-US" sz="950" dirty="0">
                <a:solidFill>
                  <a:srgbClr val="6B7684"/>
                </a:solidFill>
                <a:latin typeface="Calibri" pitchFamily="34" charset="0"/>
                <a:ea typeface="Calibri" pitchFamily="34" charset="-122"/>
                <a:cs typeface="Calibri" pitchFamily="34" charset="-120"/>
              </a:rPr>
              <a:t>New capacity in a consolidating market</a:t>
            </a:r>
            <a:endParaRPr lang="en-US" sz="950" dirty="0"/>
          </a:p>
        </p:txBody>
      </p:sp>
      <p:sp>
        <p:nvSpPr>
          <p:cNvPr id="18" name="Shape 15"/>
          <p:cNvSpPr/>
          <p:nvPr/>
        </p:nvSpPr>
        <p:spPr>
          <a:xfrm>
            <a:off x="8001000" y="3767328"/>
            <a:ext cx="164592" cy="164592"/>
          </a:xfrm>
          <a:prstGeom prst="ellipse">
            <a:avLst/>
          </a:prstGeom>
          <a:solidFill>
            <a:srgbClr val="14213D"/>
          </a:solidFill>
          <a:ln w="19050">
            <a:solidFill>
              <a:srgbClr val="FFFFFF"/>
            </a:solidFill>
            <a:prstDash val="solid"/>
          </a:ln>
        </p:spPr>
      </p:sp>
      <p:sp>
        <p:nvSpPr>
          <p:cNvPr id="19" name="Text 16"/>
          <p:cNvSpPr txBox="1"/>
          <p:nvPr/>
        </p:nvSpPr>
        <p:spPr>
          <a:xfrm>
            <a:off x="8321040" y="3721608"/>
            <a:ext cx="3429000" cy="256032"/>
          </a:xfrm>
          <a:prstGeom prst="rect">
            <a:avLst/>
          </a:prstGeom>
          <a:noFill/>
          <a:ln/>
        </p:spPr>
        <p:txBody>
          <a:bodyPr wrap="square" lIns="0" tIns="0" rIns="0" bIns="0" rtlCol="0" anchor="t"/>
          <a:lstStyle/>
          <a:p>
            <a:pPr indent="0" marL="0">
              <a:buNone/>
            </a:pPr>
            <a:r>
              <a:rPr lang="en-US" sz="1100" b="1" dirty="0">
                <a:solidFill>
                  <a:srgbClr val="14213D"/>
                </a:solidFill>
                <a:latin typeface="Calibri" pitchFamily="34" charset="0"/>
                <a:ea typeface="Calibri" pitchFamily="34" charset="-122"/>
                <a:cs typeface="Calibri" pitchFamily="34" charset="-120"/>
              </a:rPr>
              <a:t>2028  </a:t>
            </a:r>
            <a:pPr indent="0" marL="0">
              <a:buNone/>
            </a:pPr>
            <a:r>
              <a:rPr lang="en-US" sz="1100" b="1" dirty="0">
                <a:solidFill>
                  <a:srgbClr val="1E2530"/>
                </a:solidFill>
                <a:latin typeface="Calibri" pitchFamily="34" charset="0"/>
                <a:ea typeface="Calibri" pitchFamily="34" charset="-122"/>
                <a:cs typeface="Calibri" pitchFamily="34" charset="-120"/>
              </a:rPr>
              <a:t>Czech plant start-up</a:t>
            </a:r>
            <a:endParaRPr lang="en-US" sz="1100" dirty="0"/>
          </a:p>
        </p:txBody>
      </p:sp>
      <p:sp>
        <p:nvSpPr>
          <p:cNvPr id="20" name="Text 17"/>
          <p:cNvSpPr txBox="1"/>
          <p:nvPr/>
        </p:nvSpPr>
        <p:spPr>
          <a:xfrm>
            <a:off x="8321040" y="3977640"/>
            <a:ext cx="3429000" cy="256032"/>
          </a:xfrm>
          <a:prstGeom prst="rect">
            <a:avLst/>
          </a:prstGeom>
          <a:noFill/>
          <a:ln/>
        </p:spPr>
        <p:txBody>
          <a:bodyPr wrap="square" lIns="0" tIns="0" rIns="0" bIns="0" rtlCol="0" anchor="t"/>
          <a:lstStyle/>
          <a:p>
            <a:pPr indent="0" marL="0">
              <a:buNone/>
            </a:pPr>
            <a:r>
              <a:rPr lang="en-US" sz="950" dirty="0">
                <a:solidFill>
                  <a:srgbClr val="6B7684"/>
                </a:solidFill>
                <a:latin typeface="Calibri" pitchFamily="34" charset="0"/>
                <a:ea typeface="Calibri" pitchFamily="34" charset="-122"/>
                <a:cs typeface="Calibri" pitchFamily="34" charset="-120"/>
              </a:rPr>
              <a:t>České Budějovice: Beat'30 capacity</a:t>
            </a:r>
            <a:endParaRPr lang="en-US" sz="950" dirty="0"/>
          </a:p>
        </p:txBody>
      </p:sp>
      <p:sp>
        <p:nvSpPr>
          <p:cNvPr id="21" name="Shape 18"/>
          <p:cNvSpPr/>
          <p:nvPr/>
        </p:nvSpPr>
        <p:spPr>
          <a:xfrm>
            <a:off x="8001000" y="4334256"/>
            <a:ext cx="164592" cy="164592"/>
          </a:xfrm>
          <a:prstGeom prst="ellipse">
            <a:avLst/>
          </a:prstGeom>
          <a:solidFill>
            <a:srgbClr val="14213D"/>
          </a:solidFill>
          <a:ln w="19050">
            <a:solidFill>
              <a:srgbClr val="FFFFFF"/>
            </a:solidFill>
            <a:prstDash val="solid"/>
          </a:ln>
        </p:spPr>
      </p:sp>
      <p:sp>
        <p:nvSpPr>
          <p:cNvPr id="22" name="Text 19"/>
          <p:cNvSpPr txBox="1"/>
          <p:nvPr/>
        </p:nvSpPr>
        <p:spPr>
          <a:xfrm>
            <a:off x="8321040" y="4288536"/>
            <a:ext cx="3429000" cy="256032"/>
          </a:xfrm>
          <a:prstGeom prst="rect">
            <a:avLst/>
          </a:prstGeom>
          <a:noFill/>
          <a:ln/>
        </p:spPr>
        <p:txBody>
          <a:bodyPr wrap="square" lIns="0" tIns="0" rIns="0" bIns="0" rtlCol="0" anchor="t"/>
          <a:lstStyle/>
          <a:p>
            <a:pPr indent="0" marL="0">
              <a:buNone/>
            </a:pPr>
            <a:r>
              <a:rPr lang="en-US" sz="1100" b="1" dirty="0">
                <a:solidFill>
                  <a:srgbClr val="14213D"/>
                </a:solidFill>
                <a:latin typeface="Calibri" pitchFamily="34" charset="0"/>
                <a:ea typeface="Calibri" pitchFamily="34" charset="-122"/>
                <a:cs typeface="Calibri" pitchFamily="34" charset="-120"/>
              </a:rPr>
              <a:t>Ongoing  </a:t>
            </a:r>
            <a:pPr indent="0" marL="0">
              <a:buNone/>
            </a:pPr>
            <a:r>
              <a:rPr lang="en-US" sz="1100" b="1" dirty="0">
                <a:solidFill>
                  <a:srgbClr val="1E2530"/>
                </a:solidFill>
                <a:latin typeface="Calibri" pitchFamily="34" charset="0"/>
                <a:ea typeface="Calibri" pitchFamily="34" charset="-122"/>
                <a:cs typeface="Calibri" pitchFamily="34" charset="-120"/>
              </a:rPr>
              <a:t>Short covering</a:t>
            </a:r>
            <a:endParaRPr lang="en-US" sz="1100" dirty="0"/>
          </a:p>
        </p:txBody>
      </p:sp>
      <p:sp>
        <p:nvSpPr>
          <p:cNvPr id="23" name="Text 20"/>
          <p:cNvSpPr txBox="1"/>
          <p:nvPr/>
        </p:nvSpPr>
        <p:spPr>
          <a:xfrm>
            <a:off x="8321040" y="4544568"/>
            <a:ext cx="3429000" cy="256032"/>
          </a:xfrm>
          <a:prstGeom prst="rect">
            <a:avLst/>
          </a:prstGeom>
          <a:noFill/>
          <a:ln/>
        </p:spPr>
        <p:txBody>
          <a:bodyPr wrap="square" lIns="0" tIns="0" rIns="0" bIns="0" rtlCol="0" anchor="t"/>
          <a:lstStyle/>
          <a:p>
            <a:pPr indent="0" marL="0">
              <a:buNone/>
            </a:pPr>
            <a:r>
              <a:rPr lang="en-US" sz="950" dirty="0">
                <a:solidFill>
                  <a:srgbClr val="6B7684"/>
                </a:solidFill>
                <a:latin typeface="Calibri" pitchFamily="34" charset="0"/>
                <a:ea typeface="Calibri" pitchFamily="34" charset="-122"/>
                <a:cs typeface="Calibri" pitchFamily="34" charset="-120"/>
              </a:rPr>
              <a:t>PDT 0.50% + Marble Bar 0.57% short (quant funds)</a:t>
            </a:r>
            <a:endParaRPr lang="en-US" sz="950" dirty="0"/>
          </a:p>
        </p:txBody>
      </p:sp>
      <p:sp>
        <p:nvSpPr>
          <p:cNvPr id="24" name="Text 21"/>
          <p:cNvSpPr txBox="1"/>
          <p:nvPr/>
        </p:nvSpPr>
        <p:spPr>
          <a:xfrm>
            <a:off x="457200" y="4983480"/>
            <a:ext cx="5486400" cy="320040"/>
          </a:xfrm>
          <a:prstGeom prst="rect">
            <a:avLst/>
          </a:prstGeom>
          <a:noFill/>
          <a:ln/>
        </p:spPr>
        <p:txBody>
          <a:bodyPr wrap="square" lIns="0" tIns="0" rIns="0" bIns="0" rtlCol="0" anchor="t"/>
          <a:lstStyle/>
          <a:p>
            <a:pPr indent="0" marL="0">
              <a:buNone/>
            </a:pPr>
            <a:r>
              <a:rPr lang="en-US" sz="1500" b="1" dirty="0">
                <a:solidFill>
                  <a:srgbClr val="14213D"/>
                </a:solidFill>
                <a:latin typeface="Cambria" pitchFamily="34" charset="0"/>
                <a:ea typeface="Cambria" pitchFamily="34" charset="-122"/>
                <a:cs typeface="Cambria" pitchFamily="34" charset="-120"/>
              </a:rPr>
              <a:t>Trade construction</a:t>
            </a:r>
            <a:endParaRPr lang="en-US" sz="1500" dirty="0"/>
          </a:p>
        </p:txBody>
      </p:sp>
      <p:sp>
        <p:nvSpPr>
          <p:cNvPr id="25" name="Shape 22"/>
          <p:cNvSpPr/>
          <p:nvPr/>
        </p:nvSpPr>
        <p:spPr>
          <a:xfrm>
            <a:off x="457200" y="5349240"/>
            <a:ext cx="1783080" cy="1005840"/>
          </a:xfrm>
          <a:prstGeom prst="roundRect">
            <a:avLst>
              <a:gd name="adj" fmla="val 7273"/>
            </a:avLst>
          </a:prstGeom>
          <a:solidFill>
            <a:srgbClr val="F3F5F8"/>
          </a:solidFill>
          <a:ln w="12700">
            <a:solidFill>
              <a:srgbClr val="F3F5F8"/>
            </a:solidFill>
            <a:prstDash val="solid"/>
          </a:ln>
        </p:spPr>
      </p:sp>
      <p:sp>
        <p:nvSpPr>
          <p:cNvPr id="26" name="Text 23"/>
          <p:cNvSpPr txBox="1"/>
          <p:nvPr/>
        </p:nvSpPr>
        <p:spPr>
          <a:xfrm>
            <a:off x="594360" y="5458968"/>
            <a:ext cx="1508760" cy="256032"/>
          </a:xfrm>
          <a:prstGeom prst="rect">
            <a:avLst/>
          </a:prstGeom>
          <a:noFill/>
          <a:ln/>
        </p:spPr>
        <p:txBody>
          <a:bodyPr wrap="square" lIns="0" tIns="0" rIns="0" bIns="0" rtlCol="0" anchor="t"/>
          <a:lstStyle/>
          <a:p>
            <a:pPr indent="0" marL="0">
              <a:buNone/>
            </a:pPr>
            <a:r>
              <a:rPr lang="en-US" sz="1000" dirty="0">
                <a:solidFill>
                  <a:srgbClr val="6B7684"/>
                </a:solidFill>
                <a:latin typeface="Calibri" pitchFamily="34" charset="0"/>
                <a:ea typeface="Calibri" pitchFamily="34" charset="-122"/>
                <a:cs typeface="Calibri" pitchFamily="34" charset="-120"/>
              </a:rPr>
              <a:t>Position</a:t>
            </a:r>
            <a:endParaRPr lang="en-US" sz="1000" dirty="0"/>
          </a:p>
        </p:txBody>
      </p:sp>
      <p:sp>
        <p:nvSpPr>
          <p:cNvPr id="27" name="Text 24"/>
          <p:cNvSpPr txBox="1"/>
          <p:nvPr/>
        </p:nvSpPr>
        <p:spPr>
          <a:xfrm>
            <a:off x="594360" y="5733288"/>
            <a:ext cx="1508760" cy="54864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Long VIS (EUR)</a:t>
            </a:r>
            <a:endParaRPr lang="en-US" sz="1300" dirty="0"/>
          </a:p>
        </p:txBody>
      </p:sp>
      <p:sp>
        <p:nvSpPr>
          <p:cNvPr id="28" name="Shape 25"/>
          <p:cNvSpPr/>
          <p:nvPr/>
        </p:nvSpPr>
        <p:spPr>
          <a:xfrm>
            <a:off x="2350008" y="5349240"/>
            <a:ext cx="1783080" cy="1005840"/>
          </a:xfrm>
          <a:prstGeom prst="roundRect">
            <a:avLst>
              <a:gd name="adj" fmla="val 7273"/>
            </a:avLst>
          </a:prstGeom>
          <a:solidFill>
            <a:srgbClr val="F3F5F8"/>
          </a:solidFill>
          <a:ln w="12700">
            <a:solidFill>
              <a:srgbClr val="F3F5F8"/>
            </a:solidFill>
            <a:prstDash val="solid"/>
          </a:ln>
        </p:spPr>
      </p:sp>
      <p:sp>
        <p:nvSpPr>
          <p:cNvPr id="29" name="Text 26"/>
          <p:cNvSpPr txBox="1"/>
          <p:nvPr/>
        </p:nvSpPr>
        <p:spPr>
          <a:xfrm>
            <a:off x="2487168" y="5458968"/>
            <a:ext cx="1508760" cy="256032"/>
          </a:xfrm>
          <a:prstGeom prst="rect">
            <a:avLst/>
          </a:prstGeom>
          <a:noFill/>
          <a:ln/>
        </p:spPr>
        <p:txBody>
          <a:bodyPr wrap="square" lIns="0" tIns="0" rIns="0" bIns="0" rtlCol="0" anchor="t"/>
          <a:lstStyle/>
          <a:p>
            <a:pPr indent="0" marL="0">
              <a:buNone/>
            </a:pPr>
            <a:r>
              <a:rPr lang="en-US" sz="1000" dirty="0">
                <a:solidFill>
                  <a:srgbClr val="6B7684"/>
                </a:solidFill>
                <a:latin typeface="Calibri" pitchFamily="34" charset="0"/>
                <a:ea typeface="Calibri" pitchFamily="34" charset="-122"/>
                <a:cs typeface="Calibri" pitchFamily="34" charset="-120"/>
              </a:rPr>
              <a:t>Entry</a:t>
            </a:r>
            <a:endParaRPr lang="en-US" sz="1000" dirty="0"/>
          </a:p>
        </p:txBody>
      </p:sp>
      <p:sp>
        <p:nvSpPr>
          <p:cNvPr id="30" name="Text 27"/>
          <p:cNvSpPr txBox="1"/>
          <p:nvPr/>
        </p:nvSpPr>
        <p:spPr>
          <a:xfrm>
            <a:off x="2487168" y="5733288"/>
            <a:ext cx="1508760" cy="54864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€53.70</a:t>
            </a:r>
            <a:endParaRPr lang="en-US" sz="1300" dirty="0"/>
          </a:p>
        </p:txBody>
      </p:sp>
      <p:sp>
        <p:nvSpPr>
          <p:cNvPr id="31" name="Shape 28"/>
          <p:cNvSpPr/>
          <p:nvPr/>
        </p:nvSpPr>
        <p:spPr>
          <a:xfrm>
            <a:off x="4242816" y="5349240"/>
            <a:ext cx="1783080" cy="1005840"/>
          </a:xfrm>
          <a:prstGeom prst="roundRect">
            <a:avLst>
              <a:gd name="adj" fmla="val 7273"/>
            </a:avLst>
          </a:prstGeom>
          <a:solidFill>
            <a:srgbClr val="14213D"/>
          </a:solidFill>
          <a:ln w="12700">
            <a:solidFill>
              <a:srgbClr val="14213D"/>
            </a:solidFill>
            <a:prstDash val="solid"/>
          </a:ln>
        </p:spPr>
      </p:sp>
      <p:sp>
        <p:nvSpPr>
          <p:cNvPr id="32" name="Text 29"/>
          <p:cNvSpPr txBox="1"/>
          <p:nvPr/>
        </p:nvSpPr>
        <p:spPr>
          <a:xfrm>
            <a:off x="4379976" y="5458968"/>
            <a:ext cx="1508760" cy="256032"/>
          </a:xfrm>
          <a:prstGeom prst="rect">
            <a:avLst/>
          </a:prstGeom>
          <a:noFill/>
          <a:ln/>
        </p:spPr>
        <p:txBody>
          <a:bodyPr wrap="square" lIns="0" tIns="0" rIns="0" bIns="0" rtlCol="0" anchor="t"/>
          <a:lstStyle/>
          <a:p>
            <a:pPr indent="0" marL="0">
              <a:buNone/>
            </a:pPr>
            <a:r>
              <a:rPr lang="en-US" sz="1000" dirty="0">
                <a:solidFill>
                  <a:srgbClr val="AEB9CC"/>
                </a:solidFill>
                <a:latin typeface="Calibri" pitchFamily="34" charset="0"/>
                <a:ea typeface="Calibri" pitchFamily="34" charset="-122"/>
                <a:cs typeface="Calibri" pitchFamily="34" charset="-120"/>
              </a:rPr>
              <a:t>Target (18–24m)</a:t>
            </a:r>
            <a:endParaRPr lang="en-US" sz="1000" dirty="0"/>
          </a:p>
        </p:txBody>
      </p:sp>
      <p:sp>
        <p:nvSpPr>
          <p:cNvPr id="33" name="Text 30"/>
          <p:cNvSpPr txBox="1"/>
          <p:nvPr/>
        </p:nvSpPr>
        <p:spPr>
          <a:xfrm>
            <a:off x="4379976" y="5733288"/>
            <a:ext cx="1508760" cy="548640"/>
          </a:xfrm>
          <a:prstGeom prst="rect">
            <a:avLst/>
          </a:prstGeom>
          <a:noFill/>
          <a:ln/>
        </p:spPr>
        <p:txBody>
          <a:bodyPr wrap="square" lIns="0" tIns="0" rIns="0" bIns="0" rtlCol="0" anchor="t"/>
          <a:lstStyle/>
          <a:p>
            <a:pPr indent="0" marL="0">
              <a:buNone/>
            </a:pPr>
            <a:r>
              <a:rPr lang="en-US" sz="1300" b="1" dirty="0">
                <a:solidFill>
                  <a:srgbClr val="FFFFFF"/>
                </a:solidFill>
                <a:latin typeface="Calibri" pitchFamily="34" charset="0"/>
                <a:ea typeface="Calibri" pitchFamily="34" charset="-122"/>
                <a:cs typeface="Calibri" pitchFamily="34" charset="-120"/>
              </a:rPr>
              <a:t>€64.2</a:t>
            </a:r>
            <a:endParaRPr lang="en-US" sz="1300" dirty="0"/>
          </a:p>
        </p:txBody>
      </p:sp>
      <p:sp>
        <p:nvSpPr>
          <p:cNvPr id="34" name="Shape 31"/>
          <p:cNvSpPr/>
          <p:nvPr/>
        </p:nvSpPr>
        <p:spPr>
          <a:xfrm>
            <a:off x="6135624" y="5349240"/>
            <a:ext cx="1783080" cy="1005840"/>
          </a:xfrm>
          <a:prstGeom prst="roundRect">
            <a:avLst>
              <a:gd name="adj" fmla="val 7273"/>
            </a:avLst>
          </a:prstGeom>
          <a:solidFill>
            <a:srgbClr val="F3F5F8"/>
          </a:solidFill>
          <a:ln w="12700">
            <a:solidFill>
              <a:srgbClr val="F3F5F8"/>
            </a:solidFill>
            <a:prstDash val="solid"/>
          </a:ln>
        </p:spPr>
      </p:sp>
      <p:sp>
        <p:nvSpPr>
          <p:cNvPr id="35" name="Text 32"/>
          <p:cNvSpPr txBox="1"/>
          <p:nvPr/>
        </p:nvSpPr>
        <p:spPr>
          <a:xfrm>
            <a:off x="6272784" y="5458968"/>
            <a:ext cx="1508760" cy="256032"/>
          </a:xfrm>
          <a:prstGeom prst="rect">
            <a:avLst/>
          </a:prstGeom>
          <a:noFill/>
          <a:ln/>
        </p:spPr>
        <p:txBody>
          <a:bodyPr wrap="square" lIns="0" tIns="0" rIns="0" bIns="0" rtlCol="0" anchor="t"/>
          <a:lstStyle/>
          <a:p>
            <a:pPr indent="0" marL="0">
              <a:buNone/>
            </a:pPr>
            <a:r>
              <a:rPr lang="en-US" sz="1000" dirty="0">
                <a:solidFill>
                  <a:srgbClr val="6B7684"/>
                </a:solidFill>
                <a:latin typeface="Calibri" pitchFamily="34" charset="0"/>
                <a:ea typeface="Calibri" pitchFamily="34" charset="-122"/>
                <a:cs typeface="Calibri" pitchFamily="34" charset="-120"/>
              </a:rPr>
              <a:t>Stop-loss</a:t>
            </a:r>
            <a:endParaRPr lang="en-US" sz="1000" dirty="0"/>
          </a:p>
        </p:txBody>
      </p:sp>
      <p:sp>
        <p:nvSpPr>
          <p:cNvPr id="36" name="Text 33"/>
          <p:cNvSpPr txBox="1"/>
          <p:nvPr/>
        </p:nvSpPr>
        <p:spPr>
          <a:xfrm>
            <a:off x="6272784" y="5733288"/>
            <a:ext cx="1508760" cy="54864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€45.6 (−15%)</a:t>
            </a:r>
            <a:endParaRPr lang="en-US" sz="1300" dirty="0"/>
          </a:p>
        </p:txBody>
      </p:sp>
      <p:sp>
        <p:nvSpPr>
          <p:cNvPr id="37" name="Shape 34"/>
          <p:cNvSpPr/>
          <p:nvPr/>
        </p:nvSpPr>
        <p:spPr>
          <a:xfrm>
            <a:off x="8028432" y="5349240"/>
            <a:ext cx="1783080" cy="1005840"/>
          </a:xfrm>
          <a:prstGeom prst="roundRect">
            <a:avLst>
              <a:gd name="adj" fmla="val 7273"/>
            </a:avLst>
          </a:prstGeom>
          <a:solidFill>
            <a:srgbClr val="F3F5F8"/>
          </a:solidFill>
          <a:ln w="12700">
            <a:solidFill>
              <a:srgbClr val="F3F5F8"/>
            </a:solidFill>
            <a:prstDash val="solid"/>
          </a:ln>
        </p:spPr>
      </p:sp>
      <p:sp>
        <p:nvSpPr>
          <p:cNvPr id="38" name="Text 35"/>
          <p:cNvSpPr txBox="1"/>
          <p:nvPr/>
        </p:nvSpPr>
        <p:spPr>
          <a:xfrm>
            <a:off x="8165592" y="5458968"/>
            <a:ext cx="1508760" cy="256032"/>
          </a:xfrm>
          <a:prstGeom prst="rect">
            <a:avLst/>
          </a:prstGeom>
          <a:noFill/>
          <a:ln/>
        </p:spPr>
        <p:txBody>
          <a:bodyPr wrap="square" lIns="0" tIns="0" rIns="0" bIns="0" rtlCol="0" anchor="t"/>
          <a:lstStyle/>
          <a:p>
            <a:pPr indent="0" marL="0">
              <a:buNone/>
            </a:pPr>
            <a:r>
              <a:rPr lang="en-US" sz="1000" dirty="0">
                <a:solidFill>
                  <a:srgbClr val="6B7684"/>
                </a:solidFill>
                <a:latin typeface="Calibri" pitchFamily="34" charset="0"/>
                <a:ea typeface="Calibri" pitchFamily="34" charset="-122"/>
                <a:cs typeface="Calibri" pitchFamily="34" charset="-120"/>
              </a:rPr>
              <a:t>FX overlay</a:t>
            </a:r>
            <a:endParaRPr lang="en-US" sz="1000" dirty="0"/>
          </a:p>
        </p:txBody>
      </p:sp>
      <p:sp>
        <p:nvSpPr>
          <p:cNvPr id="39" name="Text 36"/>
          <p:cNvSpPr txBox="1"/>
          <p:nvPr/>
        </p:nvSpPr>
        <p:spPr>
          <a:xfrm>
            <a:off x="8165592" y="5733288"/>
            <a:ext cx="1508760" cy="54864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Sell USD fwd on 30% of position</a:t>
            </a:r>
            <a:endParaRPr lang="en-US" sz="1300" dirty="0"/>
          </a:p>
        </p:txBody>
      </p:sp>
      <p:sp>
        <p:nvSpPr>
          <p:cNvPr id="40" name="Shape 37"/>
          <p:cNvSpPr/>
          <p:nvPr/>
        </p:nvSpPr>
        <p:spPr>
          <a:xfrm>
            <a:off x="9921240" y="5349240"/>
            <a:ext cx="1783080" cy="1005840"/>
          </a:xfrm>
          <a:prstGeom prst="roundRect">
            <a:avLst>
              <a:gd name="adj" fmla="val 7273"/>
            </a:avLst>
          </a:prstGeom>
          <a:solidFill>
            <a:srgbClr val="F3F5F8"/>
          </a:solidFill>
          <a:ln w="12700">
            <a:solidFill>
              <a:srgbClr val="F3F5F8"/>
            </a:solidFill>
            <a:prstDash val="solid"/>
          </a:ln>
        </p:spPr>
      </p:sp>
      <p:sp>
        <p:nvSpPr>
          <p:cNvPr id="41" name="Text 38"/>
          <p:cNvSpPr txBox="1"/>
          <p:nvPr/>
        </p:nvSpPr>
        <p:spPr>
          <a:xfrm>
            <a:off x="10058400" y="5458968"/>
            <a:ext cx="1508760" cy="256032"/>
          </a:xfrm>
          <a:prstGeom prst="rect">
            <a:avLst/>
          </a:prstGeom>
          <a:noFill/>
          <a:ln/>
        </p:spPr>
        <p:txBody>
          <a:bodyPr wrap="square" lIns="0" tIns="0" rIns="0" bIns="0" rtlCol="0" anchor="t"/>
          <a:lstStyle/>
          <a:p>
            <a:pPr indent="0" marL="0">
              <a:buNone/>
            </a:pPr>
            <a:r>
              <a:rPr lang="en-US" sz="1000" dirty="0">
                <a:solidFill>
                  <a:srgbClr val="6B7684"/>
                </a:solidFill>
                <a:latin typeface="Calibri" pitchFamily="34" charset="0"/>
                <a:ea typeface="Calibri" pitchFamily="34" charset="-122"/>
                <a:cs typeface="Calibri" pitchFamily="34" charset="-120"/>
              </a:rPr>
              <a:t>Sizing</a:t>
            </a:r>
            <a:endParaRPr lang="en-US" sz="1000" dirty="0"/>
          </a:p>
        </p:txBody>
      </p:sp>
      <p:sp>
        <p:nvSpPr>
          <p:cNvPr id="42" name="Text 39"/>
          <p:cNvSpPr txBox="1"/>
          <p:nvPr/>
        </p:nvSpPr>
        <p:spPr>
          <a:xfrm>
            <a:off x="10058400" y="5733288"/>
            <a:ext cx="1508760" cy="548640"/>
          </a:xfrm>
          <a:prstGeom prst="rect">
            <a:avLst/>
          </a:prstGeom>
          <a:noFill/>
          <a:ln/>
        </p:spPr>
        <p:txBody>
          <a:bodyPr wrap="square" lIns="0" tIns="0" rIns="0" bIns="0" rtlCol="0" anchor="t"/>
          <a:lstStyle/>
          <a:p>
            <a:pPr indent="0" marL="0">
              <a:buNone/>
            </a:pPr>
            <a:r>
              <a:rPr lang="en-US" sz="1300" b="1" dirty="0">
                <a:solidFill>
                  <a:srgbClr val="14213D"/>
                </a:solidFill>
                <a:latin typeface="Calibri" pitchFamily="34" charset="0"/>
                <a:ea typeface="Calibri" pitchFamily="34" charset="-122"/>
                <a:cs typeface="Calibri" pitchFamily="34" charset="-120"/>
              </a:rPr>
              <a:t>Upside/downside 2.1x</a:t>
            </a:r>
            <a:endParaRPr lang="en-US" sz="1300" dirty="0"/>
          </a:p>
        </p:txBody>
      </p:sp>
      <p:sp>
        <p:nvSpPr>
          <p:cNvPr id="43" name="Text 40"/>
          <p:cNvSpPr txBox="1"/>
          <p:nvPr/>
        </p:nvSpPr>
        <p:spPr>
          <a:xfrm>
            <a:off x="457200" y="6473952"/>
            <a:ext cx="10180015" cy="274320"/>
          </a:xfrm>
          <a:prstGeom prst="rect">
            <a:avLst/>
          </a:prstGeom>
          <a:noFill/>
          <a:ln/>
        </p:spPr>
        <p:txBody>
          <a:bodyPr wrap="square" lIns="0" tIns="0" rIns="0" bIns="0" rtlCol="0" anchor="b"/>
          <a:lstStyle/>
          <a:p>
            <a:pPr indent="0" marL="0">
              <a:buNone/>
            </a:pPr>
            <a:r>
              <a:rPr lang="en-US" sz="850" dirty="0">
                <a:solidFill>
                  <a:srgbClr val="6B7684"/>
                </a:solidFill>
                <a:latin typeface="Calibri" pitchFamily="34" charset="0"/>
                <a:ea typeface="Calibri" pitchFamily="34" charset="-122"/>
                <a:cs typeface="Calibri" pitchFamily="34" charset="-120"/>
              </a:rPr>
              <a:t>Sources: Viscofan 1H26 results presentation pp.4–10, 13; S&amp;P Capital IQ (consensus, short-interest disclosures Jul-26); team model.</a:t>
            </a:r>
            <a:endParaRPr lang="en-US" sz="850" dirty="0"/>
          </a:p>
        </p:txBody>
      </p:sp>
      <p:sp>
        <p:nvSpPr>
          <p:cNvPr id="44" name="Text 41"/>
          <p:cNvSpPr txBox="1"/>
          <p:nvPr/>
        </p:nvSpPr>
        <p:spPr>
          <a:xfrm>
            <a:off x="8991295" y="6473952"/>
            <a:ext cx="2743200" cy="274320"/>
          </a:xfrm>
          <a:prstGeom prst="rect">
            <a:avLst/>
          </a:prstGeom>
          <a:noFill/>
          <a:ln/>
        </p:spPr>
        <p:txBody>
          <a:bodyPr wrap="square" lIns="0" tIns="0" rIns="0" bIns="0" rtlCol="0" anchor="b"/>
          <a:lstStyle/>
          <a:p>
            <a:pPr algn="r" indent="0" marL="0">
              <a:buNone/>
            </a:pPr>
            <a:r>
              <a:rPr lang="en-US" sz="850" dirty="0">
                <a:solidFill>
                  <a:srgbClr val="6B7684"/>
                </a:solidFill>
                <a:latin typeface="Calibri" pitchFamily="34" charset="0"/>
                <a:ea typeface="Calibri" pitchFamily="34" charset="-122"/>
                <a:cs typeface="Calibri" pitchFamily="34" charset="-120"/>
              </a:rPr>
              <a:t>HF &amp; Quant A · Viscofan (BME:VIS)</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84048" cy="384048"/>
          </a:xfrm>
          <a:prstGeom prst="ellipse">
            <a:avLst/>
          </a:prstGeom>
          <a:solidFill>
            <a:srgbClr val="E8702A"/>
          </a:solidFill>
          <a:ln w="12700">
            <a:solidFill>
              <a:srgbClr val="E8702A"/>
            </a:solidFill>
            <a:prstDash val="solid"/>
          </a:ln>
        </p:spPr>
      </p:sp>
      <p:sp>
        <p:nvSpPr>
          <p:cNvPr id="3" name="Text 1"/>
          <p:cNvSpPr txBox="1"/>
          <p:nvPr/>
        </p:nvSpPr>
        <p:spPr>
          <a:xfrm>
            <a:off x="457200" y="347472"/>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4" name="Text 2"/>
          <p:cNvSpPr txBox="1"/>
          <p:nvPr/>
        </p:nvSpPr>
        <p:spPr>
          <a:xfrm>
            <a:off x="960120" y="347472"/>
            <a:ext cx="7315200" cy="384048"/>
          </a:xfrm>
          <a:prstGeom prst="rect">
            <a:avLst/>
          </a:prstGeom>
          <a:noFill/>
          <a:ln/>
        </p:spPr>
        <p:txBody>
          <a:bodyPr wrap="square" lIns="0" tIns="0" rIns="0" bIns="0" rtlCol="0" anchor="ctr"/>
          <a:lstStyle/>
          <a:p>
            <a:pPr indent="0" marL="0">
              <a:buNone/>
            </a:pPr>
            <a:r>
              <a:rPr lang="en-US" sz="1100" b="1" spc="200" kern="0" dirty="0">
                <a:solidFill>
                  <a:srgbClr val="5B7083"/>
                </a:solidFill>
                <a:latin typeface="Calibri" pitchFamily="34" charset="0"/>
                <a:ea typeface="Calibri" pitchFamily="34" charset="-122"/>
                <a:cs typeface="Calibri" pitchFamily="34" charset="-120"/>
              </a:rPr>
              <a:t>RISKS &amp; MITIGANTS</a:t>
            </a:r>
            <a:endParaRPr lang="en-US" sz="1100" dirty="0"/>
          </a:p>
        </p:txBody>
      </p:sp>
      <p:sp>
        <p:nvSpPr>
          <p:cNvPr id="5" name="Text 3"/>
          <p:cNvSpPr txBox="1"/>
          <p:nvPr/>
        </p:nvSpPr>
        <p:spPr>
          <a:xfrm>
            <a:off x="457200" y="777240"/>
            <a:ext cx="11277295" cy="685800"/>
          </a:xfrm>
          <a:prstGeom prst="rect">
            <a:avLst/>
          </a:prstGeom>
          <a:noFill/>
          <a:ln/>
        </p:spPr>
        <p:txBody>
          <a:bodyPr wrap="square" lIns="0" tIns="0" rIns="0" bIns="0" rtlCol="0" anchor="t"/>
          <a:lstStyle/>
          <a:p>
            <a:pPr indent="0" marL="0">
              <a:buNone/>
            </a:pPr>
            <a:r>
              <a:rPr lang="en-US" sz="2400" b="1" dirty="0">
                <a:solidFill>
                  <a:srgbClr val="14213D"/>
                </a:solidFill>
                <a:latin typeface="Cambria" pitchFamily="34" charset="0"/>
                <a:ea typeface="Cambria" pitchFamily="34" charset="-122"/>
                <a:cs typeface="Cambria" pitchFamily="34" charset="-120"/>
              </a:rPr>
              <a:t>Risks: FX and energy are the swing factors. Both are quantified, partly hedged and tracked quarterly</a:t>
            </a:r>
            <a:endParaRPr lang="en-US" sz="2400" dirty="0"/>
          </a:p>
        </p:txBody>
      </p:sp>
      <p:sp>
        <p:nvSpPr>
          <p:cNvPr id="6" name="Text 4"/>
          <p:cNvSpPr txBox="1"/>
          <p:nvPr/>
        </p:nvSpPr>
        <p:spPr>
          <a:xfrm>
            <a:off x="457200" y="1645920"/>
            <a:ext cx="4206240" cy="320040"/>
          </a:xfrm>
          <a:prstGeom prst="rect">
            <a:avLst/>
          </a:prstGeom>
          <a:noFill/>
          <a:ln/>
        </p:spPr>
        <p:txBody>
          <a:bodyPr wrap="square" lIns="0" tIns="0" rIns="0" bIns="0" rtlCol="0" anchor="t"/>
          <a:lstStyle/>
          <a:p>
            <a:pPr indent="0" marL="0">
              <a:buNone/>
            </a:pPr>
            <a:r>
              <a:rPr lang="en-US" sz="1400" b="1" dirty="0">
                <a:solidFill>
                  <a:srgbClr val="14213D"/>
                </a:solidFill>
                <a:latin typeface="Cambria" pitchFamily="34" charset="0"/>
                <a:ea typeface="Cambria" pitchFamily="34" charset="-122"/>
                <a:cs typeface="Cambria" pitchFamily="34" charset="-120"/>
              </a:rPr>
              <a:t>1H26 EBITDA bridge (€M)</a:t>
            </a:r>
            <a:endParaRPr lang="en-US" sz="1400" dirty="0"/>
          </a:p>
        </p:txBody>
      </p:sp>
      <p:sp>
        <p:nvSpPr>
          <p:cNvPr id="7" name="Shape 5"/>
          <p:cNvSpPr/>
          <p:nvPr/>
        </p:nvSpPr>
        <p:spPr>
          <a:xfrm>
            <a:off x="548640" y="2885504"/>
            <a:ext cx="566928" cy="2052256"/>
          </a:xfrm>
          <a:prstGeom prst="rect">
            <a:avLst/>
          </a:prstGeom>
          <a:solidFill>
            <a:srgbClr val="14213D"/>
          </a:solidFill>
          <a:ln w="12700">
            <a:solidFill>
              <a:srgbClr val="14213D"/>
            </a:solidFill>
            <a:prstDash val="solid"/>
          </a:ln>
        </p:spPr>
      </p:sp>
      <p:sp>
        <p:nvSpPr>
          <p:cNvPr id="8" name="Text 6"/>
          <p:cNvSpPr txBox="1"/>
          <p:nvPr/>
        </p:nvSpPr>
        <p:spPr>
          <a:xfrm>
            <a:off x="411480" y="2638616"/>
            <a:ext cx="841248" cy="228600"/>
          </a:xfrm>
          <a:prstGeom prst="rect">
            <a:avLst/>
          </a:prstGeom>
          <a:noFill/>
          <a:ln/>
        </p:spPr>
        <p:txBody>
          <a:bodyPr wrap="square" lIns="0" tIns="0" rIns="0" bIns="0" rtlCol="0" anchor="t"/>
          <a:lstStyle/>
          <a:p>
            <a:pPr algn="ctr" indent="0" marL="0">
              <a:buNone/>
            </a:pPr>
            <a:r>
              <a:rPr lang="en-US" sz="1000" b="1" dirty="0">
                <a:solidFill>
                  <a:srgbClr val="1E2530"/>
                </a:solidFill>
                <a:latin typeface="Calibri" pitchFamily="34" charset="0"/>
                <a:ea typeface="Calibri" pitchFamily="34" charset="-122"/>
                <a:cs typeface="Calibri" pitchFamily="34" charset="-120"/>
              </a:rPr>
              <a:t>145.2</a:t>
            </a:r>
            <a:endParaRPr lang="en-US" sz="1000" dirty="0"/>
          </a:p>
        </p:txBody>
      </p:sp>
      <p:sp>
        <p:nvSpPr>
          <p:cNvPr id="9" name="Text 7"/>
          <p:cNvSpPr txBox="1"/>
          <p:nvPr/>
        </p:nvSpPr>
        <p:spPr>
          <a:xfrm>
            <a:off x="365760" y="4983480"/>
            <a:ext cx="932688" cy="228600"/>
          </a:xfrm>
          <a:prstGeom prst="rect">
            <a:avLst/>
          </a:prstGeom>
          <a:noFill/>
          <a:ln/>
        </p:spPr>
        <p:txBody>
          <a:bodyPr wrap="square" lIns="0" tIns="0" rIns="0" bIns="0" rtlCol="0" anchor="t"/>
          <a:lstStyle/>
          <a:p>
            <a:pPr algn="ctr" indent="0" marL="0">
              <a:buNone/>
            </a:pPr>
            <a:r>
              <a:rPr lang="en-US" sz="950" dirty="0">
                <a:solidFill>
                  <a:srgbClr val="6B7684"/>
                </a:solidFill>
                <a:latin typeface="Calibri" pitchFamily="34" charset="0"/>
                <a:ea typeface="Calibri" pitchFamily="34" charset="-122"/>
                <a:cs typeface="Calibri" pitchFamily="34" charset="-120"/>
              </a:rPr>
              <a:t>1H25</a:t>
            </a:r>
            <a:endParaRPr lang="en-US" sz="950" dirty="0"/>
          </a:p>
        </p:txBody>
      </p:sp>
      <p:sp>
        <p:nvSpPr>
          <p:cNvPr id="10" name="Shape 8"/>
          <p:cNvSpPr/>
          <p:nvPr/>
        </p:nvSpPr>
        <p:spPr>
          <a:xfrm>
            <a:off x="1371600" y="2519029"/>
            <a:ext cx="566928" cy="366474"/>
          </a:xfrm>
          <a:prstGeom prst="rect">
            <a:avLst/>
          </a:prstGeom>
          <a:solidFill>
            <a:srgbClr val="2E7D4F"/>
          </a:solidFill>
          <a:ln w="12700">
            <a:solidFill>
              <a:srgbClr val="2E7D4F"/>
            </a:solidFill>
            <a:prstDash val="solid"/>
          </a:ln>
        </p:spPr>
      </p:sp>
      <p:sp>
        <p:nvSpPr>
          <p:cNvPr id="11" name="Text 9"/>
          <p:cNvSpPr txBox="1"/>
          <p:nvPr/>
        </p:nvSpPr>
        <p:spPr>
          <a:xfrm>
            <a:off x="1234440" y="2272141"/>
            <a:ext cx="841248" cy="228600"/>
          </a:xfrm>
          <a:prstGeom prst="rect">
            <a:avLst/>
          </a:prstGeom>
          <a:noFill/>
          <a:ln/>
        </p:spPr>
        <p:txBody>
          <a:bodyPr wrap="square" lIns="0" tIns="0" rIns="0" bIns="0" rtlCol="0" anchor="t"/>
          <a:lstStyle/>
          <a:p>
            <a:pPr algn="ctr" indent="0" marL="0">
              <a:buNone/>
            </a:pPr>
            <a:r>
              <a:rPr lang="en-US" sz="1000" b="1" dirty="0">
                <a:solidFill>
                  <a:srgbClr val="2E7D4F"/>
                </a:solidFill>
                <a:latin typeface="Calibri" pitchFamily="34" charset="0"/>
                <a:ea typeface="Calibri" pitchFamily="34" charset="-122"/>
                <a:cs typeface="Calibri" pitchFamily="34" charset="-120"/>
              </a:rPr>
              <a:t>+4.5</a:t>
            </a:r>
            <a:endParaRPr lang="en-US" sz="1000" dirty="0"/>
          </a:p>
        </p:txBody>
      </p:sp>
      <p:sp>
        <p:nvSpPr>
          <p:cNvPr id="12" name="Text 10"/>
          <p:cNvSpPr txBox="1"/>
          <p:nvPr/>
        </p:nvSpPr>
        <p:spPr>
          <a:xfrm>
            <a:off x="1188720" y="4983480"/>
            <a:ext cx="932688" cy="228600"/>
          </a:xfrm>
          <a:prstGeom prst="rect">
            <a:avLst/>
          </a:prstGeom>
          <a:noFill/>
          <a:ln/>
        </p:spPr>
        <p:txBody>
          <a:bodyPr wrap="square" lIns="0" tIns="0" rIns="0" bIns="0" rtlCol="0" anchor="t"/>
          <a:lstStyle/>
          <a:p>
            <a:pPr algn="ctr" indent="0" marL="0">
              <a:buNone/>
            </a:pPr>
            <a:r>
              <a:rPr lang="en-US" sz="950" dirty="0">
                <a:solidFill>
                  <a:srgbClr val="6B7684"/>
                </a:solidFill>
                <a:latin typeface="Calibri" pitchFamily="34" charset="0"/>
                <a:ea typeface="Calibri" pitchFamily="34" charset="-122"/>
                <a:cs typeface="Calibri" pitchFamily="34" charset="-120"/>
              </a:rPr>
              <a:t>Like-for-like</a:t>
            </a:r>
            <a:endParaRPr lang="en-US" sz="950" dirty="0"/>
          </a:p>
        </p:txBody>
      </p:sp>
      <p:sp>
        <p:nvSpPr>
          <p:cNvPr id="13" name="Shape 11"/>
          <p:cNvSpPr/>
          <p:nvPr/>
        </p:nvSpPr>
        <p:spPr>
          <a:xfrm>
            <a:off x="2194560" y="2519029"/>
            <a:ext cx="566928" cy="1189006"/>
          </a:xfrm>
          <a:prstGeom prst="rect">
            <a:avLst/>
          </a:prstGeom>
          <a:solidFill>
            <a:srgbClr val="B83B2E"/>
          </a:solidFill>
          <a:ln w="12700">
            <a:solidFill>
              <a:srgbClr val="B83B2E"/>
            </a:solidFill>
            <a:prstDash val="solid"/>
          </a:ln>
        </p:spPr>
      </p:sp>
      <p:sp>
        <p:nvSpPr>
          <p:cNvPr id="14" name="Text 12"/>
          <p:cNvSpPr txBox="1"/>
          <p:nvPr/>
        </p:nvSpPr>
        <p:spPr>
          <a:xfrm>
            <a:off x="2057400" y="2272141"/>
            <a:ext cx="841248" cy="228600"/>
          </a:xfrm>
          <a:prstGeom prst="rect">
            <a:avLst/>
          </a:prstGeom>
          <a:noFill/>
          <a:ln/>
        </p:spPr>
        <p:txBody>
          <a:bodyPr wrap="square" lIns="0" tIns="0" rIns="0" bIns="0" rtlCol="0" anchor="t"/>
          <a:lstStyle/>
          <a:p>
            <a:pPr algn="ctr" indent="0" marL="0">
              <a:buNone/>
            </a:pPr>
            <a:r>
              <a:rPr lang="en-US" sz="1000" b="1" dirty="0">
                <a:solidFill>
                  <a:srgbClr val="B83B2E"/>
                </a:solidFill>
                <a:latin typeface="Calibri" pitchFamily="34" charset="0"/>
                <a:ea typeface="Calibri" pitchFamily="34" charset="-122"/>
                <a:cs typeface="Calibri" pitchFamily="34" charset="-120"/>
              </a:rPr>
              <a:t>−14.6</a:t>
            </a:r>
            <a:endParaRPr lang="en-US" sz="1000" dirty="0"/>
          </a:p>
        </p:txBody>
      </p:sp>
      <p:sp>
        <p:nvSpPr>
          <p:cNvPr id="15" name="Text 13"/>
          <p:cNvSpPr txBox="1"/>
          <p:nvPr/>
        </p:nvSpPr>
        <p:spPr>
          <a:xfrm>
            <a:off x="2011680" y="4983480"/>
            <a:ext cx="932688" cy="228600"/>
          </a:xfrm>
          <a:prstGeom prst="rect">
            <a:avLst/>
          </a:prstGeom>
          <a:noFill/>
          <a:ln/>
        </p:spPr>
        <p:txBody>
          <a:bodyPr wrap="square" lIns="0" tIns="0" rIns="0" bIns="0" rtlCol="0" anchor="t"/>
          <a:lstStyle/>
          <a:p>
            <a:pPr algn="ctr" indent="0" marL="0">
              <a:buNone/>
            </a:pPr>
            <a:r>
              <a:rPr lang="en-US" sz="950" dirty="0">
                <a:solidFill>
                  <a:srgbClr val="6B7684"/>
                </a:solidFill>
                <a:latin typeface="Calibri" pitchFamily="34" charset="0"/>
                <a:ea typeface="Calibri" pitchFamily="34" charset="-122"/>
                <a:cs typeface="Calibri" pitchFamily="34" charset="-120"/>
              </a:rPr>
              <a:t>FX</a:t>
            </a:r>
            <a:endParaRPr lang="en-US" sz="950" dirty="0"/>
          </a:p>
        </p:txBody>
      </p:sp>
      <p:sp>
        <p:nvSpPr>
          <p:cNvPr id="16" name="Shape 14"/>
          <p:cNvSpPr/>
          <p:nvPr/>
        </p:nvSpPr>
        <p:spPr>
          <a:xfrm>
            <a:off x="3017520" y="3708035"/>
            <a:ext cx="566928" cy="48863"/>
          </a:xfrm>
          <a:prstGeom prst="rect">
            <a:avLst/>
          </a:prstGeom>
          <a:solidFill>
            <a:srgbClr val="B83B2E"/>
          </a:solidFill>
          <a:ln w="12700">
            <a:solidFill>
              <a:srgbClr val="B83B2E"/>
            </a:solidFill>
            <a:prstDash val="solid"/>
          </a:ln>
        </p:spPr>
      </p:sp>
      <p:sp>
        <p:nvSpPr>
          <p:cNvPr id="17" name="Text 15"/>
          <p:cNvSpPr txBox="1"/>
          <p:nvPr/>
        </p:nvSpPr>
        <p:spPr>
          <a:xfrm>
            <a:off x="2880360" y="3461147"/>
            <a:ext cx="841248" cy="228600"/>
          </a:xfrm>
          <a:prstGeom prst="rect">
            <a:avLst/>
          </a:prstGeom>
          <a:noFill/>
          <a:ln/>
        </p:spPr>
        <p:txBody>
          <a:bodyPr wrap="square" lIns="0" tIns="0" rIns="0" bIns="0" rtlCol="0" anchor="t"/>
          <a:lstStyle/>
          <a:p>
            <a:pPr algn="ctr" indent="0" marL="0">
              <a:buNone/>
            </a:pPr>
            <a:r>
              <a:rPr lang="en-US" sz="1000" b="1" dirty="0">
                <a:solidFill>
                  <a:srgbClr val="B83B2E"/>
                </a:solidFill>
                <a:latin typeface="Calibri" pitchFamily="34" charset="0"/>
                <a:ea typeface="Calibri" pitchFamily="34" charset="-122"/>
                <a:cs typeface="Calibri" pitchFamily="34" charset="-120"/>
              </a:rPr>
              <a:t>−0.6</a:t>
            </a:r>
            <a:endParaRPr lang="en-US" sz="1000" dirty="0"/>
          </a:p>
        </p:txBody>
      </p:sp>
      <p:sp>
        <p:nvSpPr>
          <p:cNvPr id="18" name="Text 16"/>
          <p:cNvSpPr txBox="1"/>
          <p:nvPr/>
        </p:nvSpPr>
        <p:spPr>
          <a:xfrm>
            <a:off x="2834640" y="4983480"/>
            <a:ext cx="932688" cy="228600"/>
          </a:xfrm>
          <a:prstGeom prst="rect">
            <a:avLst/>
          </a:prstGeom>
          <a:noFill/>
          <a:ln/>
        </p:spPr>
        <p:txBody>
          <a:bodyPr wrap="square" lIns="0" tIns="0" rIns="0" bIns="0" rtlCol="0" anchor="t"/>
          <a:lstStyle/>
          <a:p>
            <a:pPr algn="ctr" indent="0" marL="0">
              <a:buNone/>
            </a:pPr>
            <a:r>
              <a:rPr lang="en-US" sz="950" dirty="0">
                <a:solidFill>
                  <a:srgbClr val="6B7684"/>
                </a:solidFill>
                <a:latin typeface="Calibri" pitchFamily="34" charset="0"/>
                <a:ea typeface="Calibri" pitchFamily="34" charset="-122"/>
                <a:cs typeface="Calibri" pitchFamily="34" charset="-120"/>
              </a:rPr>
              <a:t>Scope</a:t>
            </a:r>
            <a:endParaRPr lang="en-US" sz="950" dirty="0"/>
          </a:p>
        </p:txBody>
      </p:sp>
      <p:sp>
        <p:nvSpPr>
          <p:cNvPr id="19" name="Shape 17"/>
          <p:cNvSpPr/>
          <p:nvPr/>
        </p:nvSpPr>
        <p:spPr>
          <a:xfrm>
            <a:off x="3840480" y="3756898"/>
            <a:ext cx="566928" cy="1180862"/>
          </a:xfrm>
          <a:prstGeom prst="rect">
            <a:avLst/>
          </a:prstGeom>
          <a:solidFill>
            <a:srgbClr val="14213D"/>
          </a:solidFill>
          <a:ln w="12700">
            <a:solidFill>
              <a:srgbClr val="14213D"/>
            </a:solidFill>
            <a:prstDash val="solid"/>
          </a:ln>
        </p:spPr>
      </p:sp>
      <p:sp>
        <p:nvSpPr>
          <p:cNvPr id="20" name="Text 18"/>
          <p:cNvSpPr txBox="1"/>
          <p:nvPr/>
        </p:nvSpPr>
        <p:spPr>
          <a:xfrm>
            <a:off x="3703320" y="3510010"/>
            <a:ext cx="841248" cy="228600"/>
          </a:xfrm>
          <a:prstGeom prst="rect">
            <a:avLst/>
          </a:prstGeom>
          <a:noFill/>
          <a:ln/>
        </p:spPr>
        <p:txBody>
          <a:bodyPr wrap="square" lIns="0" tIns="0" rIns="0" bIns="0" rtlCol="0" anchor="t"/>
          <a:lstStyle/>
          <a:p>
            <a:pPr algn="ctr" indent="0" marL="0">
              <a:buNone/>
            </a:pPr>
            <a:r>
              <a:rPr lang="en-US" sz="1000" b="1" dirty="0">
                <a:solidFill>
                  <a:srgbClr val="1E2530"/>
                </a:solidFill>
                <a:latin typeface="Calibri" pitchFamily="34" charset="0"/>
                <a:ea typeface="Calibri" pitchFamily="34" charset="-122"/>
                <a:cs typeface="Calibri" pitchFamily="34" charset="-120"/>
              </a:rPr>
              <a:t>134.5</a:t>
            </a:r>
            <a:endParaRPr lang="en-US" sz="1000" dirty="0"/>
          </a:p>
        </p:txBody>
      </p:sp>
      <p:sp>
        <p:nvSpPr>
          <p:cNvPr id="21" name="Text 19"/>
          <p:cNvSpPr txBox="1"/>
          <p:nvPr/>
        </p:nvSpPr>
        <p:spPr>
          <a:xfrm>
            <a:off x="3657600" y="4983480"/>
            <a:ext cx="932688" cy="228600"/>
          </a:xfrm>
          <a:prstGeom prst="rect">
            <a:avLst/>
          </a:prstGeom>
          <a:noFill/>
          <a:ln/>
        </p:spPr>
        <p:txBody>
          <a:bodyPr wrap="square" lIns="0" tIns="0" rIns="0" bIns="0" rtlCol="0" anchor="t"/>
          <a:lstStyle/>
          <a:p>
            <a:pPr algn="ctr" indent="0" marL="0">
              <a:buNone/>
            </a:pPr>
            <a:r>
              <a:rPr lang="en-US" sz="950" dirty="0">
                <a:solidFill>
                  <a:srgbClr val="6B7684"/>
                </a:solidFill>
                <a:latin typeface="Calibri" pitchFamily="34" charset="0"/>
                <a:ea typeface="Calibri" pitchFamily="34" charset="-122"/>
                <a:cs typeface="Calibri" pitchFamily="34" charset="-120"/>
              </a:rPr>
              <a:t>1H26</a:t>
            </a:r>
            <a:endParaRPr lang="en-US" sz="950" dirty="0"/>
          </a:p>
        </p:txBody>
      </p:sp>
      <p:sp>
        <p:nvSpPr>
          <p:cNvPr id="22" name="Shape 20"/>
          <p:cNvSpPr/>
          <p:nvPr/>
        </p:nvSpPr>
        <p:spPr>
          <a:xfrm>
            <a:off x="502920" y="4937760"/>
            <a:ext cx="4114800" cy="0"/>
          </a:xfrm>
          <a:prstGeom prst="line">
            <a:avLst/>
          </a:prstGeom>
          <a:noFill/>
          <a:ln w="12700">
            <a:solidFill>
              <a:srgbClr val="D5DBE3"/>
            </a:solidFill>
            <a:prstDash val="solid"/>
          </a:ln>
        </p:spPr>
      </p:sp>
      <p:sp>
        <p:nvSpPr>
          <p:cNvPr id="23" name="Text 21"/>
          <p:cNvSpPr txBox="1"/>
          <p:nvPr/>
        </p:nvSpPr>
        <p:spPr>
          <a:xfrm>
            <a:off x="457200" y="5230368"/>
            <a:ext cx="4206240" cy="274320"/>
          </a:xfrm>
          <a:prstGeom prst="rect">
            <a:avLst/>
          </a:prstGeom>
          <a:noFill/>
          <a:ln/>
        </p:spPr>
        <p:txBody>
          <a:bodyPr wrap="square" lIns="0" tIns="0" rIns="0" bIns="0" rtlCol="0" anchor="t"/>
          <a:lstStyle/>
          <a:p>
            <a:pPr indent="0" marL="0">
              <a:buNone/>
            </a:pPr>
            <a:r>
              <a:rPr lang="en-US" sz="900" i="1" dirty="0">
                <a:solidFill>
                  <a:srgbClr val="6B7684"/>
                </a:solidFill>
                <a:latin typeface="Calibri" pitchFamily="34" charset="0"/>
                <a:ea typeface="Calibri" pitchFamily="34" charset="-122"/>
                <a:cs typeface="Calibri" pitchFamily="34" charset="-120"/>
              </a:rPr>
              <a:t>Axis starts at €120M. Like-for-like includes energy sales. Source: 1H26 presentation p.9.</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4983480" y="1645920"/>
          <a:ext cx="6748272" cy="914400"/>
        </p:xfrm>
        <a:graphic>
          <a:graphicData uri="http://schemas.openxmlformats.org/drawingml/2006/table">
            <a:tbl>
              <a:tblPr/>
              <a:tblGrid>
                <a:gridCol w="1417320"/>
                <a:gridCol w="1828800"/>
                <a:gridCol w="2130552"/>
                <a:gridCol w="1371600"/>
              </a:tblGrid>
              <a:tr h="329184">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Risk</a:t>
                      </a:r>
                      <a:endParaRPr lang="en-US" sz="10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Impact (quantified)</a:t>
                      </a:r>
                      <a:endParaRPr lang="en-US" sz="10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Mitigants</a:t>
                      </a:r>
                      <a:endParaRPr lang="en-US" sz="10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l" indent="0" marL="0">
                        <a:buNone/>
                      </a:pPr>
                      <a:r>
                        <a:rPr lang="en-US" sz="1000" b="1" dirty="0">
                          <a:solidFill>
                            <a:srgbClr val="FFFFFF"/>
                          </a:solidFill>
                          <a:latin typeface="Calibri" pitchFamily="34" charset="0"/>
                          <a:ea typeface="Calibri" pitchFamily="34" charset="-122"/>
                          <a:cs typeface="Calibri" pitchFamily="34" charset="-120"/>
                        </a:rPr>
                        <a:t>We exit / review if</a:t>
                      </a:r>
                      <a:endParaRPr lang="en-US" sz="10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r>
              <a:tr h="1325880">
                <a:tc>
                  <a:txBody>
                    <a:bodyPr/>
                    <a:lstStyle/>
                    <a:p>
                      <a:pPr algn="l" indent="0" marL="0">
                        <a:buNone/>
                      </a:pPr>
                      <a:r>
                        <a:rPr lang="en-US" sz="1000" b="1" dirty="0">
                          <a:solidFill>
                            <a:srgbClr val="1E2530"/>
                          </a:solidFill>
                          <a:latin typeface="Calibri" pitchFamily="34" charset="0"/>
                          <a:ea typeface="Calibri" pitchFamily="34" charset="-122"/>
                          <a:cs typeface="Calibri" pitchFamily="34" charset="-120"/>
                        </a:rPr>
                        <a:t>FX: USD weakness vs EUR; MXN/BRL strength on costs</a:t>
                      </a:r>
                      <a:endParaRPr lang="en-US" sz="10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rgbClr val="1E2530"/>
                          </a:solidFill>
                          <a:latin typeface="Calibri" pitchFamily="34" charset="0"/>
                          <a:ea typeface="Calibri" pitchFamily="34" charset="-122"/>
                          <a:cs typeface="Calibri" pitchFamily="34" charset="-120"/>
                        </a:rPr>
                        <a:t>1H26: −€20.5M revenue (−3.3pp), −€14.6M EBITDA (−10.1pp). FX hits EBITDA ~3x harder than revenue</a:t>
                      </a:r>
                      <a:endParaRPr lang="en-US" sz="10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rgbClr val="1E2530"/>
                          </a:solidFill>
                          <a:latin typeface="Calibri" pitchFamily="34" charset="0"/>
                          <a:ea typeface="Calibri" pitchFamily="34" charset="-122"/>
                          <a:cs typeface="Calibri" pitchFamily="34" charset="-120"/>
                        </a:rPr>
                        <a:t>Plants located in USD/MXN/BRL zones (natural hedge); USD now strengthening; fund overlay sells USD forward on 30% of the position</a:t>
                      </a:r>
                      <a:endParaRPr lang="en-US" sz="10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rgbClr val="6B7684"/>
                          </a:solidFill>
                          <a:latin typeface="Calibri" pitchFamily="34" charset="0"/>
                          <a:ea typeface="Calibri" pitchFamily="34" charset="-122"/>
                          <a:cs typeface="Calibri" pitchFamily="34" charset="-120"/>
                        </a:rPr>
                        <a:t>EUR/USD back to 1H26 averages and Q3 FX drag widens</a:t>
                      </a:r>
                      <a:endParaRPr lang="en-US" sz="10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1325880">
                <a:tc>
                  <a:txBody>
                    <a:bodyPr/>
                    <a:lstStyle/>
                    <a:p>
                      <a:pPr algn="l" indent="0" marL="0">
                        <a:buNone/>
                      </a:pPr>
                      <a:r>
                        <a:rPr lang="en-US" sz="1000" b="1" dirty="0">
                          <a:solidFill>
                            <a:srgbClr val="1E2530"/>
                          </a:solidFill>
                          <a:latin typeface="Calibri" pitchFamily="34" charset="0"/>
                          <a:ea typeface="Calibri" pitchFamily="34" charset="-122"/>
                          <a:cs typeface="Calibri" pitchFamily="34" charset="-120"/>
                        </a:rPr>
                        <a:t>Energy &amp; raw materials (Middle East conflict)</a:t>
                      </a:r>
                      <a:endParaRPr lang="en-US" sz="10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rgbClr val="1E2530"/>
                          </a:solidFill>
                          <a:latin typeface="Calibri" pitchFamily="34" charset="0"/>
                          <a:ea typeface="Calibri" pitchFamily="34" charset="-122"/>
                          <a:cs typeface="Calibri" pitchFamily="34" charset="-120"/>
                        </a:rPr>
                        <a:t>Q2 consumption costs +16.8% (Q1 −2.2%); Q2 LFL EBITDA −2.4%; FY26 EBITDA guided to low end of range</a:t>
                      </a:r>
                      <a:endParaRPr lang="en-US" sz="10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rgbClr val="1E2530"/>
                          </a:solidFill>
                          <a:latin typeface="Calibri" pitchFamily="34" charset="0"/>
                          <a:ea typeface="Calibri" pitchFamily="34" charset="-122"/>
                          <a:cs typeface="Calibri" pitchFamily="34" charset="-120"/>
                        </a:rPr>
                        <a:t>H2-26 price increases + cost control; annual fixed-price fuel contracts; +10% gas ≈ only €1.7M operating profit; Cáseda efficiency capex</a:t>
                      </a:r>
                      <a:endParaRPr lang="en-US" sz="10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l" indent="0" marL="0">
                        <a:buNone/>
                      </a:pPr>
                      <a:r>
                        <a:rPr lang="en-US" sz="1000" dirty="0">
                          <a:solidFill>
                            <a:srgbClr val="6B7684"/>
                          </a:solidFill>
                          <a:latin typeface="Calibri" pitchFamily="34" charset="0"/>
                          <a:ea typeface="Calibri" pitchFamily="34" charset="-122"/>
                          <a:cs typeface="Calibri" pitchFamily="34" charset="-120"/>
                        </a:rPr>
                        <a:t>Q3 EBITDA margin below 1H26's 21.4%</a:t>
                      </a:r>
                      <a:endParaRPr lang="en-US" sz="10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bl>
          </a:graphicData>
        </a:graphic>
      </p:graphicFrame>
      <p:sp>
        <p:nvSpPr>
          <p:cNvPr id="25" name="Shape 22"/>
          <p:cNvSpPr/>
          <p:nvPr/>
        </p:nvSpPr>
        <p:spPr>
          <a:xfrm>
            <a:off x="4983480" y="4800600"/>
            <a:ext cx="6748272" cy="868680"/>
          </a:xfrm>
          <a:prstGeom prst="roundRect">
            <a:avLst>
              <a:gd name="adj" fmla="val 8421"/>
            </a:avLst>
          </a:prstGeom>
          <a:solidFill>
            <a:srgbClr val="FBEDEA"/>
          </a:solidFill>
          <a:ln w="12700">
            <a:solidFill>
              <a:srgbClr val="FBEDEA"/>
            </a:solidFill>
            <a:prstDash val="solid"/>
          </a:ln>
        </p:spPr>
      </p:sp>
      <p:sp>
        <p:nvSpPr>
          <p:cNvPr id="26" name="Text 23"/>
          <p:cNvSpPr txBox="1"/>
          <p:nvPr/>
        </p:nvSpPr>
        <p:spPr>
          <a:xfrm>
            <a:off x="5166360" y="4800600"/>
            <a:ext cx="6400800" cy="868680"/>
          </a:xfrm>
          <a:prstGeom prst="rect">
            <a:avLst/>
          </a:prstGeom>
          <a:noFill/>
          <a:ln/>
        </p:spPr>
        <p:txBody>
          <a:bodyPr wrap="square" lIns="0" tIns="0" rIns="0" bIns="0" rtlCol="0" anchor="ctr"/>
          <a:lstStyle/>
          <a:p>
            <a:pPr indent="0" marL="0">
              <a:buNone/>
            </a:pPr>
            <a:r>
              <a:rPr lang="en-US" sz="1100" b="1" dirty="0">
                <a:solidFill>
                  <a:srgbClr val="B83B2E"/>
                </a:solidFill>
                <a:latin typeface="Calibri" pitchFamily="34" charset="0"/>
                <a:ea typeface="Calibri" pitchFamily="34" charset="-122"/>
                <a:cs typeface="Calibri" pitchFamily="34" charset="-120"/>
              </a:rPr>
              <a:t>Downside scenario: €42.5 (−21%). </a:t>
            </a:r>
            <a:pPr indent="0" marL="0">
              <a:buNone/>
            </a:pPr>
            <a:r>
              <a:rPr lang="en-US" sz="1100" dirty="0">
                <a:solidFill>
                  <a:srgbClr val="1E2530"/>
                </a:solidFill>
                <a:latin typeface="Calibri" pitchFamily="34" charset="0"/>
                <a:ea typeface="Calibri" pitchFamily="34" charset="-122"/>
                <a:cs typeface="Calibri" pitchFamily="34" charset="-120"/>
              </a:rPr>
              <a:t>Energy shock persists into 2027, USD weakens again, FY27E EBITDA €285M at 8.0x (food-peer level). Our stop-loss at €45.6 caps the loss at −15%, above the bear value.</a:t>
            </a:r>
            <a:endParaRPr lang="en-US" sz="1100" dirty="0"/>
          </a:p>
        </p:txBody>
      </p:sp>
      <p:sp>
        <p:nvSpPr>
          <p:cNvPr id="27" name="Text 24"/>
          <p:cNvSpPr txBox="1"/>
          <p:nvPr/>
        </p:nvSpPr>
        <p:spPr>
          <a:xfrm>
            <a:off x="457200" y="5806440"/>
            <a:ext cx="11277295" cy="457200"/>
          </a:xfrm>
          <a:prstGeom prst="rect">
            <a:avLst/>
          </a:prstGeom>
          <a:noFill/>
          <a:ln/>
        </p:spPr>
        <p:txBody>
          <a:bodyPr wrap="square" lIns="0" tIns="0" rIns="0" bIns="0" rtlCol="0" anchor="t"/>
          <a:lstStyle/>
          <a:p>
            <a:pPr indent="0" marL="0">
              <a:buNone/>
            </a:pPr>
            <a:r>
              <a:rPr lang="en-US" sz="1050" dirty="0">
                <a:solidFill>
                  <a:srgbClr val="1E2530"/>
                </a:solidFill>
                <a:latin typeface="Calibri" pitchFamily="34" charset="0"/>
                <a:ea typeface="Calibri" pitchFamily="34" charset="-122"/>
                <a:cs typeface="Calibri" pitchFamily="34" charset="-120"/>
              </a:rPr>
              <a:t>Also monitored (appendix): de-rating vs food peers, Beat'30 execution (€100M capex, H2-weighted; Czech plant 2028), US tariffs on Brazilian exports (Pet Mania, &lt;2% of revenue).</a:t>
            </a:r>
            <a:endParaRPr lang="en-US" sz="1050" dirty="0"/>
          </a:p>
        </p:txBody>
      </p:sp>
      <p:sp>
        <p:nvSpPr>
          <p:cNvPr id="28" name="Text 25"/>
          <p:cNvSpPr txBox="1"/>
          <p:nvPr/>
        </p:nvSpPr>
        <p:spPr>
          <a:xfrm>
            <a:off x="457200" y="6473952"/>
            <a:ext cx="10180015" cy="274320"/>
          </a:xfrm>
          <a:prstGeom prst="rect">
            <a:avLst/>
          </a:prstGeom>
          <a:noFill/>
          <a:ln/>
        </p:spPr>
        <p:txBody>
          <a:bodyPr wrap="square" lIns="0" tIns="0" rIns="0" bIns="0" rtlCol="0" anchor="b"/>
          <a:lstStyle/>
          <a:p>
            <a:pPr indent="0" marL="0">
              <a:buNone/>
            </a:pPr>
            <a:r>
              <a:rPr lang="en-US" sz="850" dirty="0">
                <a:solidFill>
                  <a:srgbClr val="6B7684"/>
                </a:solidFill>
                <a:latin typeface="Calibri" pitchFamily="34" charset="0"/>
                <a:ea typeface="Calibri" pitchFamily="34" charset="-122"/>
                <a:cs typeface="Calibri" pitchFamily="34" charset="-120"/>
              </a:rPr>
              <a:t>Sources: Viscofan 1H26 results presentation pp.4, 8–10, 13; 1H26 Half-Year Financial Report (sensitivities); team model.</a:t>
            </a:r>
            <a:endParaRPr lang="en-US" sz="850" dirty="0"/>
          </a:p>
        </p:txBody>
      </p:sp>
      <p:sp>
        <p:nvSpPr>
          <p:cNvPr id="29" name="Text 26"/>
          <p:cNvSpPr txBox="1"/>
          <p:nvPr/>
        </p:nvSpPr>
        <p:spPr>
          <a:xfrm>
            <a:off x="8991295" y="6473952"/>
            <a:ext cx="2743200" cy="274320"/>
          </a:xfrm>
          <a:prstGeom prst="rect">
            <a:avLst/>
          </a:prstGeom>
          <a:noFill/>
          <a:ln/>
        </p:spPr>
        <p:txBody>
          <a:bodyPr wrap="square" lIns="0" tIns="0" rIns="0" bIns="0" rtlCol="0" anchor="b"/>
          <a:lstStyle/>
          <a:p>
            <a:pPr algn="r" indent="0" marL="0">
              <a:buNone/>
            </a:pPr>
            <a:r>
              <a:rPr lang="en-US" sz="850" dirty="0">
                <a:solidFill>
                  <a:srgbClr val="6B7684"/>
                </a:solidFill>
                <a:latin typeface="Calibri" pitchFamily="34" charset="0"/>
                <a:ea typeface="Calibri" pitchFamily="34" charset="-122"/>
                <a:cs typeface="Calibri" pitchFamily="34" charset="-120"/>
              </a:rPr>
              <a:t>HF &amp; Quant A · Viscofan (BME:VIS)</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84048" cy="384048"/>
          </a:xfrm>
          <a:prstGeom prst="ellipse">
            <a:avLst/>
          </a:prstGeom>
          <a:solidFill>
            <a:srgbClr val="E8702A"/>
          </a:solidFill>
          <a:ln w="12700">
            <a:solidFill>
              <a:srgbClr val="E8702A"/>
            </a:solidFill>
            <a:prstDash val="solid"/>
          </a:ln>
        </p:spPr>
      </p:sp>
      <p:sp>
        <p:nvSpPr>
          <p:cNvPr id="3" name="Text 1"/>
          <p:cNvSpPr txBox="1"/>
          <p:nvPr/>
        </p:nvSpPr>
        <p:spPr>
          <a:xfrm>
            <a:off x="457200" y="34747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A1</a:t>
            </a:r>
            <a:endParaRPr lang="en-US" sz="1100" dirty="0"/>
          </a:p>
        </p:txBody>
      </p:sp>
      <p:sp>
        <p:nvSpPr>
          <p:cNvPr id="4" name="Text 2"/>
          <p:cNvSpPr txBox="1"/>
          <p:nvPr/>
        </p:nvSpPr>
        <p:spPr>
          <a:xfrm>
            <a:off x="960120" y="347472"/>
            <a:ext cx="7315200" cy="384048"/>
          </a:xfrm>
          <a:prstGeom prst="rect">
            <a:avLst/>
          </a:prstGeom>
          <a:noFill/>
          <a:ln/>
        </p:spPr>
        <p:txBody>
          <a:bodyPr wrap="square" lIns="0" tIns="0" rIns="0" bIns="0" rtlCol="0" anchor="ctr"/>
          <a:lstStyle/>
          <a:p>
            <a:pPr indent="0" marL="0">
              <a:buNone/>
            </a:pPr>
            <a:r>
              <a:rPr lang="en-US" sz="1100" b="1" spc="200" kern="0" dirty="0">
                <a:solidFill>
                  <a:srgbClr val="5B7083"/>
                </a:solidFill>
                <a:latin typeface="Calibri" pitchFamily="34" charset="0"/>
                <a:ea typeface="Calibri" pitchFamily="34" charset="-122"/>
                <a:cs typeface="Calibri" pitchFamily="34" charset="-120"/>
              </a:rPr>
              <a:t>APPENDIX · 1H26 RESULTS</a:t>
            </a:r>
            <a:endParaRPr lang="en-US" sz="1100" dirty="0"/>
          </a:p>
        </p:txBody>
      </p:sp>
      <p:sp>
        <p:nvSpPr>
          <p:cNvPr id="5" name="Text 3"/>
          <p:cNvSpPr txBox="1"/>
          <p:nvPr/>
        </p:nvSpPr>
        <p:spPr>
          <a:xfrm>
            <a:off x="457200" y="777240"/>
            <a:ext cx="11277295" cy="685800"/>
          </a:xfrm>
          <a:prstGeom prst="rect">
            <a:avLst/>
          </a:prstGeom>
          <a:noFill/>
          <a:ln/>
        </p:spPr>
        <p:txBody>
          <a:bodyPr wrap="square" lIns="0" tIns="0" rIns="0" bIns="0" rtlCol="0" anchor="t"/>
          <a:lstStyle/>
          <a:p>
            <a:pPr indent="0" marL="0">
              <a:buNone/>
            </a:pPr>
            <a:r>
              <a:rPr lang="en-US" sz="2400" b="1" dirty="0">
                <a:solidFill>
                  <a:srgbClr val="14213D"/>
                </a:solidFill>
                <a:latin typeface="Cambria" pitchFamily="34" charset="0"/>
                <a:ea typeface="Cambria" pitchFamily="34" charset="-122"/>
                <a:cs typeface="Cambria" pitchFamily="34" charset="-120"/>
              </a:rPr>
              <a:t>1H26: like-for-like growth intact, reported numbers hit by FX and Q2 costs</a:t>
            </a:r>
            <a:endParaRPr lang="en-US" sz="2400" dirty="0"/>
          </a:p>
        </p:txBody>
      </p:sp>
      <p:graphicFrame>
        <p:nvGraphicFramePr>
          <p:cNvPr id="7"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5669280" cy="914400"/>
        </p:xfrm>
        <a:graphic>
          <a:graphicData uri="http://schemas.openxmlformats.org/drawingml/2006/table">
            <a:tbl>
              <a:tblPr/>
              <a:tblGrid>
                <a:gridCol w="1828800"/>
                <a:gridCol w="914400"/>
                <a:gridCol w="914400"/>
                <a:gridCol w="1005840"/>
                <a:gridCol w="1005840"/>
              </a:tblGrid>
              <a:tr h="38404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€M</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1H26</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1H25</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Reported</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Like-for-like</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r>
              <a:tr h="384048">
                <a:tc>
                  <a:txBody>
                    <a:bodyPr/>
                    <a:lstStyle/>
                    <a:p>
                      <a:pPr algn="l" indent="0" marL="0">
                        <a:buNone/>
                      </a:pPr>
                      <a:r>
                        <a:rPr lang="en-US" sz="1100" b="1" dirty="0">
                          <a:solidFill>
                            <a:srgbClr val="1E2530"/>
                          </a:solidFill>
                          <a:latin typeface="Calibri" pitchFamily="34" charset="0"/>
                          <a:ea typeface="Calibri" pitchFamily="34" charset="-122"/>
                          <a:cs typeface="Calibri" pitchFamily="34" charset="-120"/>
                        </a:rPr>
                        <a:t>Revenue</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b="1" dirty="0">
                          <a:solidFill>
                            <a:srgbClr val="1E2530"/>
                          </a:solidFill>
                          <a:latin typeface="Calibri" pitchFamily="34" charset="0"/>
                          <a:ea typeface="Calibri" pitchFamily="34" charset="-122"/>
                          <a:cs typeface="Calibri" pitchFamily="34" charset="-120"/>
                        </a:rPr>
                        <a:t>629.8</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618.8</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2E7D4F"/>
                          </a:solidFill>
                          <a:latin typeface="Calibri" pitchFamily="34" charset="0"/>
                          <a:ea typeface="Calibri" pitchFamily="34" charset="-122"/>
                          <a:cs typeface="Calibri" pitchFamily="34" charset="-120"/>
                        </a:rPr>
                        <a:t>+1.8%</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2E7D4F"/>
                          </a:solidFill>
                          <a:latin typeface="Calibri" pitchFamily="34" charset="0"/>
                          <a:ea typeface="Calibri" pitchFamily="34" charset="-122"/>
                          <a:cs typeface="Calibri" pitchFamily="34" charset="-120"/>
                        </a:rPr>
                        <a:t>+4.8%</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84048">
                <a:tc>
                  <a:txBody>
                    <a:bodyPr/>
                    <a:lstStyle/>
                    <a:p>
                      <a:pPr algn="l" indent="0" marL="0">
                        <a:buNone/>
                      </a:pPr>
                      <a:r>
                        <a:rPr lang="en-US" sz="1100" b="1" dirty="0">
                          <a:solidFill>
                            <a:srgbClr val="1E2530"/>
                          </a:solidFill>
                          <a:latin typeface="Calibri" pitchFamily="34" charset="0"/>
                          <a:ea typeface="Calibri" pitchFamily="34" charset="-122"/>
                          <a:cs typeface="Calibri" pitchFamily="34" charset="-120"/>
                        </a:rPr>
                        <a:t>EBITDA</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b="1" dirty="0">
                          <a:solidFill>
                            <a:srgbClr val="1E2530"/>
                          </a:solidFill>
                          <a:latin typeface="Calibri" pitchFamily="34" charset="0"/>
                          <a:ea typeface="Calibri" pitchFamily="34" charset="-122"/>
                          <a:cs typeface="Calibri" pitchFamily="34" charset="-120"/>
                        </a:rPr>
                        <a:t>134.5</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145.2</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B83B2E"/>
                          </a:solidFill>
                          <a:latin typeface="Calibri" pitchFamily="34" charset="0"/>
                          <a:ea typeface="Calibri" pitchFamily="34" charset="-122"/>
                          <a:cs typeface="Calibri" pitchFamily="34" charset="-120"/>
                        </a:rPr>
                        <a:t>−7.4%</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2E7D4F"/>
                          </a:solidFill>
                          <a:latin typeface="Calibri" pitchFamily="34" charset="0"/>
                          <a:ea typeface="Calibri" pitchFamily="34" charset="-122"/>
                          <a:cs typeface="Calibri" pitchFamily="34" charset="-120"/>
                        </a:rPr>
                        <a:t>+3.1%</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84048">
                <a:tc>
                  <a:txBody>
                    <a:bodyPr/>
                    <a:lstStyle/>
                    <a:p>
                      <a:pPr algn="l" indent="0" marL="0">
                        <a:buNone/>
                      </a:pPr>
                      <a:r>
                        <a:rPr lang="en-US" sz="1100" dirty="0">
                          <a:solidFill>
                            <a:srgbClr val="1E2530"/>
                          </a:solidFill>
                          <a:latin typeface="Calibri" pitchFamily="34" charset="0"/>
                          <a:ea typeface="Calibri" pitchFamily="34" charset="-122"/>
                          <a:cs typeface="Calibri" pitchFamily="34" charset="-120"/>
                        </a:rPr>
                        <a:t>EBITDA margin</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21.4%</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23.5%</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B83B2E"/>
                          </a:solidFill>
                          <a:latin typeface="Calibri" pitchFamily="34" charset="0"/>
                          <a:ea typeface="Calibri" pitchFamily="34" charset="-122"/>
                          <a:cs typeface="Calibri" pitchFamily="34" charset="-120"/>
                        </a:rPr>
                        <a:t>−2.1pp</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B83B2E"/>
                          </a:solidFill>
                          <a:latin typeface="Calibri" pitchFamily="34" charset="0"/>
                          <a:ea typeface="Calibri" pitchFamily="34" charset="-122"/>
                          <a:cs typeface="Calibri" pitchFamily="34" charset="-120"/>
                        </a:rPr>
                        <a:t>−0.4pp</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84048">
                <a:tc>
                  <a:txBody>
                    <a:bodyPr/>
                    <a:lstStyle/>
                    <a:p>
                      <a:pPr algn="l" indent="0" marL="0">
                        <a:buNone/>
                      </a:pPr>
                      <a:r>
                        <a:rPr lang="en-US" sz="1100" dirty="0">
                          <a:solidFill>
                            <a:srgbClr val="1E2530"/>
                          </a:solidFill>
                          <a:latin typeface="Calibri" pitchFamily="34" charset="0"/>
                          <a:ea typeface="Calibri" pitchFamily="34" charset="-122"/>
                          <a:cs typeface="Calibri" pitchFamily="34" charset="-120"/>
                        </a:rPr>
                        <a:t>Operating profit</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91.8</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101.8</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B83B2E"/>
                          </a:solidFill>
                          <a:latin typeface="Calibri" pitchFamily="34" charset="0"/>
                          <a:ea typeface="Calibri" pitchFamily="34" charset="-122"/>
                          <a:cs typeface="Calibri" pitchFamily="34" charset="-120"/>
                        </a:rPr>
                        <a:t>−9.9%</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6B768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84048">
                <a:tc>
                  <a:txBody>
                    <a:bodyPr/>
                    <a:lstStyle/>
                    <a:p>
                      <a:pPr algn="l" indent="0" marL="0">
                        <a:buNone/>
                      </a:pPr>
                      <a:r>
                        <a:rPr lang="en-US" sz="1100" dirty="0">
                          <a:solidFill>
                            <a:srgbClr val="1E2530"/>
                          </a:solidFill>
                          <a:latin typeface="Calibri" pitchFamily="34" charset="0"/>
                          <a:ea typeface="Calibri" pitchFamily="34" charset="-122"/>
                          <a:cs typeface="Calibri" pitchFamily="34" charset="-120"/>
                        </a:rPr>
                        <a:t>Net finance result</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−1.3</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−18.1</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2E7D4F"/>
                          </a:solidFill>
                          <a:latin typeface="Calibri" pitchFamily="34" charset="0"/>
                          <a:ea typeface="Calibri" pitchFamily="34" charset="-122"/>
                          <a:cs typeface="Calibri" pitchFamily="34" charset="-120"/>
                        </a:rPr>
                        <a:t>+92.9%</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6B768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84048">
                <a:tc>
                  <a:txBody>
                    <a:bodyPr/>
                    <a:lstStyle/>
                    <a:p>
                      <a:pPr algn="l" indent="0" marL="0">
                        <a:buNone/>
                      </a:pPr>
                      <a:r>
                        <a:rPr lang="en-US" sz="1100" dirty="0">
                          <a:solidFill>
                            <a:srgbClr val="1E2530"/>
                          </a:solidFill>
                          <a:latin typeface="Calibri" pitchFamily="34" charset="0"/>
                          <a:ea typeface="Calibri" pitchFamily="34" charset="-122"/>
                          <a:cs typeface="Calibri" pitchFamily="34" charset="-120"/>
                        </a:rPr>
                        <a:t>Taxes</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−19.5</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−14.0</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B83B2E"/>
                          </a:solidFill>
                          <a:latin typeface="Calibri" pitchFamily="34" charset="0"/>
                          <a:ea typeface="Calibri" pitchFamily="34" charset="-122"/>
                          <a:cs typeface="Calibri" pitchFamily="34" charset="-120"/>
                        </a:rPr>
                        <a:t>−39.7%</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6B768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84048">
                <a:tc>
                  <a:txBody>
                    <a:bodyPr/>
                    <a:lstStyle/>
                    <a:p>
                      <a:pPr algn="l" indent="0" marL="0">
                        <a:buNone/>
                      </a:pPr>
                      <a:r>
                        <a:rPr lang="en-US" sz="1100" b="1" dirty="0">
                          <a:solidFill>
                            <a:srgbClr val="1E2530"/>
                          </a:solidFill>
                          <a:latin typeface="Calibri" pitchFamily="34" charset="0"/>
                          <a:ea typeface="Calibri" pitchFamily="34" charset="-122"/>
                          <a:cs typeface="Calibri" pitchFamily="34" charset="-120"/>
                        </a:rPr>
                        <a:t>Net profit</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b="1" dirty="0">
                          <a:solidFill>
                            <a:srgbClr val="1E2530"/>
                          </a:solidFill>
                          <a:latin typeface="Calibri" pitchFamily="34" charset="0"/>
                          <a:ea typeface="Calibri" pitchFamily="34" charset="-122"/>
                          <a:cs typeface="Calibri" pitchFamily="34" charset="-120"/>
                        </a:rPr>
                        <a:t>71.3</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69.8</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2E7D4F"/>
                          </a:solidFill>
                          <a:latin typeface="Calibri" pitchFamily="34" charset="0"/>
                          <a:ea typeface="Calibri" pitchFamily="34" charset="-122"/>
                          <a:cs typeface="Calibri" pitchFamily="34" charset="-120"/>
                        </a:rPr>
                        <a:t>+2.2%</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6B768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bl>
          </a:graphicData>
        </a:graphic>
      </p:graphicFrame>
      <p:graphicFrame>
        <p:nvGraphicFramePr>
          <p:cNvPr id="13" name="Table 1"/>
          <p:cNvGraphicFramePr>
            <a:graphicFrameLocks noGrp="1"/>
          </p:cNvGraphicFramePr>
          <p:nvPr>
            <p:extLst>
              <p:ext uri="{D42A27DB-BD31-4B8C-83A1-F6EECF244321}">
                <p14:modId xmlns:p14="http://schemas.microsoft.com/office/powerpoint/2010/main" val="1579011935"/>
              </p:ext>
            </p:extLst>
          </p:nvPr>
        </p:nvGraphicFramePr>
        <p:xfrm>
          <a:off x="6492240" y="1645920"/>
          <a:ext cx="5239512" cy="914400"/>
        </p:xfrm>
        <a:graphic>
          <a:graphicData uri="http://schemas.openxmlformats.org/drawingml/2006/table">
            <a:tbl>
              <a:tblPr/>
              <a:tblGrid>
                <a:gridCol w="1463040"/>
                <a:gridCol w="914400"/>
                <a:gridCol w="914400"/>
                <a:gridCol w="960120"/>
                <a:gridCol w="987552"/>
              </a:tblGrid>
              <a:tr h="38404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Q2 (€M)</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2Q26</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2Q25</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Reported</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LFL</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r>
              <a:tr h="384048">
                <a:tc>
                  <a:txBody>
                    <a:bodyPr/>
                    <a:lstStyle/>
                    <a:p>
                      <a:pPr algn="l" indent="0" marL="0">
                        <a:buNone/>
                      </a:pPr>
                      <a:r>
                        <a:rPr lang="en-US" sz="1100" b="1" dirty="0">
                          <a:solidFill>
                            <a:srgbClr val="1E2530"/>
                          </a:solidFill>
                          <a:latin typeface="Calibri" pitchFamily="34" charset="0"/>
                          <a:ea typeface="Calibri" pitchFamily="34" charset="-122"/>
                          <a:cs typeface="Calibri" pitchFamily="34" charset="-120"/>
                        </a:rPr>
                        <a:t>Revenue</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b="1" dirty="0">
                          <a:solidFill>
                            <a:srgbClr val="1E2530"/>
                          </a:solidFill>
                          <a:latin typeface="Calibri" pitchFamily="34" charset="0"/>
                          <a:ea typeface="Calibri" pitchFamily="34" charset="-122"/>
                          <a:cs typeface="Calibri" pitchFamily="34" charset="-120"/>
                        </a:rPr>
                        <a:t>325.0</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311.5</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2E7D4F"/>
                          </a:solidFill>
                          <a:latin typeface="Calibri" pitchFamily="34" charset="0"/>
                          <a:ea typeface="Calibri" pitchFamily="34" charset="-122"/>
                          <a:cs typeface="Calibri" pitchFamily="34" charset="-120"/>
                        </a:rPr>
                        <a:t>+4.3%</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2E7D4F"/>
                          </a:solidFill>
                          <a:latin typeface="Calibri" pitchFamily="34" charset="0"/>
                          <a:ea typeface="Calibri" pitchFamily="34" charset="-122"/>
                          <a:cs typeface="Calibri" pitchFamily="34" charset="-120"/>
                        </a:rPr>
                        <a:t>+4.9%</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84048">
                <a:tc>
                  <a:txBody>
                    <a:bodyPr/>
                    <a:lstStyle/>
                    <a:p>
                      <a:pPr algn="l" indent="0" marL="0">
                        <a:buNone/>
                      </a:pPr>
                      <a:r>
                        <a:rPr lang="en-US" sz="1100" b="1" dirty="0">
                          <a:solidFill>
                            <a:srgbClr val="1E2530"/>
                          </a:solidFill>
                          <a:latin typeface="Calibri" pitchFamily="34" charset="0"/>
                          <a:ea typeface="Calibri" pitchFamily="34" charset="-122"/>
                          <a:cs typeface="Calibri" pitchFamily="34" charset="-120"/>
                        </a:rPr>
                        <a:t>EBITDA</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b="1" dirty="0">
                          <a:solidFill>
                            <a:srgbClr val="1E2530"/>
                          </a:solidFill>
                          <a:latin typeface="Calibri" pitchFamily="34" charset="0"/>
                          <a:ea typeface="Calibri" pitchFamily="34" charset="-122"/>
                          <a:cs typeface="Calibri" pitchFamily="34" charset="-120"/>
                        </a:rPr>
                        <a:t>71.1</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76.3</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B83B2E"/>
                          </a:solidFill>
                          <a:latin typeface="Calibri" pitchFamily="34" charset="0"/>
                          <a:ea typeface="Calibri" pitchFamily="34" charset="-122"/>
                          <a:cs typeface="Calibri" pitchFamily="34" charset="-120"/>
                        </a:rPr>
                        <a:t>−6.9%</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B83B2E"/>
                          </a:solidFill>
                          <a:latin typeface="Calibri" pitchFamily="34" charset="0"/>
                          <a:ea typeface="Calibri" pitchFamily="34" charset="-122"/>
                          <a:cs typeface="Calibri" pitchFamily="34" charset="-120"/>
                        </a:rPr>
                        <a:t>−2.4%</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84048">
                <a:tc>
                  <a:txBody>
                    <a:bodyPr/>
                    <a:lstStyle/>
                    <a:p>
                      <a:pPr algn="l" indent="0" marL="0">
                        <a:buNone/>
                      </a:pPr>
                      <a:r>
                        <a:rPr lang="en-US" sz="1100" dirty="0">
                          <a:solidFill>
                            <a:srgbClr val="1E2530"/>
                          </a:solidFill>
                          <a:latin typeface="Calibri" pitchFamily="34" charset="0"/>
                          <a:ea typeface="Calibri" pitchFamily="34" charset="-122"/>
                          <a:cs typeface="Calibri" pitchFamily="34" charset="-120"/>
                        </a:rPr>
                        <a:t>Net profit</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37.7</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38.4</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B83B2E"/>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6B7684"/>
                          </a:solidFill>
                          <a:latin typeface="Calibri" pitchFamily="34" charset="0"/>
                          <a:ea typeface="Calibri" pitchFamily="34" charset="-122"/>
                          <a:cs typeface="Calibri" pitchFamily="34" charset="-120"/>
                        </a:rPr>
                        <a:t>–</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bl>
          </a:graphicData>
        </a:graphic>
      </p:graphicFrame>
      <p:sp>
        <p:nvSpPr>
          <p:cNvPr id="8" name="Text 4"/>
          <p:cNvSpPr txBox="1"/>
          <p:nvPr/>
        </p:nvSpPr>
        <p:spPr>
          <a:xfrm>
            <a:off x="6492240" y="3429000"/>
            <a:ext cx="5239512" cy="237744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E2530"/>
                </a:solidFill>
                <a:latin typeface="Calibri" pitchFamily="34" charset="0"/>
                <a:ea typeface="Calibri" pitchFamily="34" charset="-122"/>
                <a:cs typeface="Calibri" pitchFamily="34" charset="-120"/>
              </a:rPr>
              <a:t>Net profit growth (+2.2%) came from the finance line: FX differences +€3.7M vs −€14.0M. Operating profit fell 9.9%, so we lead with like-for-like EBITDA.</a:t>
            </a:r>
            <a:endParaRPr lang="en-US" sz="1100" dirty="0"/>
          </a:p>
          <a:p>
            <a:pPr marL="152400" indent="-152400">
              <a:spcAft>
                <a:spcPts val="400"/>
              </a:spcAft>
              <a:buSzPct val="100000"/>
              <a:buChar char="•"/>
            </a:pPr>
            <a:r>
              <a:rPr lang="en-US" sz="1100" dirty="0">
                <a:solidFill>
                  <a:srgbClr val="1E2530"/>
                </a:solidFill>
                <a:latin typeface="Calibri" pitchFamily="34" charset="0"/>
                <a:ea typeface="Calibri" pitchFamily="34" charset="-122"/>
                <a:cs typeface="Calibri" pitchFamily="34" charset="-120"/>
              </a:rPr>
              <a:t>Effective tax rate 21.5% vs 16.7% (1H25 included a €5M US tax-loss credit).</a:t>
            </a:r>
            <a:endParaRPr lang="en-US" sz="1100" dirty="0"/>
          </a:p>
          <a:p>
            <a:pPr marL="152400" indent="-152400">
              <a:spcAft>
                <a:spcPts val="400"/>
              </a:spcAft>
              <a:buSzPct val="100000"/>
              <a:buChar char="•"/>
            </a:pPr>
            <a:r>
              <a:rPr lang="en-US" sz="1100" dirty="0">
                <a:solidFill>
                  <a:srgbClr val="1E2530"/>
                </a:solidFill>
                <a:latin typeface="Calibri" pitchFamily="34" charset="0"/>
                <a:ea typeface="Calibri" pitchFamily="34" charset="-122"/>
                <a:cs typeface="Calibri" pitchFamily="34" charset="-120"/>
              </a:rPr>
              <a:t>Divisions: Food, Packaging &amp; Ingredients €591.7M (+1.8%); Health €3.8M (+57.3%); Pet €8.3M (+87.8%, incl. Pet Mania scope); Energy €26.0M (−15.4%).</a:t>
            </a:r>
            <a:endParaRPr lang="en-US" sz="1100" dirty="0"/>
          </a:p>
        </p:txBody>
      </p:sp>
      <p:sp>
        <p:nvSpPr>
          <p:cNvPr id="9" name="Text 5"/>
          <p:cNvSpPr txBox="1"/>
          <p:nvPr/>
        </p:nvSpPr>
        <p:spPr>
          <a:xfrm>
            <a:off x="457200" y="6473952"/>
            <a:ext cx="10180015" cy="274320"/>
          </a:xfrm>
          <a:prstGeom prst="rect">
            <a:avLst/>
          </a:prstGeom>
          <a:noFill/>
          <a:ln/>
        </p:spPr>
        <p:txBody>
          <a:bodyPr wrap="square" lIns="0" tIns="0" rIns="0" bIns="0" rtlCol="0" anchor="b"/>
          <a:lstStyle/>
          <a:p>
            <a:pPr indent="0" marL="0">
              <a:buNone/>
            </a:pPr>
            <a:r>
              <a:rPr lang="en-US" sz="850" dirty="0">
                <a:solidFill>
                  <a:srgbClr val="6B7684"/>
                </a:solidFill>
                <a:latin typeface="Calibri" pitchFamily="34" charset="0"/>
                <a:ea typeface="Calibri" pitchFamily="34" charset="-122"/>
                <a:cs typeface="Calibri" pitchFamily="34" charset="-120"/>
              </a:rPr>
              <a:t>Source: Viscofan Results Presentation January–June 2026, pp.3–10, 14–15.</a:t>
            </a:r>
            <a:endParaRPr lang="en-US" sz="850" dirty="0"/>
          </a:p>
        </p:txBody>
      </p:sp>
      <p:sp>
        <p:nvSpPr>
          <p:cNvPr id="10" name="Text 6"/>
          <p:cNvSpPr txBox="1"/>
          <p:nvPr/>
        </p:nvSpPr>
        <p:spPr>
          <a:xfrm>
            <a:off x="8991295" y="6473952"/>
            <a:ext cx="2743200" cy="274320"/>
          </a:xfrm>
          <a:prstGeom prst="rect">
            <a:avLst/>
          </a:prstGeom>
          <a:noFill/>
          <a:ln/>
        </p:spPr>
        <p:txBody>
          <a:bodyPr wrap="square" lIns="0" tIns="0" rIns="0" bIns="0" rtlCol="0" anchor="b"/>
          <a:lstStyle/>
          <a:p>
            <a:pPr algn="r" indent="0" marL="0">
              <a:buNone/>
            </a:pPr>
            <a:r>
              <a:rPr lang="en-US" sz="850" dirty="0">
                <a:solidFill>
                  <a:srgbClr val="6B7684"/>
                </a:solidFill>
                <a:latin typeface="Calibri" pitchFamily="34" charset="0"/>
                <a:ea typeface="Calibri" pitchFamily="34" charset="-122"/>
                <a:cs typeface="Calibri" pitchFamily="34" charset="-120"/>
              </a:rPr>
              <a:t>HF &amp; Quant A · Viscofan (BME:VIS)</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84048" cy="384048"/>
          </a:xfrm>
          <a:prstGeom prst="ellipse">
            <a:avLst/>
          </a:prstGeom>
          <a:solidFill>
            <a:srgbClr val="E8702A"/>
          </a:solidFill>
          <a:ln w="12700">
            <a:solidFill>
              <a:srgbClr val="E8702A"/>
            </a:solidFill>
            <a:prstDash val="solid"/>
          </a:ln>
        </p:spPr>
      </p:sp>
      <p:sp>
        <p:nvSpPr>
          <p:cNvPr id="3" name="Text 1"/>
          <p:cNvSpPr txBox="1"/>
          <p:nvPr/>
        </p:nvSpPr>
        <p:spPr>
          <a:xfrm>
            <a:off x="457200" y="34747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A2</a:t>
            </a:r>
            <a:endParaRPr lang="en-US" sz="1100" dirty="0"/>
          </a:p>
        </p:txBody>
      </p:sp>
      <p:sp>
        <p:nvSpPr>
          <p:cNvPr id="4" name="Text 2"/>
          <p:cNvSpPr txBox="1"/>
          <p:nvPr/>
        </p:nvSpPr>
        <p:spPr>
          <a:xfrm>
            <a:off x="960120" y="347472"/>
            <a:ext cx="7315200" cy="384048"/>
          </a:xfrm>
          <a:prstGeom prst="rect">
            <a:avLst/>
          </a:prstGeom>
          <a:noFill/>
          <a:ln/>
        </p:spPr>
        <p:txBody>
          <a:bodyPr wrap="square" lIns="0" tIns="0" rIns="0" bIns="0" rtlCol="0" anchor="ctr"/>
          <a:lstStyle/>
          <a:p>
            <a:pPr indent="0" marL="0">
              <a:buNone/>
            </a:pPr>
            <a:r>
              <a:rPr lang="en-US" sz="1100" b="1" spc="200" kern="0" dirty="0">
                <a:solidFill>
                  <a:srgbClr val="5B7083"/>
                </a:solidFill>
                <a:latin typeface="Calibri" pitchFamily="34" charset="0"/>
                <a:ea typeface="Calibri" pitchFamily="34" charset="-122"/>
                <a:cs typeface="Calibri" pitchFamily="34" charset="-120"/>
              </a:rPr>
              <a:t>APPENDIX · DCF</a:t>
            </a:r>
            <a:endParaRPr lang="en-US" sz="1100" dirty="0"/>
          </a:p>
        </p:txBody>
      </p:sp>
      <p:sp>
        <p:nvSpPr>
          <p:cNvPr id="5" name="Text 3"/>
          <p:cNvSpPr txBox="1"/>
          <p:nvPr/>
        </p:nvSpPr>
        <p:spPr>
          <a:xfrm>
            <a:off x="457200" y="777240"/>
            <a:ext cx="11277295" cy="685800"/>
          </a:xfrm>
          <a:prstGeom prst="rect">
            <a:avLst/>
          </a:prstGeom>
          <a:noFill/>
          <a:ln/>
        </p:spPr>
        <p:txBody>
          <a:bodyPr wrap="square" lIns="0" tIns="0" rIns="0" bIns="0" rtlCol="0" anchor="t"/>
          <a:lstStyle/>
          <a:p>
            <a:pPr indent="0" marL="0">
              <a:buNone/>
            </a:pPr>
            <a:r>
              <a:rPr lang="en-US" sz="2400" b="1" dirty="0">
                <a:solidFill>
                  <a:srgbClr val="14213D"/>
                </a:solidFill>
                <a:latin typeface="Cambria" pitchFamily="34" charset="0"/>
                <a:ea typeface="Cambria" pitchFamily="34" charset="-122"/>
                <a:cs typeface="Cambria" pitchFamily="34" charset="-120"/>
              </a:rPr>
              <a:t>DCF cross-check: €61.0 per share at a 7.65% WACC and 2.0% terminal growth</a:t>
            </a:r>
            <a:endParaRPr lang="en-US" sz="24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7315200" cy="914400"/>
        </p:xfrm>
        <a:graphic>
          <a:graphicData uri="http://schemas.openxmlformats.org/drawingml/2006/table">
            <a:tbl>
              <a:tblPr/>
              <a:tblGrid>
                <a:gridCol w="2103120"/>
                <a:gridCol w="868680"/>
                <a:gridCol w="868680"/>
                <a:gridCol w="868680"/>
                <a:gridCol w="868680"/>
                <a:gridCol w="868680"/>
                <a:gridCol w="868680"/>
              </a:tblGrid>
              <a:tr h="338328">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€M</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FY26E</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FY27E</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FY28E</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FY29E</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FY30E</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ctr" indent="0" marL="0">
                        <a:buNone/>
                      </a:pPr>
                      <a:r>
                        <a:rPr lang="en-US" sz="1050" b="1" dirty="0">
                          <a:solidFill>
                            <a:srgbClr val="FFFFFF"/>
                          </a:solidFill>
                          <a:latin typeface="Calibri" pitchFamily="34" charset="0"/>
                          <a:ea typeface="Calibri" pitchFamily="34" charset="-122"/>
                          <a:cs typeface="Calibri" pitchFamily="34" charset="-120"/>
                        </a:rPr>
                        <a:t>FY31E</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r>
              <a:tr h="338328">
                <a:tc>
                  <a:txBody>
                    <a:bodyPr/>
                    <a:lstStyle/>
                    <a:p>
                      <a:pPr algn="l" indent="0" marL="0">
                        <a:buNone/>
                      </a:pPr>
                      <a:r>
                        <a:rPr lang="en-US" sz="1050" b="1" dirty="0">
                          <a:solidFill>
                            <a:srgbClr val="1E2530"/>
                          </a:solidFill>
                          <a:latin typeface="Calibri" pitchFamily="34" charset="0"/>
                          <a:ea typeface="Calibri" pitchFamily="34" charset="-122"/>
                          <a:cs typeface="Calibri" pitchFamily="34" charset="-120"/>
                        </a:rPr>
                        <a:t>Revenue</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b="1" dirty="0">
                          <a:solidFill>
                            <a:srgbClr val="1E2530"/>
                          </a:solidFill>
                          <a:latin typeface="Calibri" pitchFamily="34" charset="0"/>
                          <a:ea typeface="Calibri" pitchFamily="34" charset="-122"/>
                          <a:cs typeface="Calibri" pitchFamily="34" charset="-120"/>
                        </a:rPr>
                        <a:t>1289.6</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b="1" dirty="0">
                          <a:solidFill>
                            <a:srgbClr val="1E2530"/>
                          </a:solidFill>
                          <a:latin typeface="Calibri" pitchFamily="34" charset="0"/>
                          <a:ea typeface="Calibri" pitchFamily="34" charset="-122"/>
                          <a:cs typeface="Calibri" pitchFamily="34" charset="-120"/>
                        </a:rPr>
                        <a:t>1354.0</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b="1" dirty="0">
                          <a:solidFill>
                            <a:srgbClr val="1E2530"/>
                          </a:solidFill>
                          <a:latin typeface="Calibri" pitchFamily="34" charset="0"/>
                          <a:ea typeface="Calibri" pitchFamily="34" charset="-122"/>
                          <a:cs typeface="Calibri" pitchFamily="34" charset="-120"/>
                        </a:rPr>
                        <a:t>1421.7</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b="1" dirty="0">
                          <a:solidFill>
                            <a:srgbClr val="1E2530"/>
                          </a:solidFill>
                          <a:latin typeface="Calibri" pitchFamily="34" charset="0"/>
                          <a:ea typeface="Calibri" pitchFamily="34" charset="-122"/>
                          <a:cs typeface="Calibri" pitchFamily="34" charset="-120"/>
                        </a:rPr>
                        <a:t>1485.7</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b="1" dirty="0">
                          <a:solidFill>
                            <a:srgbClr val="1E2530"/>
                          </a:solidFill>
                          <a:latin typeface="Calibri" pitchFamily="34" charset="0"/>
                          <a:ea typeface="Calibri" pitchFamily="34" charset="-122"/>
                          <a:cs typeface="Calibri" pitchFamily="34" charset="-120"/>
                        </a:rPr>
                        <a:t>1545.1</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b="1" dirty="0">
                          <a:solidFill>
                            <a:srgbClr val="1E2530"/>
                          </a:solidFill>
                          <a:latin typeface="Calibri" pitchFamily="34" charset="0"/>
                          <a:ea typeface="Calibri" pitchFamily="34" charset="-122"/>
                          <a:cs typeface="Calibri" pitchFamily="34" charset="-120"/>
                        </a:rPr>
                        <a:t>1599.2</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38328">
                <a:tc>
                  <a:txBody>
                    <a:bodyPr/>
                    <a:lstStyle/>
                    <a:p>
                      <a:pPr algn="l" indent="0" marL="0">
                        <a:buNone/>
                      </a:pPr>
                      <a:r>
                        <a:rPr lang="en-US" sz="1050" dirty="0">
                          <a:solidFill>
                            <a:srgbClr val="6B7684"/>
                          </a:solidFill>
                          <a:latin typeface="Calibri" pitchFamily="34" charset="0"/>
                          <a:ea typeface="Calibri" pitchFamily="34" charset="-122"/>
                          <a:cs typeface="Calibri" pitchFamily="34" charset="-120"/>
                        </a:rPr>
                        <a:t>growth</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6B7684"/>
                          </a:solidFill>
                          <a:latin typeface="Calibri" pitchFamily="34" charset="0"/>
                          <a:ea typeface="Calibri" pitchFamily="34" charset="-122"/>
                          <a:cs typeface="Calibri" pitchFamily="34" charset="-120"/>
                        </a:rPr>
                        <a:t>3.0%</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6B7684"/>
                          </a:solidFill>
                          <a:latin typeface="Calibri" pitchFamily="34" charset="0"/>
                          <a:ea typeface="Calibri" pitchFamily="34" charset="-122"/>
                          <a:cs typeface="Calibri" pitchFamily="34" charset="-120"/>
                        </a:rPr>
                        <a:t>5.0%</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6B7684"/>
                          </a:solidFill>
                          <a:latin typeface="Calibri" pitchFamily="34" charset="0"/>
                          <a:ea typeface="Calibri" pitchFamily="34" charset="-122"/>
                          <a:cs typeface="Calibri" pitchFamily="34" charset="-120"/>
                        </a:rPr>
                        <a:t>5.0%</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6B7684"/>
                          </a:solidFill>
                          <a:latin typeface="Calibri" pitchFamily="34" charset="0"/>
                          <a:ea typeface="Calibri" pitchFamily="34" charset="-122"/>
                          <a:cs typeface="Calibri" pitchFamily="34" charset="-120"/>
                        </a:rPr>
                        <a:t>4.5%</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6B7684"/>
                          </a:solidFill>
                          <a:latin typeface="Calibri" pitchFamily="34" charset="0"/>
                          <a:ea typeface="Calibri" pitchFamily="34" charset="-122"/>
                          <a:cs typeface="Calibri" pitchFamily="34" charset="-120"/>
                        </a:rPr>
                        <a:t>4.0%</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6B7684"/>
                          </a:solidFill>
                          <a:latin typeface="Calibri" pitchFamily="34" charset="0"/>
                          <a:ea typeface="Calibri" pitchFamily="34" charset="-122"/>
                          <a:cs typeface="Calibri" pitchFamily="34" charset="-120"/>
                        </a:rPr>
                        <a:t>3.5%</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38328">
                <a:tc>
                  <a:txBody>
                    <a:bodyPr/>
                    <a:lstStyle/>
                    <a:p>
                      <a:pPr algn="l" indent="0" marL="0">
                        <a:buNone/>
                      </a:pPr>
                      <a:r>
                        <a:rPr lang="en-US" sz="1050" b="1" dirty="0">
                          <a:solidFill>
                            <a:srgbClr val="1E2530"/>
                          </a:solidFill>
                          <a:latin typeface="Calibri" pitchFamily="34" charset="0"/>
                          <a:ea typeface="Calibri" pitchFamily="34" charset="-122"/>
                          <a:cs typeface="Calibri" pitchFamily="34" charset="-120"/>
                        </a:rPr>
                        <a:t>EBITDA</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b="1" dirty="0">
                          <a:solidFill>
                            <a:srgbClr val="1E2530"/>
                          </a:solidFill>
                          <a:latin typeface="Calibri" pitchFamily="34" charset="0"/>
                          <a:ea typeface="Calibri" pitchFamily="34" charset="-122"/>
                          <a:cs typeface="Calibri" pitchFamily="34" charset="-120"/>
                        </a:rPr>
                        <a:t>279.8</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b="1" dirty="0">
                          <a:solidFill>
                            <a:srgbClr val="1E2530"/>
                          </a:solidFill>
                          <a:latin typeface="Calibri" pitchFamily="34" charset="0"/>
                          <a:ea typeface="Calibri" pitchFamily="34" charset="-122"/>
                          <a:cs typeface="Calibri" pitchFamily="34" charset="-120"/>
                        </a:rPr>
                        <a:t>314.8</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b="1" dirty="0">
                          <a:solidFill>
                            <a:srgbClr val="1E2530"/>
                          </a:solidFill>
                          <a:latin typeface="Calibri" pitchFamily="34" charset="0"/>
                          <a:ea typeface="Calibri" pitchFamily="34" charset="-122"/>
                          <a:cs typeface="Calibri" pitchFamily="34" charset="-120"/>
                        </a:rPr>
                        <a:t>337.7</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b="1" dirty="0">
                          <a:solidFill>
                            <a:srgbClr val="1E2530"/>
                          </a:solidFill>
                          <a:latin typeface="Calibri" pitchFamily="34" charset="0"/>
                          <a:ea typeface="Calibri" pitchFamily="34" charset="-122"/>
                          <a:cs typeface="Calibri" pitchFamily="34" charset="-120"/>
                        </a:rPr>
                        <a:t>356.6</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b="1" dirty="0">
                          <a:solidFill>
                            <a:srgbClr val="1E2530"/>
                          </a:solidFill>
                          <a:latin typeface="Calibri" pitchFamily="34" charset="0"/>
                          <a:ea typeface="Calibri" pitchFamily="34" charset="-122"/>
                          <a:cs typeface="Calibri" pitchFamily="34" charset="-120"/>
                        </a:rPr>
                        <a:t>370.8</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b="1" dirty="0">
                          <a:solidFill>
                            <a:srgbClr val="1E2530"/>
                          </a:solidFill>
                          <a:latin typeface="Calibri" pitchFamily="34" charset="0"/>
                          <a:ea typeface="Calibri" pitchFamily="34" charset="-122"/>
                          <a:cs typeface="Calibri" pitchFamily="34" charset="-120"/>
                        </a:rPr>
                        <a:t>383.8</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38328">
                <a:tc>
                  <a:txBody>
                    <a:bodyPr/>
                    <a:lstStyle/>
                    <a:p>
                      <a:pPr algn="l" indent="0" marL="0">
                        <a:buNone/>
                      </a:pPr>
                      <a:r>
                        <a:rPr lang="en-US" sz="1050" dirty="0">
                          <a:solidFill>
                            <a:srgbClr val="6B7684"/>
                          </a:solidFill>
                          <a:latin typeface="Calibri" pitchFamily="34" charset="0"/>
                          <a:ea typeface="Calibri" pitchFamily="34" charset="-122"/>
                          <a:cs typeface="Calibri" pitchFamily="34" charset="-120"/>
                        </a:rPr>
                        <a:t>margin</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6B7684"/>
                          </a:solidFill>
                          <a:latin typeface="Calibri" pitchFamily="34" charset="0"/>
                          <a:ea typeface="Calibri" pitchFamily="34" charset="-122"/>
                          <a:cs typeface="Calibri" pitchFamily="34" charset="-120"/>
                        </a:rPr>
                        <a:t>21.7%</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6B7684"/>
                          </a:solidFill>
                          <a:latin typeface="Calibri" pitchFamily="34" charset="0"/>
                          <a:ea typeface="Calibri" pitchFamily="34" charset="-122"/>
                          <a:cs typeface="Calibri" pitchFamily="34" charset="-120"/>
                        </a:rPr>
                        <a:t>23.3%</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6B7684"/>
                          </a:solidFill>
                          <a:latin typeface="Calibri" pitchFamily="34" charset="0"/>
                          <a:ea typeface="Calibri" pitchFamily="34" charset="-122"/>
                          <a:cs typeface="Calibri" pitchFamily="34" charset="-120"/>
                        </a:rPr>
                        <a:t>23.8%</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6B7684"/>
                          </a:solidFill>
                          <a:latin typeface="Calibri" pitchFamily="34" charset="0"/>
                          <a:ea typeface="Calibri" pitchFamily="34" charset="-122"/>
                          <a:cs typeface="Calibri" pitchFamily="34" charset="-120"/>
                        </a:rPr>
                        <a:t>24.0%</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6B7684"/>
                          </a:solidFill>
                          <a:latin typeface="Calibri" pitchFamily="34" charset="0"/>
                          <a:ea typeface="Calibri" pitchFamily="34" charset="-122"/>
                          <a:cs typeface="Calibri" pitchFamily="34" charset="-120"/>
                        </a:rPr>
                        <a:t>24.0%</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6B7684"/>
                          </a:solidFill>
                          <a:latin typeface="Calibri" pitchFamily="34" charset="0"/>
                          <a:ea typeface="Calibri" pitchFamily="34" charset="-122"/>
                          <a:cs typeface="Calibri" pitchFamily="34" charset="-120"/>
                        </a:rPr>
                        <a:t>24.0%</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38328">
                <a:tc>
                  <a:txBody>
                    <a:bodyPr/>
                    <a:lstStyle/>
                    <a:p>
                      <a:pPr algn="l" indent="0" marL="0">
                        <a:buNone/>
                      </a:pPr>
                      <a:r>
                        <a:rPr lang="en-US" sz="1050" dirty="0">
                          <a:solidFill>
                            <a:srgbClr val="1E2530"/>
                          </a:solidFill>
                          <a:latin typeface="Calibri" pitchFamily="34" charset="0"/>
                          <a:ea typeface="Calibri" pitchFamily="34" charset="-122"/>
                          <a:cs typeface="Calibri" pitchFamily="34" charset="-120"/>
                        </a:rPr>
                        <a:t>− Taxes on EBIT (22%)</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1E2530"/>
                          </a:solidFill>
                          <a:latin typeface="Calibri" pitchFamily="34" charset="0"/>
                          <a:ea typeface="Calibri" pitchFamily="34" charset="-122"/>
                          <a:cs typeface="Calibri" pitchFamily="34" charset="-120"/>
                        </a:rPr>
                        <a:t>42.6</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1E2530"/>
                          </a:solidFill>
                          <a:latin typeface="Calibri" pitchFamily="34" charset="0"/>
                          <a:ea typeface="Calibri" pitchFamily="34" charset="-122"/>
                          <a:cs typeface="Calibri" pitchFamily="34" charset="-120"/>
                        </a:rPr>
                        <a:t>49.3</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1E2530"/>
                          </a:solidFill>
                          <a:latin typeface="Calibri" pitchFamily="34" charset="0"/>
                          <a:ea typeface="Calibri" pitchFamily="34" charset="-122"/>
                          <a:cs typeface="Calibri" pitchFamily="34" charset="-120"/>
                        </a:rPr>
                        <a:t>53.3</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1E2530"/>
                          </a:solidFill>
                          <a:latin typeface="Calibri" pitchFamily="34" charset="0"/>
                          <a:ea typeface="Calibri" pitchFamily="34" charset="-122"/>
                          <a:cs typeface="Calibri" pitchFamily="34" charset="-120"/>
                        </a:rPr>
                        <a:t>56.5</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1E2530"/>
                          </a:solidFill>
                          <a:latin typeface="Calibri" pitchFamily="34" charset="0"/>
                          <a:ea typeface="Calibri" pitchFamily="34" charset="-122"/>
                          <a:cs typeface="Calibri" pitchFamily="34" charset="-120"/>
                        </a:rPr>
                        <a:t>58.8</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1E2530"/>
                          </a:solidFill>
                          <a:latin typeface="Calibri" pitchFamily="34" charset="0"/>
                          <a:ea typeface="Calibri" pitchFamily="34" charset="-122"/>
                          <a:cs typeface="Calibri" pitchFamily="34" charset="-120"/>
                        </a:rPr>
                        <a:t>60.9</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38328">
                <a:tc>
                  <a:txBody>
                    <a:bodyPr/>
                    <a:lstStyle/>
                    <a:p>
                      <a:pPr algn="l" indent="0" marL="0">
                        <a:buNone/>
                      </a:pPr>
                      <a:r>
                        <a:rPr lang="en-US" sz="1050" dirty="0">
                          <a:solidFill>
                            <a:srgbClr val="1E2530"/>
                          </a:solidFill>
                          <a:latin typeface="Calibri" pitchFamily="34" charset="0"/>
                          <a:ea typeface="Calibri" pitchFamily="34" charset="-122"/>
                          <a:cs typeface="Calibri" pitchFamily="34" charset="-120"/>
                        </a:rPr>
                        <a:t>− Capex</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1E2530"/>
                          </a:solidFill>
                          <a:latin typeface="Calibri" pitchFamily="34" charset="0"/>
                          <a:ea typeface="Calibri" pitchFamily="34" charset="-122"/>
                          <a:cs typeface="Calibri" pitchFamily="34" charset="-120"/>
                        </a:rPr>
                        <a:t>100.0</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1E2530"/>
                          </a:solidFill>
                          <a:latin typeface="Calibri" pitchFamily="34" charset="0"/>
                          <a:ea typeface="Calibri" pitchFamily="34" charset="-122"/>
                          <a:cs typeface="Calibri" pitchFamily="34" charset="-120"/>
                        </a:rPr>
                        <a:t>110.0</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1E2530"/>
                          </a:solidFill>
                          <a:latin typeface="Calibri" pitchFamily="34" charset="0"/>
                          <a:ea typeface="Calibri" pitchFamily="34" charset="-122"/>
                          <a:cs typeface="Calibri" pitchFamily="34" charset="-120"/>
                        </a:rPr>
                        <a:t>110.0</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1E2530"/>
                          </a:solidFill>
                          <a:latin typeface="Calibri" pitchFamily="34" charset="0"/>
                          <a:ea typeface="Calibri" pitchFamily="34" charset="-122"/>
                          <a:cs typeface="Calibri" pitchFamily="34" charset="-120"/>
                        </a:rPr>
                        <a:t>104.0</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1E2530"/>
                          </a:solidFill>
                          <a:latin typeface="Calibri" pitchFamily="34" charset="0"/>
                          <a:ea typeface="Calibri" pitchFamily="34" charset="-122"/>
                          <a:cs typeface="Calibri" pitchFamily="34" charset="-120"/>
                        </a:rPr>
                        <a:t>108.0</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1E2530"/>
                          </a:solidFill>
                          <a:latin typeface="Calibri" pitchFamily="34" charset="0"/>
                          <a:ea typeface="Calibri" pitchFamily="34" charset="-122"/>
                          <a:cs typeface="Calibri" pitchFamily="34" charset="-120"/>
                        </a:rPr>
                        <a:t>112.0</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38328">
                <a:tc>
                  <a:txBody>
                    <a:bodyPr/>
                    <a:lstStyle/>
                    <a:p>
                      <a:pPr algn="l" indent="0" marL="0">
                        <a:buNone/>
                      </a:pPr>
                      <a:r>
                        <a:rPr lang="en-US" sz="1050" dirty="0">
                          <a:solidFill>
                            <a:srgbClr val="1E2530"/>
                          </a:solidFill>
                          <a:latin typeface="Calibri" pitchFamily="34" charset="0"/>
                          <a:ea typeface="Calibri" pitchFamily="34" charset="-122"/>
                          <a:cs typeface="Calibri" pitchFamily="34" charset="-120"/>
                        </a:rPr>
                        <a:t>− Increase in NWC</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1E2530"/>
                          </a:solidFill>
                          <a:latin typeface="Calibri" pitchFamily="34" charset="0"/>
                          <a:ea typeface="Calibri" pitchFamily="34" charset="-122"/>
                          <a:cs typeface="Calibri" pitchFamily="34" charset="-120"/>
                        </a:rPr>
                        <a:t>7.5</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1E2530"/>
                          </a:solidFill>
                          <a:latin typeface="Calibri" pitchFamily="34" charset="0"/>
                          <a:ea typeface="Calibri" pitchFamily="34" charset="-122"/>
                          <a:cs typeface="Calibri" pitchFamily="34" charset="-120"/>
                        </a:rPr>
                        <a:t>12.9</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1E2530"/>
                          </a:solidFill>
                          <a:latin typeface="Calibri" pitchFamily="34" charset="0"/>
                          <a:ea typeface="Calibri" pitchFamily="34" charset="-122"/>
                          <a:cs typeface="Calibri" pitchFamily="34" charset="-120"/>
                        </a:rPr>
                        <a:t>13.5</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1E2530"/>
                          </a:solidFill>
                          <a:latin typeface="Calibri" pitchFamily="34" charset="0"/>
                          <a:ea typeface="Calibri" pitchFamily="34" charset="-122"/>
                          <a:cs typeface="Calibri" pitchFamily="34" charset="-120"/>
                        </a:rPr>
                        <a:t>12.8</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1E2530"/>
                          </a:solidFill>
                          <a:latin typeface="Calibri" pitchFamily="34" charset="0"/>
                          <a:ea typeface="Calibri" pitchFamily="34" charset="-122"/>
                          <a:cs typeface="Calibri" pitchFamily="34" charset="-120"/>
                        </a:rPr>
                        <a:t>11.9</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1E2530"/>
                          </a:solidFill>
                          <a:latin typeface="Calibri" pitchFamily="34" charset="0"/>
                          <a:ea typeface="Calibri" pitchFamily="34" charset="-122"/>
                          <a:cs typeface="Calibri" pitchFamily="34" charset="-120"/>
                        </a:rPr>
                        <a:t>10.8</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38328">
                <a:tc>
                  <a:txBody>
                    <a:bodyPr/>
                    <a:lstStyle/>
                    <a:p>
                      <a:pPr algn="l" indent="0" marL="0">
                        <a:buNone/>
                      </a:pPr>
                      <a:r>
                        <a:rPr lang="en-US" sz="1050" b="1" dirty="0">
                          <a:solidFill>
                            <a:srgbClr val="1E2530"/>
                          </a:solidFill>
                          <a:latin typeface="Calibri" pitchFamily="34" charset="0"/>
                          <a:ea typeface="Calibri" pitchFamily="34" charset="-122"/>
                          <a:cs typeface="Calibri" pitchFamily="34" charset="-120"/>
                        </a:rPr>
                        <a:t>Unlevered FCF</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b="1" dirty="0">
                          <a:solidFill>
                            <a:srgbClr val="1E2530"/>
                          </a:solidFill>
                          <a:latin typeface="Calibri" pitchFamily="34" charset="0"/>
                          <a:ea typeface="Calibri" pitchFamily="34" charset="-122"/>
                          <a:cs typeface="Calibri" pitchFamily="34" charset="-120"/>
                        </a:rPr>
                        <a:t>129.8</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b="1" dirty="0">
                          <a:solidFill>
                            <a:srgbClr val="1E2530"/>
                          </a:solidFill>
                          <a:latin typeface="Calibri" pitchFamily="34" charset="0"/>
                          <a:ea typeface="Calibri" pitchFamily="34" charset="-122"/>
                          <a:cs typeface="Calibri" pitchFamily="34" charset="-120"/>
                        </a:rPr>
                        <a:t>142.6</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b="1" dirty="0">
                          <a:solidFill>
                            <a:srgbClr val="1E2530"/>
                          </a:solidFill>
                          <a:latin typeface="Calibri" pitchFamily="34" charset="0"/>
                          <a:ea typeface="Calibri" pitchFamily="34" charset="-122"/>
                          <a:cs typeface="Calibri" pitchFamily="34" charset="-120"/>
                        </a:rPr>
                        <a:t>160.8</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b="1" dirty="0">
                          <a:solidFill>
                            <a:srgbClr val="1E2530"/>
                          </a:solidFill>
                          <a:latin typeface="Calibri" pitchFamily="34" charset="0"/>
                          <a:ea typeface="Calibri" pitchFamily="34" charset="-122"/>
                          <a:cs typeface="Calibri" pitchFamily="34" charset="-120"/>
                        </a:rPr>
                        <a:t>183.2</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b="1" dirty="0">
                          <a:solidFill>
                            <a:srgbClr val="1E2530"/>
                          </a:solidFill>
                          <a:latin typeface="Calibri" pitchFamily="34" charset="0"/>
                          <a:ea typeface="Calibri" pitchFamily="34" charset="-122"/>
                          <a:cs typeface="Calibri" pitchFamily="34" charset="-120"/>
                        </a:rPr>
                        <a:t>192.1</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b="1" dirty="0">
                          <a:solidFill>
                            <a:srgbClr val="1E2530"/>
                          </a:solidFill>
                          <a:latin typeface="Calibri" pitchFamily="34" charset="0"/>
                          <a:ea typeface="Calibri" pitchFamily="34" charset="-122"/>
                          <a:cs typeface="Calibri" pitchFamily="34" charset="-120"/>
                        </a:rPr>
                        <a:t>200.1</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38328">
                <a:tc>
                  <a:txBody>
                    <a:bodyPr/>
                    <a:lstStyle/>
                    <a:p>
                      <a:pPr algn="l" indent="0" marL="0">
                        <a:buNone/>
                      </a:pPr>
                      <a:r>
                        <a:rPr lang="en-US" sz="1050" dirty="0">
                          <a:solidFill>
                            <a:srgbClr val="1E2530"/>
                          </a:solidFill>
                          <a:latin typeface="Calibri" pitchFamily="34" charset="0"/>
                          <a:ea typeface="Calibri" pitchFamily="34" charset="-122"/>
                          <a:cs typeface="Calibri" pitchFamily="34" charset="-120"/>
                        </a:rPr>
                        <a:t>PV of FCF</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1E2530"/>
                          </a:solidFill>
                          <a:latin typeface="Calibri" pitchFamily="34" charset="0"/>
                          <a:ea typeface="Calibri" pitchFamily="34" charset="-122"/>
                          <a:cs typeface="Calibri" pitchFamily="34" charset="-120"/>
                        </a:rPr>
                        <a:t>–</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1E2530"/>
                          </a:solidFill>
                          <a:latin typeface="Calibri" pitchFamily="34" charset="0"/>
                          <a:ea typeface="Calibri" pitchFamily="34" charset="-122"/>
                          <a:cs typeface="Calibri" pitchFamily="34" charset="-120"/>
                        </a:rPr>
                        <a:t>130.1</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1E2530"/>
                          </a:solidFill>
                          <a:latin typeface="Calibri" pitchFamily="34" charset="0"/>
                          <a:ea typeface="Calibri" pitchFamily="34" charset="-122"/>
                          <a:cs typeface="Calibri" pitchFamily="34" charset="-120"/>
                        </a:rPr>
                        <a:t>136.2</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1E2530"/>
                          </a:solidFill>
                          <a:latin typeface="Calibri" pitchFamily="34" charset="0"/>
                          <a:ea typeface="Calibri" pitchFamily="34" charset="-122"/>
                          <a:cs typeface="Calibri" pitchFamily="34" charset="-120"/>
                        </a:rPr>
                        <a:t>144.2</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1E2530"/>
                          </a:solidFill>
                          <a:latin typeface="Calibri" pitchFamily="34" charset="0"/>
                          <a:ea typeface="Calibri" pitchFamily="34" charset="-122"/>
                          <a:cs typeface="Calibri" pitchFamily="34" charset="-120"/>
                        </a:rPr>
                        <a:t>140.4</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1E2530"/>
                          </a:solidFill>
                          <a:latin typeface="Calibri" pitchFamily="34" charset="0"/>
                          <a:ea typeface="Calibri" pitchFamily="34" charset="-122"/>
                          <a:cs typeface="Calibri" pitchFamily="34" charset="-120"/>
                        </a:rPr>
                        <a:t>135.9</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bl>
          </a:graphicData>
        </a:graphic>
      </p:graphicFrame>
      <p:sp>
        <p:nvSpPr>
          <p:cNvPr id="7" name="Text 4"/>
          <p:cNvSpPr txBox="1"/>
          <p:nvPr/>
        </p:nvSpPr>
        <p:spPr>
          <a:xfrm>
            <a:off x="457200" y="5120640"/>
            <a:ext cx="7315200" cy="274320"/>
          </a:xfrm>
          <a:prstGeom prst="rect">
            <a:avLst/>
          </a:prstGeom>
          <a:noFill/>
          <a:ln/>
        </p:spPr>
        <p:txBody>
          <a:bodyPr wrap="square" lIns="0" tIns="0" rIns="0" bIns="0" rtlCol="0" anchor="t"/>
          <a:lstStyle/>
          <a:p>
            <a:pPr indent="0" marL="0">
              <a:buNone/>
            </a:pPr>
            <a:r>
              <a:rPr lang="en-US" sz="950" i="1" dirty="0">
                <a:solidFill>
                  <a:srgbClr val="6B7684"/>
                </a:solidFill>
                <a:latin typeface="Calibri" pitchFamily="34" charset="0"/>
                <a:ea typeface="Calibri" pitchFamily="34" charset="-122"/>
                <a:cs typeface="Calibri" pitchFamily="34" charset="-120"/>
              </a:rPr>
              <a:t>FY26E shown for reference, not discounted (conservative). End-year discounting from 1 Oct 2026.</a:t>
            </a:r>
            <a:endParaRPr lang="en-US" sz="950" dirty="0"/>
          </a:p>
        </p:txBody>
      </p:sp>
      <p:graphicFrame>
        <p:nvGraphicFramePr>
          <p:cNvPr id="15" name="Table 1"/>
          <p:cNvGraphicFramePr>
            <a:graphicFrameLocks noGrp="1"/>
          </p:cNvGraphicFramePr>
          <p:nvPr>
            <p:extLst>
              <p:ext uri="{D42A27DB-BD31-4B8C-83A1-F6EECF244321}">
                <p14:modId xmlns:p14="http://schemas.microsoft.com/office/powerpoint/2010/main" val="1579011935"/>
              </p:ext>
            </p:extLst>
          </p:nvPr>
        </p:nvGraphicFramePr>
        <p:xfrm>
          <a:off x="8092440" y="1645920"/>
          <a:ext cx="3639312" cy="914400"/>
        </p:xfrm>
        <a:graphic>
          <a:graphicData uri="http://schemas.openxmlformats.org/drawingml/2006/table">
            <a:tbl>
              <a:tblPr/>
              <a:tblGrid>
                <a:gridCol w="2450592"/>
                <a:gridCol w="1188720"/>
              </a:tblGrid>
              <a:tr h="338328">
                <a:tc>
                  <a:txBody>
                    <a:bodyPr/>
                    <a:lstStyle/>
                    <a:p>
                      <a:pPr algn="l" indent="0" marL="0">
                        <a:buNone/>
                      </a:pPr>
                      <a:r>
                        <a:rPr lang="en-US" sz="1050" b="1" dirty="0">
                          <a:solidFill>
                            <a:srgbClr val="FFFFFF"/>
                          </a:solidFill>
                          <a:latin typeface="Calibri" pitchFamily="34" charset="0"/>
                          <a:ea typeface="Calibri" pitchFamily="34" charset="-122"/>
                          <a:cs typeface="Calibri" pitchFamily="34" charset="-120"/>
                        </a:rPr>
                        <a:t>WACC &amp; value</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ctr" indent="0" marL="0">
                        <a:buNone/>
                      </a:pP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r>
              <a:tr h="338328">
                <a:tc>
                  <a:txBody>
                    <a:bodyPr/>
                    <a:lstStyle/>
                    <a:p>
                      <a:pPr algn="l" indent="0" marL="0">
                        <a:buNone/>
                      </a:pPr>
                      <a:r>
                        <a:rPr lang="en-US" sz="1050" dirty="0">
                          <a:solidFill>
                            <a:srgbClr val="1E2530"/>
                          </a:solidFill>
                          <a:latin typeface="Calibri" pitchFamily="34" charset="0"/>
                          <a:ea typeface="Calibri" pitchFamily="34" charset="-122"/>
                          <a:cs typeface="Calibri" pitchFamily="34" charset="-120"/>
                        </a:rPr>
                        <a:t>Cost of equity (Rf 3.58% + 0.85 × 5.5%)</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1E2530"/>
                          </a:solidFill>
                          <a:latin typeface="Calibri" pitchFamily="34" charset="0"/>
                          <a:ea typeface="Calibri" pitchFamily="34" charset="-122"/>
                          <a:cs typeface="Calibri" pitchFamily="34" charset="-120"/>
                        </a:rPr>
                        <a:t>8.3%</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38328">
                <a:tc>
                  <a:txBody>
                    <a:bodyPr/>
                    <a:lstStyle/>
                    <a:p>
                      <a:pPr algn="l" indent="0" marL="0">
                        <a:buNone/>
                      </a:pPr>
                      <a:r>
                        <a:rPr lang="en-US" sz="1050" dirty="0">
                          <a:solidFill>
                            <a:srgbClr val="1E2530"/>
                          </a:solidFill>
                          <a:latin typeface="Calibri" pitchFamily="34" charset="0"/>
                          <a:ea typeface="Calibri" pitchFamily="34" charset="-122"/>
                          <a:cs typeface="Calibri" pitchFamily="34" charset="-120"/>
                        </a:rPr>
                        <a:t>After-tax cost of debt</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1E2530"/>
                          </a:solidFill>
                          <a:latin typeface="Calibri" pitchFamily="34" charset="0"/>
                          <a:ea typeface="Calibri" pitchFamily="34" charset="-122"/>
                          <a:cs typeface="Calibri" pitchFamily="34" charset="-120"/>
                        </a:rPr>
                        <a:t>3.0%</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38328">
                <a:tc>
                  <a:txBody>
                    <a:bodyPr/>
                    <a:lstStyle/>
                    <a:p>
                      <a:pPr algn="l" indent="0" marL="0">
                        <a:buNone/>
                      </a:pPr>
                      <a:r>
                        <a:rPr lang="en-US" sz="1050" dirty="0">
                          <a:solidFill>
                            <a:srgbClr val="1E2530"/>
                          </a:solidFill>
                          <a:latin typeface="Calibri" pitchFamily="34" charset="0"/>
                          <a:ea typeface="Calibri" pitchFamily="34" charset="-122"/>
                          <a:cs typeface="Calibri" pitchFamily="34" charset="-120"/>
                        </a:rPr>
                        <a:t>Weights E / D (market)</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1E2530"/>
                          </a:solidFill>
                          <a:latin typeface="Calibri" pitchFamily="34" charset="0"/>
                          <a:ea typeface="Calibri" pitchFamily="34" charset="-122"/>
                          <a:cs typeface="Calibri" pitchFamily="34" charset="-120"/>
                        </a:rPr>
                        <a:t>89% / 11%</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38328">
                <a:tc>
                  <a:txBody>
                    <a:bodyPr/>
                    <a:lstStyle/>
                    <a:p>
                      <a:pPr algn="l" indent="0" marL="0">
                        <a:buNone/>
                      </a:pPr>
                      <a:r>
                        <a:rPr lang="en-US" sz="1050" b="1" dirty="0">
                          <a:solidFill>
                            <a:srgbClr val="1E2530"/>
                          </a:solidFill>
                          <a:latin typeface="Calibri" pitchFamily="34" charset="0"/>
                          <a:ea typeface="Calibri" pitchFamily="34" charset="-122"/>
                          <a:cs typeface="Calibri" pitchFamily="34" charset="-120"/>
                        </a:rPr>
                        <a:t>WACC · terminal growth</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b="1" dirty="0">
                          <a:solidFill>
                            <a:srgbClr val="1E2530"/>
                          </a:solidFill>
                          <a:latin typeface="Calibri" pitchFamily="34" charset="0"/>
                          <a:ea typeface="Calibri" pitchFamily="34" charset="-122"/>
                          <a:cs typeface="Calibri" pitchFamily="34" charset="-120"/>
                        </a:rPr>
                        <a:t>7.65% · 2.0%</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38328">
                <a:tc>
                  <a:txBody>
                    <a:bodyPr/>
                    <a:lstStyle/>
                    <a:p>
                      <a:pPr algn="l" indent="0" marL="0">
                        <a:buNone/>
                      </a:pPr>
                      <a:r>
                        <a:rPr lang="en-US" sz="1050" dirty="0">
                          <a:solidFill>
                            <a:srgbClr val="1E2530"/>
                          </a:solidFill>
                          <a:latin typeface="Calibri" pitchFamily="34" charset="0"/>
                          <a:ea typeface="Calibri" pitchFamily="34" charset="-122"/>
                          <a:cs typeface="Calibri" pitchFamily="34" charset="-120"/>
                        </a:rPr>
                        <a:t>PV FCF FY27–31</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1E2530"/>
                          </a:solidFill>
                          <a:latin typeface="Calibri" pitchFamily="34" charset="0"/>
                          <a:ea typeface="Calibri" pitchFamily="34" charset="-122"/>
                          <a:cs typeface="Calibri" pitchFamily="34" charset="-120"/>
                        </a:rPr>
                        <a:t>€687M</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38328">
                <a:tc>
                  <a:txBody>
                    <a:bodyPr/>
                    <a:lstStyle/>
                    <a:p>
                      <a:pPr algn="l" indent="0" marL="0">
                        <a:buNone/>
                      </a:pPr>
                      <a:r>
                        <a:rPr lang="en-US" sz="1050" dirty="0">
                          <a:solidFill>
                            <a:srgbClr val="1E2530"/>
                          </a:solidFill>
                          <a:latin typeface="Calibri" pitchFamily="34" charset="0"/>
                          <a:ea typeface="Calibri" pitchFamily="34" charset="-122"/>
                          <a:cs typeface="Calibri" pitchFamily="34" charset="-120"/>
                        </a:rPr>
                        <a:t>PV terminal value</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1E2530"/>
                          </a:solidFill>
                          <a:latin typeface="Calibri" pitchFamily="34" charset="0"/>
                          <a:ea typeface="Calibri" pitchFamily="34" charset="-122"/>
                          <a:cs typeface="Calibri" pitchFamily="34" charset="-120"/>
                        </a:rPr>
                        <a:t>€2451M</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38328">
                <a:tc>
                  <a:txBody>
                    <a:bodyPr/>
                    <a:lstStyle/>
                    <a:p>
                      <a:pPr algn="l" indent="0" marL="0">
                        <a:buNone/>
                      </a:pPr>
                      <a:r>
                        <a:rPr lang="en-US" sz="1050" dirty="0">
                          <a:solidFill>
                            <a:srgbClr val="1E2530"/>
                          </a:solidFill>
                          <a:latin typeface="Calibri" pitchFamily="34" charset="0"/>
                          <a:ea typeface="Calibri" pitchFamily="34" charset="-122"/>
                          <a:cs typeface="Calibri" pitchFamily="34" charset="-120"/>
                        </a:rPr>
                        <a:t>Enterprise value</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1E2530"/>
                          </a:solidFill>
                          <a:latin typeface="Calibri" pitchFamily="34" charset="0"/>
                          <a:ea typeface="Calibri" pitchFamily="34" charset="-122"/>
                          <a:cs typeface="Calibri" pitchFamily="34" charset="-120"/>
                        </a:rPr>
                        <a:t>€3138M</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38328">
                <a:tc>
                  <a:txBody>
                    <a:bodyPr/>
                    <a:lstStyle/>
                    <a:p>
                      <a:pPr algn="l" indent="0" marL="0">
                        <a:buNone/>
                      </a:pPr>
                      <a:r>
                        <a:rPr lang="en-US" sz="1050" dirty="0">
                          <a:solidFill>
                            <a:srgbClr val="1E2530"/>
                          </a:solidFill>
                          <a:latin typeface="Calibri" pitchFamily="34" charset="0"/>
                          <a:ea typeface="Calibri" pitchFamily="34" charset="-122"/>
                          <a:cs typeface="Calibri" pitchFamily="34" charset="-120"/>
                        </a:rPr>
                        <a:t>− Net debt (incl. leases)</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dirty="0">
                          <a:solidFill>
                            <a:srgbClr val="1E2530"/>
                          </a:solidFill>
                          <a:latin typeface="Calibri" pitchFamily="34" charset="0"/>
                          <a:ea typeface="Calibri" pitchFamily="34" charset="-122"/>
                          <a:cs typeface="Calibri" pitchFamily="34" charset="-120"/>
                        </a:rPr>
                        <a:t>€318M</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38328">
                <a:tc>
                  <a:txBody>
                    <a:bodyPr/>
                    <a:lstStyle/>
                    <a:p>
                      <a:pPr algn="l" indent="0" marL="0">
                        <a:buNone/>
                      </a:pPr>
                      <a:r>
                        <a:rPr lang="en-US" sz="1050" b="1" dirty="0">
                          <a:solidFill>
                            <a:srgbClr val="1E2530"/>
                          </a:solidFill>
                          <a:latin typeface="Calibri" pitchFamily="34" charset="0"/>
                          <a:ea typeface="Calibri" pitchFamily="34" charset="-122"/>
                          <a:cs typeface="Calibri" pitchFamily="34" charset="-120"/>
                        </a:rPr>
                        <a:t>Value per share</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050" b="1" dirty="0">
                          <a:solidFill>
                            <a:srgbClr val="1E2530"/>
                          </a:solidFill>
                          <a:latin typeface="Calibri" pitchFamily="34" charset="0"/>
                          <a:ea typeface="Calibri" pitchFamily="34" charset="-122"/>
                          <a:cs typeface="Calibri" pitchFamily="34" charset="-120"/>
                        </a:rPr>
                        <a:t>€61.04</a:t>
                      </a:r>
                      <a:endParaRPr lang="en-US" sz="105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bl>
          </a:graphicData>
        </a:graphic>
      </p:graphicFrame>
      <p:sp>
        <p:nvSpPr>
          <p:cNvPr id="9" name="Text 5"/>
          <p:cNvSpPr txBox="1"/>
          <p:nvPr/>
        </p:nvSpPr>
        <p:spPr>
          <a:xfrm>
            <a:off x="8092440" y="5166360"/>
            <a:ext cx="3639312" cy="914400"/>
          </a:xfrm>
          <a:prstGeom prst="rect">
            <a:avLst/>
          </a:prstGeom>
          <a:noFill/>
          <a:ln/>
        </p:spPr>
        <p:txBody>
          <a:bodyPr wrap="square" lIns="0" tIns="0" rIns="0" bIns="0" rtlCol="0" anchor="t"/>
          <a:lstStyle/>
          <a:p>
            <a:pPr marL="152400" indent="-152400">
              <a:spcAft>
                <a:spcPts val="400"/>
              </a:spcAft>
              <a:buSzPct val="100000"/>
              <a:buChar char="•"/>
            </a:pPr>
            <a:r>
              <a:rPr lang="en-US" sz="1000" dirty="0">
                <a:solidFill>
                  <a:srgbClr val="1E2530"/>
                </a:solidFill>
                <a:latin typeface="Calibri" pitchFamily="34" charset="0"/>
                <a:ea typeface="Calibri" pitchFamily="34" charset="-122"/>
                <a:cs typeface="Calibri" pitchFamily="34" charset="-120"/>
              </a:rPr>
              <a:t>Terminal value 78% of EV; implied exit 9.4x FY31 EBITDA, below today's 10x</a:t>
            </a:r>
            <a:endParaRPr lang="en-US" sz="1000" dirty="0"/>
          </a:p>
          <a:p>
            <a:pPr marL="152400" indent="-152400">
              <a:spcAft>
                <a:spcPts val="400"/>
              </a:spcAft>
              <a:buSzPct val="100000"/>
              <a:buChar char="•"/>
            </a:pPr>
            <a:r>
              <a:rPr lang="en-US" sz="1000" dirty="0">
                <a:solidFill>
                  <a:srgbClr val="1E2530"/>
                </a:solidFill>
                <a:latin typeface="Calibri" pitchFamily="34" charset="0"/>
                <a:ea typeface="Calibri" pitchFamily="34" charset="-122"/>
                <a:cs typeface="Calibri" pitchFamily="34" charset="-120"/>
              </a:rPr>
              <a:t>Margins capped at 24%, inside the 21.5–25% FY21–LTM range</a:t>
            </a:r>
            <a:endParaRPr lang="en-US" sz="1000" dirty="0"/>
          </a:p>
        </p:txBody>
      </p:sp>
      <p:sp>
        <p:nvSpPr>
          <p:cNvPr id="10" name="Text 6"/>
          <p:cNvSpPr txBox="1"/>
          <p:nvPr/>
        </p:nvSpPr>
        <p:spPr>
          <a:xfrm>
            <a:off x="457200" y="6473952"/>
            <a:ext cx="10180015" cy="274320"/>
          </a:xfrm>
          <a:prstGeom prst="rect">
            <a:avLst/>
          </a:prstGeom>
          <a:noFill/>
          <a:ln/>
        </p:spPr>
        <p:txBody>
          <a:bodyPr wrap="square" lIns="0" tIns="0" rIns="0" bIns="0" rtlCol="0" anchor="b"/>
          <a:lstStyle/>
          <a:p>
            <a:pPr indent="0" marL="0">
              <a:buNone/>
            </a:pPr>
            <a:r>
              <a:rPr lang="en-US" sz="850" dirty="0">
                <a:solidFill>
                  <a:srgbClr val="6B7684"/>
                </a:solidFill>
                <a:latin typeface="Calibri" pitchFamily="34" charset="0"/>
                <a:ea typeface="Calibri" pitchFamily="34" charset="-122"/>
                <a:cs typeface="Calibri" pitchFamily="34" charset="-120"/>
              </a:rPr>
              <a:t>Sources: team model; Viscofan 1H26 presentation (capex €100M FY26, D&amp;A, tax rate); S&amp;P Capital IQ (Spain 10Y). Beta and ERP are team assumptions.</a:t>
            </a:r>
            <a:endParaRPr lang="en-US" sz="850" dirty="0"/>
          </a:p>
        </p:txBody>
      </p:sp>
      <p:sp>
        <p:nvSpPr>
          <p:cNvPr id="11" name="Text 7"/>
          <p:cNvSpPr txBox="1"/>
          <p:nvPr/>
        </p:nvSpPr>
        <p:spPr>
          <a:xfrm>
            <a:off x="8991295" y="6473952"/>
            <a:ext cx="2743200" cy="274320"/>
          </a:xfrm>
          <a:prstGeom prst="rect">
            <a:avLst/>
          </a:prstGeom>
          <a:noFill/>
          <a:ln/>
        </p:spPr>
        <p:txBody>
          <a:bodyPr wrap="square" lIns="0" tIns="0" rIns="0" bIns="0" rtlCol="0" anchor="b"/>
          <a:lstStyle/>
          <a:p>
            <a:pPr algn="r" indent="0" marL="0">
              <a:buNone/>
            </a:pPr>
            <a:r>
              <a:rPr lang="en-US" sz="850" dirty="0">
                <a:solidFill>
                  <a:srgbClr val="6B7684"/>
                </a:solidFill>
                <a:latin typeface="Calibri" pitchFamily="34" charset="0"/>
                <a:ea typeface="Calibri" pitchFamily="34" charset="-122"/>
                <a:cs typeface="Calibri" pitchFamily="34" charset="-120"/>
              </a:rPr>
              <a:t>HF &amp; Quant A · Viscofan (BME:VIS)</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84048" cy="384048"/>
          </a:xfrm>
          <a:prstGeom prst="ellipse">
            <a:avLst/>
          </a:prstGeom>
          <a:solidFill>
            <a:srgbClr val="E8702A"/>
          </a:solidFill>
          <a:ln w="12700">
            <a:solidFill>
              <a:srgbClr val="E8702A"/>
            </a:solidFill>
            <a:prstDash val="solid"/>
          </a:ln>
        </p:spPr>
      </p:sp>
      <p:sp>
        <p:nvSpPr>
          <p:cNvPr id="3" name="Text 1"/>
          <p:cNvSpPr txBox="1"/>
          <p:nvPr/>
        </p:nvSpPr>
        <p:spPr>
          <a:xfrm>
            <a:off x="457200" y="34747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A3</a:t>
            </a:r>
            <a:endParaRPr lang="en-US" sz="1100" dirty="0"/>
          </a:p>
        </p:txBody>
      </p:sp>
      <p:sp>
        <p:nvSpPr>
          <p:cNvPr id="4" name="Text 2"/>
          <p:cNvSpPr txBox="1"/>
          <p:nvPr/>
        </p:nvSpPr>
        <p:spPr>
          <a:xfrm>
            <a:off x="960120" y="347472"/>
            <a:ext cx="7315200" cy="384048"/>
          </a:xfrm>
          <a:prstGeom prst="rect">
            <a:avLst/>
          </a:prstGeom>
          <a:noFill/>
          <a:ln/>
        </p:spPr>
        <p:txBody>
          <a:bodyPr wrap="square" lIns="0" tIns="0" rIns="0" bIns="0" rtlCol="0" anchor="ctr"/>
          <a:lstStyle/>
          <a:p>
            <a:pPr indent="0" marL="0">
              <a:buNone/>
            </a:pPr>
            <a:r>
              <a:rPr lang="en-US" sz="1100" b="1" spc="200" kern="0" dirty="0">
                <a:solidFill>
                  <a:srgbClr val="5B7083"/>
                </a:solidFill>
                <a:latin typeface="Calibri" pitchFamily="34" charset="0"/>
                <a:ea typeface="Calibri" pitchFamily="34" charset="-122"/>
                <a:cs typeface="Calibri" pitchFamily="34" charset="-120"/>
              </a:rPr>
              <a:t>APPENDIX · SENSITIVITIES</a:t>
            </a:r>
            <a:endParaRPr lang="en-US" sz="1100" dirty="0"/>
          </a:p>
        </p:txBody>
      </p:sp>
      <p:sp>
        <p:nvSpPr>
          <p:cNvPr id="5" name="Text 3"/>
          <p:cNvSpPr txBox="1"/>
          <p:nvPr/>
        </p:nvSpPr>
        <p:spPr>
          <a:xfrm>
            <a:off x="457200" y="777240"/>
            <a:ext cx="11277295" cy="685800"/>
          </a:xfrm>
          <a:prstGeom prst="rect">
            <a:avLst/>
          </a:prstGeom>
          <a:noFill/>
          <a:ln/>
        </p:spPr>
        <p:txBody>
          <a:bodyPr wrap="square" lIns="0" tIns="0" rIns="0" bIns="0" rtlCol="0" anchor="t"/>
          <a:lstStyle/>
          <a:p>
            <a:pPr indent="0" marL="0">
              <a:buNone/>
            </a:pPr>
            <a:r>
              <a:rPr lang="en-US" sz="2400" b="1" dirty="0">
                <a:solidFill>
                  <a:srgbClr val="14213D"/>
                </a:solidFill>
                <a:latin typeface="Cambria" pitchFamily="34" charset="0"/>
                <a:ea typeface="Cambria" pitchFamily="34" charset="-122"/>
                <a:cs typeface="Cambria" pitchFamily="34" charset="-120"/>
              </a:rPr>
              <a:t>Sensitivities: the upside holds across most reasonable WACC, growth and multiple assumptions</a:t>
            </a:r>
            <a:endParaRPr lang="en-US" sz="2400" dirty="0"/>
          </a:p>
        </p:txBody>
      </p:sp>
      <p:sp>
        <p:nvSpPr>
          <p:cNvPr id="6" name="Text 4"/>
          <p:cNvSpPr txBox="1"/>
          <p:nvPr/>
        </p:nvSpPr>
        <p:spPr>
          <a:xfrm>
            <a:off x="457200" y="1645920"/>
            <a:ext cx="5486400" cy="320040"/>
          </a:xfrm>
          <a:prstGeom prst="rect">
            <a:avLst/>
          </a:prstGeom>
          <a:noFill/>
          <a:ln/>
        </p:spPr>
        <p:txBody>
          <a:bodyPr wrap="square" lIns="0" tIns="0" rIns="0" bIns="0" rtlCol="0" anchor="t"/>
          <a:lstStyle/>
          <a:p>
            <a:pPr indent="0" marL="0">
              <a:buNone/>
            </a:pPr>
            <a:r>
              <a:rPr lang="en-US" sz="1400" b="1" dirty="0">
                <a:solidFill>
                  <a:srgbClr val="14213D"/>
                </a:solidFill>
                <a:latin typeface="Cambria" pitchFamily="34" charset="0"/>
                <a:ea typeface="Cambria" pitchFamily="34" charset="-122"/>
                <a:cs typeface="Cambria" pitchFamily="34" charset="-120"/>
              </a:rPr>
              <a:t>DCF value per share (€): WACC × terminal growth</a:t>
            </a:r>
            <a:endParaRPr lang="en-US" sz="14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457200" y="2057400"/>
          <a:ext cx="5394960" cy="914400"/>
        </p:xfrm>
        <a:graphic>
          <a:graphicData uri="http://schemas.openxmlformats.org/drawingml/2006/table">
            <a:tbl>
              <a:tblPr/>
              <a:tblGrid>
                <a:gridCol w="1051560"/>
                <a:gridCol w="868680"/>
                <a:gridCol w="868680"/>
                <a:gridCol w="868680"/>
                <a:gridCol w="868680"/>
                <a:gridCol w="868680"/>
              </a:tblGrid>
              <a:tr h="38404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WACC \ g</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1.0%</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1.5%</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2.0%</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2.5%</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3.0%</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r>
              <a:tr h="384048">
                <a:tc>
                  <a:txBody>
                    <a:bodyPr/>
                    <a:lstStyle/>
                    <a:p>
                      <a:pPr algn="ctr" indent="0" marL="0">
                        <a:buNone/>
                      </a:pPr>
                      <a:r>
                        <a:rPr lang="en-US" sz="1100" b="1" dirty="0">
                          <a:solidFill>
                            <a:srgbClr val="1E2530"/>
                          </a:solidFill>
                          <a:latin typeface="Calibri" pitchFamily="34" charset="0"/>
                          <a:ea typeface="Calibri" pitchFamily="34" charset="-122"/>
                          <a:cs typeface="Calibri" pitchFamily="34" charset="-120"/>
                        </a:rPr>
                        <a:t>6.5%</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€65.7</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€71.7</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€79.1</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€88.3</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€100.1</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r>
              <a:tr h="384048">
                <a:tc>
                  <a:txBody>
                    <a:bodyPr/>
                    <a:lstStyle/>
                    <a:p>
                      <a:pPr algn="ctr" indent="0" marL="0">
                        <a:buNone/>
                      </a:pPr>
                      <a:r>
                        <a:rPr lang="en-US" sz="1100" b="1" dirty="0">
                          <a:solidFill>
                            <a:srgbClr val="1E2530"/>
                          </a:solidFill>
                          <a:latin typeface="Calibri" pitchFamily="34" charset="0"/>
                          <a:ea typeface="Calibri" pitchFamily="34" charset="-122"/>
                          <a:cs typeface="Calibri" pitchFamily="34" charset="-120"/>
                        </a:rPr>
                        <a:t>7.0%</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€59.4</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€64.3</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€70.2</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€77.5</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€86.5</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r>
              <a:tr h="384048">
                <a:tc>
                  <a:txBody>
                    <a:bodyPr/>
                    <a:lstStyle/>
                    <a:p>
                      <a:pPr algn="ctr" indent="0" marL="0">
                        <a:buNone/>
                      </a:pPr>
                      <a:r>
                        <a:rPr lang="en-US" sz="1100" b="1" dirty="0">
                          <a:solidFill>
                            <a:srgbClr val="1E2530"/>
                          </a:solidFill>
                          <a:latin typeface="Calibri" pitchFamily="34" charset="0"/>
                          <a:ea typeface="Calibri" pitchFamily="34" charset="-122"/>
                          <a:cs typeface="Calibri" pitchFamily="34" charset="-120"/>
                        </a:rPr>
                        <a:t>7.5%</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€54.1</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€58.2</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€63.0</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€68.8</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€75.9</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r>
              <a:tr h="384048">
                <a:tc>
                  <a:txBody>
                    <a:bodyPr/>
                    <a:lstStyle/>
                    <a:p>
                      <a:pPr algn="ctr" indent="0" marL="0">
                        <a:buNone/>
                      </a:pPr>
                      <a:r>
                        <a:rPr lang="en-US" sz="1100" b="1" dirty="0">
                          <a:solidFill>
                            <a:srgbClr val="1E2530"/>
                          </a:solidFill>
                          <a:latin typeface="Calibri" pitchFamily="34" charset="0"/>
                          <a:ea typeface="Calibri" pitchFamily="34" charset="-122"/>
                          <a:cs typeface="Calibri" pitchFamily="34" charset="-120"/>
                        </a:rPr>
                        <a:t>8.0%</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€49.6</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8E1DE"/>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€53.0</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8E1DE"/>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€57.0</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€61.7</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€67.4</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r>
              <a:tr h="384048">
                <a:tc>
                  <a:txBody>
                    <a:bodyPr/>
                    <a:lstStyle/>
                    <a:p>
                      <a:pPr algn="ctr" indent="0" marL="0">
                        <a:buNone/>
                      </a:pPr>
                      <a:r>
                        <a:rPr lang="en-US" sz="1100" b="1" dirty="0">
                          <a:solidFill>
                            <a:srgbClr val="1E2530"/>
                          </a:solidFill>
                          <a:latin typeface="Calibri" pitchFamily="34" charset="0"/>
                          <a:ea typeface="Calibri" pitchFamily="34" charset="-122"/>
                          <a:cs typeface="Calibri" pitchFamily="34" charset="-120"/>
                        </a:rPr>
                        <a:t>8.5%</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€45.6</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8E1DE"/>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€48.5</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8E1DE"/>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€51.9</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8E1DE"/>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€55.8</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€60.5</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r>
              <a:tr h="384048">
                <a:tc>
                  <a:txBody>
                    <a:bodyPr/>
                    <a:lstStyle/>
                    <a:p>
                      <a:pPr algn="ctr" indent="0" marL="0">
                        <a:buNone/>
                      </a:pPr>
                      <a:r>
                        <a:rPr lang="en-US" sz="1100" b="1" dirty="0">
                          <a:solidFill>
                            <a:srgbClr val="1E2530"/>
                          </a:solidFill>
                          <a:latin typeface="Calibri" pitchFamily="34" charset="0"/>
                          <a:ea typeface="Calibri" pitchFamily="34" charset="-122"/>
                          <a:cs typeface="Calibri" pitchFamily="34" charset="-120"/>
                        </a:rPr>
                        <a:t>9.0%</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€42.2</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8E1DE"/>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€44.7</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8E1DE"/>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€47.5</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8E1DE"/>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€50.8</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8E1DE"/>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€54.7</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r>
            </a:tbl>
          </a:graphicData>
        </a:graphic>
      </p:graphicFrame>
      <p:sp>
        <p:nvSpPr>
          <p:cNvPr id="8" name="Text 5"/>
          <p:cNvSpPr txBox="1"/>
          <p:nvPr/>
        </p:nvSpPr>
        <p:spPr>
          <a:xfrm>
            <a:off x="6309360" y="1645920"/>
            <a:ext cx="5486400" cy="320040"/>
          </a:xfrm>
          <a:prstGeom prst="rect">
            <a:avLst/>
          </a:prstGeom>
          <a:noFill/>
          <a:ln/>
        </p:spPr>
        <p:txBody>
          <a:bodyPr wrap="square" lIns="0" tIns="0" rIns="0" bIns="0" rtlCol="0" anchor="t"/>
          <a:lstStyle/>
          <a:p>
            <a:pPr indent="0" marL="0">
              <a:buNone/>
            </a:pPr>
            <a:r>
              <a:rPr lang="en-US" sz="1400" b="1" dirty="0">
                <a:solidFill>
                  <a:srgbClr val="14213D"/>
                </a:solidFill>
                <a:latin typeface="Cambria" pitchFamily="34" charset="0"/>
                <a:ea typeface="Cambria" pitchFamily="34" charset="-122"/>
                <a:cs typeface="Cambria" pitchFamily="34" charset="-120"/>
              </a:rPr>
              <a:t>Exit value per share (€): FY27E EBITDA × EV/EBITDA</a:t>
            </a:r>
            <a:endParaRPr lang="en-US" sz="1400" dirty="0"/>
          </a:p>
        </p:txBody>
      </p:sp>
      <p:graphicFrame>
        <p:nvGraphicFramePr>
          <p:cNvPr id="17" name="Table 1"/>
          <p:cNvGraphicFramePr>
            <a:graphicFrameLocks noGrp="1"/>
          </p:cNvGraphicFramePr>
          <p:nvPr>
            <p:extLst>
              <p:ext uri="{D42A27DB-BD31-4B8C-83A1-F6EECF244321}">
                <p14:modId xmlns:p14="http://schemas.microsoft.com/office/powerpoint/2010/main" val="1579011935"/>
              </p:ext>
            </p:extLst>
          </p:nvPr>
        </p:nvGraphicFramePr>
        <p:xfrm>
          <a:off x="6309360" y="2057400"/>
          <a:ext cx="5422392" cy="914400"/>
        </p:xfrm>
        <a:graphic>
          <a:graphicData uri="http://schemas.openxmlformats.org/drawingml/2006/table">
            <a:tbl>
              <a:tblPr/>
              <a:tblGrid>
                <a:gridCol w="1536192"/>
                <a:gridCol w="777240"/>
                <a:gridCol w="777240"/>
                <a:gridCol w="777240"/>
                <a:gridCol w="777240"/>
                <a:gridCol w="777240"/>
              </a:tblGrid>
              <a:tr h="384048">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EBITDA \ x</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8.0x</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9.0x</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10.0x</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11.0x</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12.0x</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r>
              <a:tr h="384048">
                <a:tc>
                  <a:txBody>
                    <a:bodyPr/>
                    <a:lstStyle/>
                    <a:p>
                      <a:pPr algn="ctr" indent="0" marL="0">
                        <a:buNone/>
                      </a:pPr>
                      <a:r>
                        <a:rPr lang="en-US" sz="1100" b="1" dirty="0">
                          <a:solidFill>
                            <a:srgbClr val="1E2530"/>
                          </a:solidFill>
                          <a:latin typeface="Calibri" pitchFamily="34" charset="0"/>
                          <a:ea typeface="Calibri" pitchFamily="34" charset="-122"/>
                          <a:cs typeface="Calibri" pitchFamily="34" charset="-120"/>
                        </a:rPr>
                        <a:t>€280M</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€41.6</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8E1DE"/>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€47.7</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8E1DE"/>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€53.7</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€59.8</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€65.8</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r>
              <a:tr h="384048">
                <a:tc>
                  <a:txBody>
                    <a:bodyPr/>
                    <a:lstStyle/>
                    <a:p>
                      <a:pPr algn="ctr" indent="0" marL="0">
                        <a:buNone/>
                      </a:pPr>
                      <a:r>
                        <a:rPr lang="en-US" sz="1100" b="1" dirty="0">
                          <a:solidFill>
                            <a:srgbClr val="1E2530"/>
                          </a:solidFill>
                          <a:latin typeface="Calibri" pitchFamily="34" charset="0"/>
                          <a:ea typeface="Calibri" pitchFamily="34" charset="-122"/>
                          <a:cs typeface="Calibri" pitchFamily="34" charset="-120"/>
                        </a:rPr>
                        <a:t>€290M</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€43.3</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8E1DE"/>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€49.6</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8E1DE"/>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€55.9</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€62.2</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€68.4</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r>
              <a:tr h="384048">
                <a:tc>
                  <a:txBody>
                    <a:bodyPr/>
                    <a:lstStyle/>
                    <a:p>
                      <a:pPr algn="ctr" indent="0" marL="0">
                        <a:buNone/>
                      </a:pPr>
                      <a:r>
                        <a:rPr lang="en-US" sz="1100" b="1" dirty="0">
                          <a:solidFill>
                            <a:srgbClr val="1E2530"/>
                          </a:solidFill>
                          <a:latin typeface="Calibri" pitchFamily="34" charset="0"/>
                          <a:ea typeface="Calibri" pitchFamily="34" charset="-122"/>
                          <a:cs typeface="Calibri" pitchFamily="34" charset="-120"/>
                        </a:rPr>
                        <a:t>€300M</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€45.1</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8E1DE"/>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€51.6</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8E1DE"/>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€58.1</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€64.5</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€71.0</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r>
              <a:tr h="384048">
                <a:tc>
                  <a:txBody>
                    <a:bodyPr/>
                    <a:lstStyle/>
                    <a:p>
                      <a:pPr algn="ctr" indent="0" marL="0">
                        <a:buNone/>
                      </a:pPr>
                      <a:r>
                        <a:rPr lang="en-US" sz="1100" b="1" dirty="0">
                          <a:solidFill>
                            <a:srgbClr val="1E2530"/>
                          </a:solidFill>
                          <a:latin typeface="Calibri" pitchFamily="34" charset="0"/>
                          <a:ea typeface="Calibri" pitchFamily="34" charset="-122"/>
                          <a:cs typeface="Calibri" pitchFamily="34" charset="-120"/>
                        </a:rPr>
                        <a:t>€315M (base)</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€47.7</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8E1DE"/>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€54.5</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€61.3</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€68.1</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€74.9</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r>
              <a:tr h="384048">
                <a:tc>
                  <a:txBody>
                    <a:bodyPr/>
                    <a:lstStyle/>
                    <a:p>
                      <a:pPr algn="ctr" indent="0" marL="0">
                        <a:buNone/>
                      </a:pPr>
                      <a:r>
                        <a:rPr lang="en-US" sz="1100" b="1" dirty="0">
                          <a:solidFill>
                            <a:srgbClr val="1E2530"/>
                          </a:solidFill>
                          <a:latin typeface="Calibri" pitchFamily="34" charset="0"/>
                          <a:ea typeface="Calibri" pitchFamily="34" charset="-122"/>
                          <a:cs typeface="Calibri" pitchFamily="34" charset="-120"/>
                        </a:rPr>
                        <a:t>€328M (cons.)</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€49.9</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8E1DE"/>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€57.0</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€64.1</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€71.2</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€78.3</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r>
              <a:tr h="384048">
                <a:tc>
                  <a:txBody>
                    <a:bodyPr/>
                    <a:lstStyle/>
                    <a:p>
                      <a:pPr algn="ctr" indent="0" marL="0">
                        <a:buNone/>
                      </a:pPr>
                      <a:r>
                        <a:rPr lang="en-US" sz="1100" b="1" dirty="0">
                          <a:solidFill>
                            <a:srgbClr val="1E2530"/>
                          </a:solidFill>
                          <a:latin typeface="Calibri" pitchFamily="34" charset="0"/>
                          <a:ea typeface="Calibri" pitchFamily="34" charset="-122"/>
                          <a:cs typeface="Calibri" pitchFamily="34" charset="-120"/>
                        </a:rPr>
                        <a:t>€340M</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€52.0</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F8E1DE"/>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€59.4</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€66.7</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€74.1</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€81.4</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r>
              <a:tr h="384048">
                <a:tc>
                  <a:txBody>
                    <a:bodyPr/>
                    <a:lstStyle/>
                    <a:p>
                      <a:pPr algn="ctr" indent="0" marL="0">
                        <a:buNone/>
                      </a:pPr>
                      <a:r>
                        <a:rPr lang="en-US" sz="1100" b="1" dirty="0">
                          <a:solidFill>
                            <a:srgbClr val="1E2530"/>
                          </a:solidFill>
                          <a:latin typeface="Calibri" pitchFamily="34" charset="0"/>
                          <a:ea typeface="Calibri" pitchFamily="34" charset="-122"/>
                          <a:cs typeface="Calibri" pitchFamily="34" charset="-120"/>
                        </a:rPr>
                        <a:t>€355M</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€54.6</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€62.3</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€70.0</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€77.6</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€85.3</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E3F1E7"/>
                    </a:solidFill>
                  </a:tcPr>
                </a:tc>
              </a:tr>
            </a:tbl>
          </a:graphicData>
        </a:graphic>
      </p:graphicFrame>
      <p:sp>
        <p:nvSpPr>
          <p:cNvPr id="10" name="Text 6"/>
          <p:cNvSpPr txBox="1"/>
          <p:nvPr/>
        </p:nvSpPr>
        <p:spPr>
          <a:xfrm>
            <a:off x="457200" y="5394960"/>
            <a:ext cx="11247120" cy="365760"/>
          </a:xfrm>
          <a:prstGeom prst="rect">
            <a:avLst/>
          </a:prstGeom>
          <a:noFill/>
          <a:ln/>
        </p:spPr>
        <p:txBody>
          <a:bodyPr wrap="square" lIns="0" tIns="0" rIns="0" bIns="0" rtlCol="0" anchor="t"/>
          <a:lstStyle/>
          <a:p>
            <a:pPr indent="0" marL="0">
              <a:buNone/>
            </a:pPr>
            <a:r>
              <a:rPr lang="en-US" sz="1100" dirty="0">
                <a:solidFill>
                  <a:srgbClr val="1E2530"/>
                </a:solidFill>
                <a:latin typeface="Calibri" pitchFamily="34" charset="0"/>
                <a:ea typeface="Calibri" pitchFamily="34" charset="-122"/>
                <a:cs typeface="Calibri" pitchFamily="34" charset="-120"/>
              </a:rPr>
              <a:t>Green = above today's €53.70; red = below. Each 1.0x of multiple ≈ €6.8/share; each €10M of EBITDA at 10x ≈ €2.2/share.</a:t>
            </a:r>
            <a:endParaRPr lang="en-US" sz="1100" dirty="0"/>
          </a:p>
        </p:txBody>
      </p:sp>
      <p:sp>
        <p:nvSpPr>
          <p:cNvPr id="11" name="Text 7"/>
          <p:cNvSpPr txBox="1"/>
          <p:nvPr/>
        </p:nvSpPr>
        <p:spPr>
          <a:xfrm>
            <a:off x="457200" y="6473952"/>
            <a:ext cx="10180015" cy="274320"/>
          </a:xfrm>
          <a:prstGeom prst="rect">
            <a:avLst/>
          </a:prstGeom>
          <a:noFill/>
          <a:ln/>
        </p:spPr>
        <p:txBody>
          <a:bodyPr wrap="square" lIns="0" tIns="0" rIns="0" bIns="0" rtlCol="0" anchor="b"/>
          <a:lstStyle/>
          <a:p>
            <a:pPr indent="0" marL="0">
              <a:buNone/>
            </a:pPr>
            <a:r>
              <a:rPr lang="en-US" sz="850" dirty="0">
                <a:solidFill>
                  <a:srgbClr val="6B7684"/>
                </a:solidFill>
                <a:latin typeface="Calibri" pitchFamily="34" charset="0"/>
                <a:ea typeface="Calibri" pitchFamily="34" charset="-122"/>
                <a:cs typeface="Calibri" pitchFamily="34" charset="-120"/>
              </a:rPr>
              <a:t>Source: team model (Viscofan_HF_Model.xlsx, Sensitivity tab).</a:t>
            </a:r>
            <a:endParaRPr lang="en-US" sz="850" dirty="0"/>
          </a:p>
        </p:txBody>
      </p:sp>
      <p:sp>
        <p:nvSpPr>
          <p:cNvPr id="12" name="Text 8"/>
          <p:cNvSpPr txBox="1"/>
          <p:nvPr/>
        </p:nvSpPr>
        <p:spPr>
          <a:xfrm>
            <a:off x="8991295" y="6473952"/>
            <a:ext cx="2743200" cy="274320"/>
          </a:xfrm>
          <a:prstGeom prst="rect">
            <a:avLst/>
          </a:prstGeom>
          <a:noFill/>
          <a:ln/>
        </p:spPr>
        <p:txBody>
          <a:bodyPr wrap="square" lIns="0" tIns="0" rIns="0" bIns="0" rtlCol="0" anchor="b"/>
          <a:lstStyle/>
          <a:p>
            <a:pPr algn="r" indent="0" marL="0">
              <a:buNone/>
            </a:pPr>
            <a:r>
              <a:rPr lang="en-US" sz="850" dirty="0">
                <a:solidFill>
                  <a:srgbClr val="6B7684"/>
                </a:solidFill>
                <a:latin typeface="Calibri" pitchFamily="34" charset="0"/>
                <a:ea typeface="Calibri" pitchFamily="34" charset="-122"/>
                <a:cs typeface="Calibri" pitchFamily="34" charset="-120"/>
              </a:rPr>
              <a:t>HF &amp; Quant A · Viscofan (BME:VIS)</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84048" cy="384048"/>
          </a:xfrm>
          <a:prstGeom prst="ellipse">
            <a:avLst/>
          </a:prstGeom>
          <a:solidFill>
            <a:srgbClr val="E8702A"/>
          </a:solidFill>
          <a:ln w="12700">
            <a:solidFill>
              <a:srgbClr val="E8702A"/>
            </a:solidFill>
            <a:prstDash val="solid"/>
          </a:ln>
        </p:spPr>
      </p:sp>
      <p:sp>
        <p:nvSpPr>
          <p:cNvPr id="3" name="Text 1"/>
          <p:cNvSpPr txBox="1"/>
          <p:nvPr/>
        </p:nvSpPr>
        <p:spPr>
          <a:xfrm>
            <a:off x="457200" y="34747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A4</a:t>
            </a:r>
            <a:endParaRPr lang="en-US" sz="1100" dirty="0"/>
          </a:p>
        </p:txBody>
      </p:sp>
      <p:sp>
        <p:nvSpPr>
          <p:cNvPr id="4" name="Text 2"/>
          <p:cNvSpPr txBox="1"/>
          <p:nvPr/>
        </p:nvSpPr>
        <p:spPr>
          <a:xfrm>
            <a:off x="960120" y="347472"/>
            <a:ext cx="7315200" cy="384048"/>
          </a:xfrm>
          <a:prstGeom prst="rect">
            <a:avLst/>
          </a:prstGeom>
          <a:noFill/>
          <a:ln/>
        </p:spPr>
        <p:txBody>
          <a:bodyPr wrap="square" lIns="0" tIns="0" rIns="0" bIns="0" rtlCol="0" anchor="ctr"/>
          <a:lstStyle/>
          <a:p>
            <a:pPr indent="0" marL="0">
              <a:buNone/>
            </a:pPr>
            <a:r>
              <a:rPr lang="en-US" sz="1100" b="1" spc="200" kern="0" dirty="0">
                <a:solidFill>
                  <a:srgbClr val="5B7083"/>
                </a:solidFill>
                <a:latin typeface="Calibri" pitchFamily="34" charset="0"/>
                <a:ea typeface="Calibri" pitchFamily="34" charset="-122"/>
                <a:cs typeface="Calibri" pitchFamily="34" charset="-120"/>
              </a:rPr>
              <a:t>APPENDIX · CASH GENERATION &amp; BEAT'30</a:t>
            </a:r>
            <a:endParaRPr lang="en-US" sz="1100" dirty="0"/>
          </a:p>
        </p:txBody>
      </p:sp>
      <p:sp>
        <p:nvSpPr>
          <p:cNvPr id="5" name="Text 3"/>
          <p:cNvSpPr txBox="1"/>
          <p:nvPr/>
        </p:nvSpPr>
        <p:spPr>
          <a:xfrm>
            <a:off x="457200" y="777240"/>
            <a:ext cx="11277295" cy="685800"/>
          </a:xfrm>
          <a:prstGeom prst="rect">
            <a:avLst/>
          </a:prstGeom>
          <a:noFill/>
          <a:ln/>
        </p:spPr>
        <p:txBody>
          <a:bodyPr wrap="square" lIns="0" tIns="0" rIns="0" bIns="0" rtlCol="0" anchor="t"/>
          <a:lstStyle/>
          <a:p>
            <a:pPr indent="0" marL="0">
              <a:buNone/>
            </a:pPr>
            <a:r>
              <a:rPr lang="en-US" sz="2400" b="1" dirty="0">
                <a:solidFill>
                  <a:srgbClr val="14213D"/>
                </a:solidFill>
                <a:latin typeface="Cambria" pitchFamily="34" charset="0"/>
                <a:ea typeface="Cambria" pitchFamily="34" charset="-122"/>
                <a:cs typeface="Cambria" pitchFamily="34" charset="-120"/>
              </a:rPr>
              <a:t>A strong balance sheet funds Beat'30 capex and continued shareholder returns</a:t>
            </a:r>
            <a:endParaRPr lang="en-US" sz="24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4754880" cy="914400"/>
        </p:xfrm>
        <a:graphic>
          <a:graphicData uri="http://schemas.openxmlformats.org/drawingml/2006/table">
            <a:tbl>
              <a:tblPr/>
              <a:tblGrid>
                <a:gridCol w="3291840"/>
                <a:gridCol w="1463040"/>
              </a:tblGrid>
              <a:tr h="365760">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Net bank debt bridge (€M)</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ctr" indent="0" marL="0">
                        <a:buNone/>
                      </a:pP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r>
              <a:tr h="365760">
                <a:tc>
                  <a:txBody>
                    <a:bodyPr/>
                    <a:lstStyle/>
                    <a:p>
                      <a:pPr algn="l" indent="0" marL="0">
                        <a:buNone/>
                      </a:pPr>
                      <a:r>
                        <a:rPr lang="en-US" sz="1100" b="1" dirty="0">
                          <a:solidFill>
                            <a:srgbClr val="1E2530"/>
                          </a:solidFill>
                          <a:latin typeface="Calibri" pitchFamily="34" charset="0"/>
                          <a:ea typeface="Calibri" pitchFamily="34" charset="-122"/>
                          <a:cs typeface="Calibri" pitchFamily="34" charset="-120"/>
                        </a:rPr>
                        <a:t>Net bank debt Dec-25</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b="1" dirty="0">
                          <a:solidFill>
                            <a:srgbClr val="1E2530"/>
                          </a:solidFill>
                          <a:latin typeface="Calibri" pitchFamily="34" charset="0"/>
                          <a:ea typeface="Calibri" pitchFamily="34" charset="-122"/>
                          <a:cs typeface="Calibri" pitchFamily="34" charset="-120"/>
                        </a:rPr>
                        <a:t>206.1</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65760">
                <a:tc>
                  <a:txBody>
                    <a:bodyPr/>
                    <a:lstStyle/>
                    <a:p>
                      <a:pPr algn="l" indent="0" marL="0">
                        <a:buNone/>
                      </a:pPr>
                      <a:r>
                        <a:rPr lang="en-US" sz="1100" dirty="0">
                          <a:solidFill>
                            <a:srgbClr val="1E2530"/>
                          </a:solidFill>
                          <a:latin typeface="Calibri" pitchFamily="34" charset="0"/>
                          <a:ea typeface="Calibri" pitchFamily="34" charset="-122"/>
                          <a:cs typeface="Calibri" pitchFamily="34" charset="-120"/>
                        </a:rPr>
                        <a:t>EBITDA</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−134.5</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65760">
                <a:tc>
                  <a:txBody>
                    <a:bodyPr/>
                    <a:lstStyle/>
                    <a:p>
                      <a:pPr algn="l" indent="0" marL="0">
                        <a:buNone/>
                      </a:pPr>
                      <a:r>
                        <a:rPr lang="en-US" sz="1100" dirty="0">
                          <a:solidFill>
                            <a:srgbClr val="1E2530"/>
                          </a:solidFill>
                          <a:latin typeface="Calibri" pitchFamily="34" charset="0"/>
                          <a:ea typeface="Calibri" pitchFamily="34" charset="-122"/>
                          <a:cs typeface="Calibri" pitchFamily="34" charset="-120"/>
                        </a:rPr>
                        <a:t>Tax paid</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+21.9</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65760">
                <a:tc>
                  <a:txBody>
                    <a:bodyPr/>
                    <a:lstStyle/>
                    <a:p>
                      <a:pPr algn="l" indent="0" marL="0">
                        <a:buNone/>
                      </a:pPr>
                      <a:r>
                        <a:rPr lang="en-US" sz="1100" dirty="0">
                          <a:solidFill>
                            <a:srgbClr val="1E2530"/>
                          </a:solidFill>
                          <a:latin typeface="Calibri" pitchFamily="34" charset="0"/>
                          <a:ea typeface="Calibri" pitchFamily="34" charset="-122"/>
                          <a:cs typeface="Calibri" pitchFamily="34" charset="-120"/>
                        </a:rPr>
                        <a:t>Working capital</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+41.3</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65760">
                <a:tc>
                  <a:txBody>
                    <a:bodyPr/>
                    <a:lstStyle/>
                    <a:p>
                      <a:pPr algn="l" indent="0" marL="0">
                        <a:buNone/>
                      </a:pPr>
                      <a:r>
                        <a:rPr lang="en-US" sz="1100" dirty="0">
                          <a:solidFill>
                            <a:srgbClr val="1E2530"/>
                          </a:solidFill>
                          <a:latin typeface="Calibri" pitchFamily="34" charset="0"/>
                          <a:ea typeface="Calibri" pitchFamily="34" charset="-122"/>
                          <a:cs typeface="Calibri" pitchFamily="34" charset="-120"/>
                        </a:rPr>
                        <a:t>Capex</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+34.5</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65760">
                <a:tc>
                  <a:txBody>
                    <a:bodyPr/>
                    <a:lstStyle/>
                    <a:p>
                      <a:pPr algn="l" indent="0" marL="0">
                        <a:buNone/>
                      </a:pPr>
                      <a:r>
                        <a:rPr lang="en-US" sz="1100" dirty="0">
                          <a:solidFill>
                            <a:srgbClr val="1E2530"/>
                          </a:solidFill>
                          <a:latin typeface="Calibri" pitchFamily="34" charset="0"/>
                          <a:ea typeface="Calibri" pitchFamily="34" charset="-122"/>
                          <a:cs typeface="Calibri" pitchFamily="34" charset="-120"/>
                        </a:rPr>
                        <a:t>FX &amp; others</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+7.0</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65760">
                <a:tc>
                  <a:txBody>
                    <a:bodyPr/>
                    <a:lstStyle/>
                    <a:p>
                      <a:pPr algn="l" indent="0" marL="0">
                        <a:buNone/>
                      </a:pPr>
                      <a:r>
                        <a:rPr lang="en-US" sz="1100" dirty="0">
                          <a:solidFill>
                            <a:srgbClr val="1E2530"/>
                          </a:solidFill>
                          <a:latin typeface="Calibri" pitchFamily="34" charset="0"/>
                          <a:ea typeface="Calibri" pitchFamily="34" charset="-122"/>
                          <a:cs typeface="Calibri" pitchFamily="34" charset="-120"/>
                        </a:rPr>
                        <a:t>Shareholder remuneration</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+107.0</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65760">
                <a:tc>
                  <a:txBody>
                    <a:bodyPr/>
                    <a:lstStyle/>
                    <a:p>
                      <a:pPr algn="l" indent="0" marL="0">
                        <a:buNone/>
                      </a:pPr>
                      <a:r>
                        <a:rPr lang="en-US" sz="1100" b="1" dirty="0">
                          <a:solidFill>
                            <a:srgbClr val="1E2530"/>
                          </a:solidFill>
                          <a:latin typeface="Calibri" pitchFamily="34" charset="0"/>
                          <a:ea typeface="Calibri" pitchFamily="34" charset="-122"/>
                          <a:cs typeface="Calibri" pitchFamily="34" charset="-120"/>
                        </a:rPr>
                        <a:t>Net bank debt Jun-26</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b="1" dirty="0">
                          <a:solidFill>
                            <a:srgbClr val="1E2530"/>
                          </a:solidFill>
                          <a:latin typeface="Calibri" pitchFamily="34" charset="0"/>
                          <a:ea typeface="Calibri" pitchFamily="34" charset="-122"/>
                          <a:cs typeface="Calibri" pitchFamily="34" charset="-120"/>
                        </a:rPr>
                        <a:t>283.3</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bl>
          </a:graphicData>
        </a:graphic>
      </p:graphicFrame>
      <p:sp>
        <p:nvSpPr>
          <p:cNvPr id="7" name="Text 4"/>
          <p:cNvSpPr txBox="1"/>
          <p:nvPr/>
        </p:nvSpPr>
        <p:spPr>
          <a:xfrm>
            <a:off x="457200" y="5074920"/>
            <a:ext cx="4754880" cy="128016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rgbClr val="1E2530"/>
                </a:solidFill>
                <a:latin typeface="Calibri" pitchFamily="34" charset="0"/>
                <a:ea typeface="Calibri" pitchFamily="34" charset="-122"/>
                <a:cs typeface="Calibri" pitchFamily="34" charset="-120"/>
              </a:rPr>
              <a:t>Net bank debt / LTM EBITDA 1.0x (Dec-25: 0.71x). The increase is the €107M payout (incl. €1.00 extraordinary dividend and the buyback completed Feb-26), not operations</a:t>
            </a:r>
            <a:endParaRPr lang="en-US" sz="1050" dirty="0"/>
          </a:p>
          <a:p>
            <a:pPr marL="152400" indent="-152400">
              <a:spcAft>
                <a:spcPts val="400"/>
              </a:spcAft>
              <a:buSzPct val="100000"/>
              <a:buChar char="•"/>
            </a:pPr>
            <a:r>
              <a:rPr lang="en-US" sz="1050" dirty="0">
                <a:solidFill>
                  <a:srgbClr val="1E2530"/>
                </a:solidFill>
                <a:latin typeface="Calibri" pitchFamily="34" charset="0"/>
                <a:ea typeface="Calibri" pitchFamily="34" charset="-122"/>
                <a:cs typeface="Calibri" pitchFamily="34" charset="-120"/>
              </a:rPr>
              <a:t>+1% interest rates ≈ −€1.1M operating profit: immaterial</a:t>
            </a:r>
            <a:endParaRPr lang="en-US" sz="1050" dirty="0"/>
          </a:p>
          <a:p>
            <a:pPr marL="152400" indent="-152400">
              <a:spcAft>
                <a:spcPts val="400"/>
              </a:spcAft>
              <a:buSzPct val="100000"/>
              <a:buChar char="•"/>
            </a:pPr>
            <a:r>
              <a:rPr lang="en-US" sz="1050" dirty="0">
                <a:solidFill>
                  <a:srgbClr val="1E2530"/>
                </a:solidFill>
                <a:latin typeface="Calibri" pitchFamily="34" charset="0"/>
                <a:ea typeface="Calibri" pitchFamily="34" charset="-122"/>
                <a:cs typeface="Calibri" pitchFamily="34" charset="-120"/>
              </a:rPr>
              <a:t>Consensus DPS €3.29 / €3.39 / €3.54 (FY26–28E)</a:t>
            </a:r>
            <a:endParaRPr lang="en-US" sz="1050" dirty="0"/>
          </a:p>
        </p:txBody>
      </p:sp>
      <p:sp>
        <p:nvSpPr>
          <p:cNvPr id="8" name="Text 5"/>
          <p:cNvSpPr txBox="1"/>
          <p:nvPr/>
        </p:nvSpPr>
        <p:spPr>
          <a:xfrm>
            <a:off x="5852160" y="1645920"/>
            <a:ext cx="5852160" cy="320040"/>
          </a:xfrm>
          <a:prstGeom prst="rect">
            <a:avLst/>
          </a:prstGeom>
          <a:noFill/>
          <a:ln/>
        </p:spPr>
        <p:txBody>
          <a:bodyPr wrap="square" lIns="0" tIns="0" rIns="0" bIns="0" rtlCol="0" anchor="t"/>
          <a:lstStyle/>
          <a:p>
            <a:pPr indent="0" marL="0">
              <a:buNone/>
            </a:pPr>
            <a:r>
              <a:rPr lang="en-US" sz="1400" b="1" dirty="0">
                <a:solidFill>
                  <a:srgbClr val="14213D"/>
                </a:solidFill>
                <a:latin typeface="Cambria" pitchFamily="34" charset="0"/>
                <a:ea typeface="Cambria" pitchFamily="34" charset="-122"/>
                <a:cs typeface="Cambria" pitchFamily="34" charset="-120"/>
              </a:rPr>
              <a:t>Beat'30 capex 2026E: €100M (+19% vs 2025)</a:t>
            </a:r>
            <a:endParaRPr lang="en-US" sz="1400" dirty="0"/>
          </a:p>
        </p:txBody>
      </p:sp>
      <p:graphicFrame>
        <p:nvGraphicFramePr>
          <p:cNvPr id="9" name="Chart 0" descr=""/>
          <p:cNvGraphicFramePr/>
          <p:nvPr/>
        </p:nvGraphicFramePr>
        <p:xfrm>
          <a:off x="5760720" y="2011680"/>
          <a:ext cx="2377440" cy="2377440"/>
        </p:xfrm>
        <a:graphic xmlns:a="http://schemas.openxmlformats.org/drawingml/2006/main">
          <a:graphicData uri="http://schemas.openxmlformats.org/drawingml/2006/chart">
            <c:chart xmlns:c="http://schemas.openxmlformats.org/drawingml/2006/chart" r:id="rId1"/>
          </a:graphicData>
        </a:graphic>
      </p:graphicFrame>
      <p:sp>
        <p:nvSpPr>
          <p:cNvPr id="10" name="Shape 6"/>
          <p:cNvSpPr/>
          <p:nvPr/>
        </p:nvSpPr>
        <p:spPr>
          <a:xfrm>
            <a:off x="8321040" y="2441448"/>
            <a:ext cx="146304" cy="146304"/>
          </a:xfrm>
          <a:prstGeom prst="ellipse">
            <a:avLst/>
          </a:prstGeom>
          <a:solidFill>
            <a:srgbClr val="14213D"/>
          </a:solidFill>
          <a:ln w="12700">
            <a:solidFill>
              <a:srgbClr val="14213D"/>
            </a:solidFill>
            <a:prstDash val="solid"/>
          </a:ln>
        </p:spPr>
      </p:sp>
      <p:sp>
        <p:nvSpPr>
          <p:cNvPr id="11" name="Text 7"/>
          <p:cNvSpPr txBox="1"/>
          <p:nvPr/>
        </p:nvSpPr>
        <p:spPr>
          <a:xfrm>
            <a:off x="8549640" y="2377440"/>
            <a:ext cx="3108960" cy="292608"/>
          </a:xfrm>
          <a:prstGeom prst="rect">
            <a:avLst/>
          </a:prstGeom>
          <a:noFill/>
          <a:ln/>
        </p:spPr>
        <p:txBody>
          <a:bodyPr wrap="square" lIns="0" tIns="0" rIns="0" bIns="0" rtlCol="0" anchor="t"/>
          <a:lstStyle/>
          <a:p>
            <a:pPr indent="0" marL="0">
              <a:buNone/>
            </a:pPr>
            <a:r>
              <a:rPr lang="en-US" sz="1100" b="1" dirty="0">
                <a:solidFill>
                  <a:srgbClr val="1E2530"/>
                </a:solidFill>
                <a:latin typeface="Calibri" pitchFamily="34" charset="0"/>
                <a:ea typeface="Calibri" pitchFamily="34" charset="-122"/>
                <a:cs typeface="Calibri" pitchFamily="34" charset="-120"/>
              </a:rPr>
              <a:t>56%  </a:t>
            </a:r>
            <a:pPr indent="0" marL="0">
              <a:buNone/>
            </a:pPr>
            <a:r>
              <a:rPr lang="en-US" sz="1100" dirty="0">
                <a:solidFill>
                  <a:srgbClr val="1E2530"/>
                </a:solidFill>
                <a:latin typeface="Calibri" pitchFamily="34" charset="0"/>
                <a:ea typeface="Calibri" pitchFamily="34" charset="-122"/>
                <a:cs typeface="Calibri" pitchFamily="34" charset="-120"/>
              </a:rPr>
              <a:t>Capacity</a:t>
            </a:r>
            <a:endParaRPr lang="en-US" sz="1100" dirty="0"/>
          </a:p>
        </p:txBody>
      </p:sp>
      <p:sp>
        <p:nvSpPr>
          <p:cNvPr id="12" name="Shape 8"/>
          <p:cNvSpPr/>
          <p:nvPr/>
        </p:nvSpPr>
        <p:spPr>
          <a:xfrm>
            <a:off x="8321040" y="2852928"/>
            <a:ext cx="146304" cy="146304"/>
          </a:xfrm>
          <a:prstGeom prst="ellipse">
            <a:avLst/>
          </a:prstGeom>
          <a:solidFill>
            <a:srgbClr val="5B7083"/>
          </a:solidFill>
          <a:ln w="12700">
            <a:solidFill>
              <a:srgbClr val="5B7083"/>
            </a:solidFill>
            <a:prstDash val="solid"/>
          </a:ln>
        </p:spPr>
      </p:sp>
      <p:sp>
        <p:nvSpPr>
          <p:cNvPr id="13" name="Text 9"/>
          <p:cNvSpPr txBox="1"/>
          <p:nvPr/>
        </p:nvSpPr>
        <p:spPr>
          <a:xfrm>
            <a:off x="8549640" y="2788920"/>
            <a:ext cx="3108960" cy="292608"/>
          </a:xfrm>
          <a:prstGeom prst="rect">
            <a:avLst/>
          </a:prstGeom>
          <a:noFill/>
          <a:ln/>
        </p:spPr>
        <p:txBody>
          <a:bodyPr wrap="square" lIns="0" tIns="0" rIns="0" bIns="0" rtlCol="0" anchor="t"/>
          <a:lstStyle/>
          <a:p>
            <a:pPr indent="0" marL="0">
              <a:buNone/>
            </a:pPr>
            <a:r>
              <a:rPr lang="en-US" sz="1100" b="1" dirty="0">
                <a:solidFill>
                  <a:srgbClr val="1E2530"/>
                </a:solidFill>
                <a:latin typeface="Calibri" pitchFamily="34" charset="0"/>
                <a:ea typeface="Calibri" pitchFamily="34" charset="-122"/>
                <a:cs typeface="Calibri" pitchFamily="34" charset="-120"/>
              </a:rPr>
              <a:t>20%  </a:t>
            </a:r>
            <a:pPr indent="0" marL="0">
              <a:buNone/>
            </a:pPr>
            <a:r>
              <a:rPr lang="en-US" sz="1100" dirty="0">
                <a:solidFill>
                  <a:srgbClr val="1E2530"/>
                </a:solidFill>
                <a:latin typeface="Calibri" pitchFamily="34" charset="0"/>
                <a:ea typeface="Calibri" pitchFamily="34" charset="-122"/>
                <a:cs typeface="Calibri" pitchFamily="34" charset="-120"/>
              </a:rPr>
              <a:t>Process improvements</a:t>
            </a:r>
            <a:endParaRPr lang="en-US" sz="1100" dirty="0"/>
          </a:p>
        </p:txBody>
      </p:sp>
      <p:sp>
        <p:nvSpPr>
          <p:cNvPr id="14" name="Shape 10"/>
          <p:cNvSpPr/>
          <p:nvPr/>
        </p:nvSpPr>
        <p:spPr>
          <a:xfrm>
            <a:off x="8321040" y="3264408"/>
            <a:ext cx="146304" cy="146304"/>
          </a:xfrm>
          <a:prstGeom prst="ellipse">
            <a:avLst/>
          </a:prstGeom>
          <a:solidFill>
            <a:srgbClr val="E8702A"/>
          </a:solidFill>
          <a:ln w="12700">
            <a:solidFill>
              <a:srgbClr val="E8702A"/>
            </a:solidFill>
            <a:prstDash val="solid"/>
          </a:ln>
        </p:spPr>
      </p:sp>
      <p:sp>
        <p:nvSpPr>
          <p:cNvPr id="15" name="Text 11"/>
          <p:cNvSpPr txBox="1"/>
          <p:nvPr/>
        </p:nvSpPr>
        <p:spPr>
          <a:xfrm>
            <a:off x="8549640" y="3200400"/>
            <a:ext cx="3108960" cy="292608"/>
          </a:xfrm>
          <a:prstGeom prst="rect">
            <a:avLst/>
          </a:prstGeom>
          <a:noFill/>
          <a:ln/>
        </p:spPr>
        <p:txBody>
          <a:bodyPr wrap="square" lIns="0" tIns="0" rIns="0" bIns="0" rtlCol="0" anchor="t"/>
          <a:lstStyle/>
          <a:p>
            <a:pPr indent="0" marL="0">
              <a:buNone/>
            </a:pPr>
            <a:r>
              <a:rPr lang="en-US" sz="1100" b="1" dirty="0">
                <a:solidFill>
                  <a:srgbClr val="1E2530"/>
                </a:solidFill>
                <a:latin typeface="Calibri" pitchFamily="34" charset="0"/>
                <a:ea typeface="Calibri" pitchFamily="34" charset="-122"/>
                <a:cs typeface="Calibri" pitchFamily="34" charset="-120"/>
              </a:rPr>
              <a:t>13%  </a:t>
            </a:r>
            <a:pPr indent="0" marL="0">
              <a:buNone/>
            </a:pPr>
            <a:r>
              <a:rPr lang="en-US" sz="1100" dirty="0">
                <a:solidFill>
                  <a:srgbClr val="1E2530"/>
                </a:solidFill>
                <a:latin typeface="Calibri" pitchFamily="34" charset="0"/>
                <a:ea typeface="Calibri" pitchFamily="34" charset="-122"/>
                <a:cs typeface="Calibri" pitchFamily="34" charset="-120"/>
              </a:rPr>
              <a:t>Environment &amp; safety</a:t>
            </a:r>
            <a:endParaRPr lang="en-US" sz="1100" dirty="0"/>
          </a:p>
        </p:txBody>
      </p:sp>
      <p:sp>
        <p:nvSpPr>
          <p:cNvPr id="16" name="Shape 12"/>
          <p:cNvSpPr/>
          <p:nvPr/>
        </p:nvSpPr>
        <p:spPr>
          <a:xfrm>
            <a:off x="8321040" y="3675888"/>
            <a:ext cx="146304" cy="146304"/>
          </a:xfrm>
          <a:prstGeom prst="ellipse">
            <a:avLst/>
          </a:prstGeom>
          <a:solidFill>
            <a:srgbClr val="A9B6C6"/>
          </a:solidFill>
          <a:ln w="12700">
            <a:solidFill>
              <a:srgbClr val="A9B6C6"/>
            </a:solidFill>
            <a:prstDash val="solid"/>
          </a:ln>
        </p:spPr>
      </p:sp>
      <p:sp>
        <p:nvSpPr>
          <p:cNvPr id="17" name="Text 13"/>
          <p:cNvSpPr txBox="1"/>
          <p:nvPr/>
        </p:nvSpPr>
        <p:spPr>
          <a:xfrm>
            <a:off x="8549640" y="3611880"/>
            <a:ext cx="3108960" cy="292608"/>
          </a:xfrm>
          <a:prstGeom prst="rect">
            <a:avLst/>
          </a:prstGeom>
          <a:noFill/>
          <a:ln/>
        </p:spPr>
        <p:txBody>
          <a:bodyPr wrap="square" lIns="0" tIns="0" rIns="0" bIns="0" rtlCol="0" anchor="t"/>
          <a:lstStyle/>
          <a:p>
            <a:pPr indent="0" marL="0">
              <a:buNone/>
            </a:pPr>
            <a:r>
              <a:rPr lang="en-US" sz="1100" b="1" dirty="0">
                <a:solidFill>
                  <a:srgbClr val="1E2530"/>
                </a:solidFill>
                <a:latin typeface="Calibri" pitchFamily="34" charset="0"/>
                <a:ea typeface="Calibri" pitchFamily="34" charset="-122"/>
                <a:cs typeface="Calibri" pitchFamily="34" charset="-120"/>
              </a:rPr>
              <a:t>11%  </a:t>
            </a:r>
            <a:pPr indent="0" marL="0">
              <a:buNone/>
            </a:pPr>
            <a:r>
              <a:rPr lang="en-US" sz="1100" dirty="0">
                <a:solidFill>
                  <a:srgbClr val="1E2530"/>
                </a:solidFill>
                <a:latin typeface="Calibri" pitchFamily="34" charset="0"/>
                <a:ea typeface="Calibri" pitchFamily="34" charset="-122"/>
                <a:cs typeface="Calibri" pitchFamily="34" charset="-120"/>
              </a:rPr>
              <a:t>Other recurring</a:t>
            </a:r>
            <a:endParaRPr lang="en-US" sz="1100" dirty="0"/>
          </a:p>
        </p:txBody>
      </p:sp>
      <p:sp>
        <p:nvSpPr>
          <p:cNvPr id="18" name="Text 14"/>
          <p:cNvSpPr txBox="1"/>
          <p:nvPr/>
        </p:nvSpPr>
        <p:spPr>
          <a:xfrm>
            <a:off x="5852160" y="4572000"/>
            <a:ext cx="5852160" cy="1737360"/>
          </a:xfrm>
          <a:prstGeom prst="rect">
            <a:avLst/>
          </a:prstGeom>
          <a:noFill/>
          <a:ln/>
        </p:spPr>
        <p:txBody>
          <a:bodyPr wrap="square" lIns="0" tIns="0" rIns="0" bIns="0" rtlCol="0" anchor="t"/>
          <a:lstStyle/>
          <a:p>
            <a:pPr marL="152400" indent="-152400">
              <a:spcAft>
                <a:spcPts val="400"/>
              </a:spcAft>
              <a:buSzPct val="100000"/>
              <a:buChar char="•"/>
            </a:pPr>
            <a:r>
              <a:rPr lang="en-US" sz="1050" b="1" dirty="0">
                <a:solidFill>
                  <a:srgbClr val="1E2530"/>
                </a:solidFill>
                <a:latin typeface="Calibri" pitchFamily="34" charset="0"/>
                <a:ea typeface="Calibri" pitchFamily="34" charset="-122"/>
                <a:cs typeface="Calibri" pitchFamily="34" charset="-120"/>
              </a:rPr>
              <a:t>US (New Jersey): </a:t>
            </a:r>
            <a:pPr indent="0" marL="0">
              <a:spcAft>
                <a:spcPts val="400"/>
              </a:spcAft>
              <a:buNone/>
            </a:pPr>
            <a:r>
              <a:rPr lang="en-US" sz="1050" dirty="0">
                <a:solidFill>
                  <a:srgbClr val="1E2530"/>
                </a:solidFill>
                <a:latin typeface="Calibri" pitchFamily="34" charset="0"/>
                <a:ea typeface="Calibri" pitchFamily="34" charset="-122"/>
                <a:cs typeface="Calibri" pitchFamily="34" charset="-120"/>
              </a:rPr>
              <a:t>collagen capacity with new technology (completed)</a:t>
            </a:r>
            <a:endParaRPr lang="en-US" sz="1050" dirty="0"/>
          </a:p>
          <a:p>
            <a:pPr marL="152400" indent="-152400">
              <a:spcAft>
                <a:spcPts val="400"/>
              </a:spcAft>
              <a:buSzPct val="100000"/>
              <a:buChar char="•"/>
            </a:pPr>
            <a:r>
              <a:rPr lang="en-US" sz="1050" b="1" dirty="0">
                <a:solidFill>
                  <a:srgbClr val="1E2530"/>
                </a:solidFill>
                <a:latin typeface="Calibri" pitchFamily="34" charset="0"/>
                <a:ea typeface="Calibri" pitchFamily="34" charset="-122"/>
                <a:cs typeface="Calibri" pitchFamily="34" charset="-120"/>
              </a:rPr>
              <a:t>Mexico (Zacapu): </a:t>
            </a:r>
            <a:pPr indent="0" marL="0">
              <a:spcAft>
                <a:spcPts val="400"/>
              </a:spcAft>
              <a:buNone/>
            </a:pPr>
            <a:r>
              <a:rPr lang="en-US" sz="1050" dirty="0">
                <a:solidFill>
                  <a:srgbClr val="1E2530"/>
                </a:solidFill>
                <a:latin typeface="Calibri" pitchFamily="34" charset="0"/>
                <a:ea typeface="Calibri" pitchFamily="34" charset="-122"/>
                <a:cs typeface="Calibri" pitchFamily="34" charset="-120"/>
              </a:rPr>
              <a:t>cellulose extrusion capacity</a:t>
            </a:r>
            <a:endParaRPr lang="en-US" sz="1050" dirty="0"/>
          </a:p>
          <a:p>
            <a:pPr marL="152400" indent="-152400">
              <a:spcAft>
                <a:spcPts val="400"/>
              </a:spcAft>
              <a:buSzPct val="100000"/>
              <a:buChar char="•"/>
            </a:pPr>
            <a:r>
              <a:rPr lang="en-US" sz="1050" b="1" dirty="0">
                <a:solidFill>
                  <a:srgbClr val="1E2530"/>
                </a:solidFill>
                <a:latin typeface="Calibri" pitchFamily="34" charset="0"/>
                <a:ea typeface="Calibri" pitchFamily="34" charset="-122"/>
                <a:cs typeface="Calibri" pitchFamily="34" charset="-120"/>
              </a:rPr>
              <a:t>Czech Republic: </a:t>
            </a:r>
            <a:pPr indent="0" marL="0">
              <a:spcAft>
                <a:spcPts val="400"/>
              </a:spcAft>
              <a:buNone/>
            </a:pPr>
            <a:r>
              <a:rPr lang="en-US" sz="1050" dirty="0">
                <a:solidFill>
                  <a:srgbClr val="1E2530"/>
                </a:solidFill>
                <a:latin typeface="Calibri" pitchFamily="34" charset="0"/>
                <a:ea typeface="Calibri" pitchFamily="34" charset="-122"/>
                <a:cs typeface="Calibri" pitchFamily="34" charset="-120"/>
              </a:rPr>
              <a:t>plant relocation, České Budějovice (start 2028)</a:t>
            </a:r>
            <a:endParaRPr lang="en-US" sz="1050" dirty="0"/>
          </a:p>
          <a:p>
            <a:pPr marL="152400" indent="-152400">
              <a:spcAft>
                <a:spcPts val="400"/>
              </a:spcAft>
              <a:buSzPct val="100000"/>
              <a:buChar char="•"/>
            </a:pPr>
            <a:r>
              <a:rPr lang="en-US" sz="1050" b="1" dirty="0">
                <a:solidFill>
                  <a:srgbClr val="1E2530"/>
                </a:solidFill>
                <a:latin typeface="Calibri" pitchFamily="34" charset="0"/>
                <a:ea typeface="Calibri" pitchFamily="34" charset="-122"/>
                <a:cs typeface="Calibri" pitchFamily="34" charset="-120"/>
              </a:rPr>
              <a:t>Spain (Cáseda) &amp; cross-plant: </a:t>
            </a:r>
            <a:pPr indent="0" marL="0">
              <a:spcAft>
                <a:spcPts val="400"/>
              </a:spcAft>
              <a:buNone/>
            </a:pPr>
            <a:r>
              <a:rPr lang="en-US" sz="1050" dirty="0">
                <a:solidFill>
                  <a:srgbClr val="1E2530"/>
                </a:solidFill>
                <a:latin typeface="Calibri" pitchFamily="34" charset="0"/>
                <a:ea typeface="Calibri" pitchFamily="34" charset="-122"/>
                <a:cs typeface="Calibri" pitchFamily="34" charset="-120"/>
              </a:rPr>
              <a:t>energy efficiency, water, safety</a:t>
            </a:r>
            <a:endParaRPr lang="en-US" sz="1050" dirty="0"/>
          </a:p>
        </p:txBody>
      </p:sp>
      <p:sp>
        <p:nvSpPr>
          <p:cNvPr id="19" name="Text 15"/>
          <p:cNvSpPr txBox="1"/>
          <p:nvPr/>
        </p:nvSpPr>
        <p:spPr>
          <a:xfrm>
            <a:off x="457200" y="6473952"/>
            <a:ext cx="10180015" cy="274320"/>
          </a:xfrm>
          <a:prstGeom prst="rect">
            <a:avLst/>
          </a:prstGeom>
          <a:noFill/>
          <a:ln/>
        </p:spPr>
        <p:txBody>
          <a:bodyPr wrap="square" lIns="0" tIns="0" rIns="0" bIns="0" rtlCol="0" anchor="b"/>
          <a:lstStyle/>
          <a:p>
            <a:pPr indent="0" marL="0">
              <a:buNone/>
            </a:pPr>
            <a:r>
              <a:rPr lang="en-US" sz="850" dirty="0">
                <a:solidFill>
                  <a:srgbClr val="6B7684"/>
                </a:solidFill>
                <a:latin typeface="Calibri" pitchFamily="34" charset="0"/>
                <a:ea typeface="Calibri" pitchFamily="34" charset="-122"/>
                <a:cs typeface="Calibri" pitchFamily="34" charset="-120"/>
              </a:rPr>
              <a:t>Sources: Viscofan 1H26 presentation pp.11–12; 1H26 Half-Year Financial Report; S&amp;P Capital IQ consensus.</a:t>
            </a:r>
            <a:endParaRPr lang="en-US" sz="850" dirty="0"/>
          </a:p>
        </p:txBody>
      </p:sp>
      <p:sp>
        <p:nvSpPr>
          <p:cNvPr id="20" name="Text 16"/>
          <p:cNvSpPr txBox="1"/>
          <p:nvPr/>
        </p:nvSpPr>
        <p:spPr>
          <a:xfrm>
            <a:off x="8991295" y="6473952"/>
            <a:ext cx="2743200" cy="274320"/>
          </a:xfrm>
          <a:prstGeom prst="rect">
            <a:avLst/>
          </a:prstGeom>
          <a:noFill/>
          <a:ln/>
        </p:spPr>
        <p:txBody>
          <a:bodyPr wrap="square" lIns="0" tIns="0" rIns="0" bIns="0" rtlCol="0" anchor="b"/>
          <a:lstStyle/>
          <a:p>
            <a:pPr algn="r" indent="0" marL="0">
              <a:buNone/>
            </a:pPr>
            <a:r>
              <a:rPr lang="en-US" sz="850" dirty="0">
                <a:solidFill>
                  <a:srgbClr val="6B7684"/>
                </a:solidFill>
                <a:latin typeface="Calibri" pitchFamily="34" charset="0"/>
                <a:ea typeface="Calibri" pitchFamily="34" charset="-122"/>
                <a:cs typeface="Calibri" pitchFamily="34" charset="-120"/>
              </a:rPr>
              <a:t>HF &amp; Quant A · Viscofan (BME:VIS)</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84048" cy="384048"/>
          </a:xfrm>
          <a:prstGeom prst="ellipse">
            <a:avLst/>
          </a:prstGeom>
          <a:solidFill>
            <a:srgbClr val="E8702A"/>
          </a:solidFill>
          <a:ln w="12700">
            <a:solidFill>
              <a:srgbClr val="E8702A"/>
            </a:solidFill>
            <a:prstDash val="solid"/>
          </a:ln>
        </p:spPr>
      </p:sp>
      <p:sp>
        <p:nvSpPr>
          <p:cNvPr id="3" name="Text 1"/>
          <p:cNvSpPr txBox="1"/>
          <p:nvPr/>
        </p:nvSpPr>
        <p:spPr>
          <a:xfrm>
            <a:off x="457200" y="34747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A5</a:t>
            </a:r>
            <a:endParaRPr lang="en-US" sz="1100" dirty="0"/>
          </a:p>
        </p:txBody>
      </p:sp>
      <p:sp>
        <p:nvSpPr>
          <p:cNvPr id="4" name="Text 2"/>
          <p:cNvSpPr txBox="1"/>
          <p:nvPr/>
        </p:nvSpPr>
        <p:spPr>
          <a:xfrm>
            <a:off x="960120" y="347472"/>
            <a:ext cx="7315200" cy="384048"/>
          </a:xfrm>
          <a:prstGeom prst="rect">
            <a:avLst/>
          </a:prstGeom>
          <a:noFill/>
          <a:ln/>
        </p:spPr>
        <p:txBody>
          <a:bodyPr wrap="square" lIns="0" tIns="0" rIns="0" bIns="0" rtlCol="0" anchor="ctr"/>
          <a:lstStyle/>
          <a:p>
            <a:pPr indent="0" marL="0">
              <a:buNone/>
            </a:pPr>
            <a:r>
              <a:rPr lang="en-US" sz="1100" b="1" spc="200" kern="0" dirty="0">
                <a:solidFill>
                  <a:srgbClr val="5B7083"/>
                </a:solidFill>
                <a:latin typeface="Calibri" pitchFamily="34" charset="0"/>
                <a:ea typeface="Calibri" pitchFamily="34" charset="-122"/>
                <a:cs typeface="Calibri" pitchFamily="34" charset="-120"/>
              </a:rPr>
              <a:t>APPENDIX · COMPARABLES &amp; DATA INTEGRITY</a:t>
            </a:r>
            <a:endParaRPr lang="en-US" sz="1100" dirty="0"/>
          </a:p>
        </p:txBody>
      </p:sp>
      <p:sp>
        <p:nvSpPr>
          <p:cNvPr id="5" name="Text 3"/>
          <p:cNvSpPr txBox="1"/>
          <p:nvPr/>
        </p:nvSpPr>
        <p:spPr>
          <a:xfrm>
            <a:off x="457200" y="777240"/>
            <a:ext cx="11277295" cy="685800"/>
          </a:xfrm>
          <a:prstGeom prst="rect">
            <a:avLst/>
          </a:prstGeom>
          <a:noFill/>
          <a:ln/>
        </p:spPr>
        <p:txBody>
          <a:bodyPr wrap="square" lIns="0" tIns="0" rIns="0" bIns="0" rtlCol="0" anchor="t"/>
          <a:lstStyle/>
          <a:p>
            <a:pPr indent="0" marL="0">
              <a:buNone/>
            </a:pPr>
            <a:r>
              <a:rPr lang="en-US" sz="2400" b="1" dirty="0">
                <a:solidFill>
                  <a:srgbClr val="14213D"/>
                </a:solidFill>
                <a:latin typeface="Cambria" pitchFamily="34" charset="0"/>
                <a:ea typeface="Cambria" pitchFamily="34" charset="-122"/>
                <a:cs typeface="Cambria" pitchFamily="34" charset="-120"/>
              </a:rPr>
              <a:t>Comparables and data integrity: why we rebuilt the source analysis in EUR</a:t>
            </a:r>
            <a:endParaRPr lang="en-US" sz="2400" dirty="0"/>
          </a:p>
        </p:txBody>
      </p:sp>
      <p:graphicFrame>
        <p:nvGraphicFramePr>
          <p:cNvPr id="11" name="Table 0"/>
          <p:cNvGraphicFramePr>
            <a:graphicFrameLocks noGrp="1"/>
          </p:cNvGraphicFramePr>
          <p:nvPr>
            <p:extLst>
              <p:ext uri="{D42A27DB-BD31-4B8C-83A1-F6EECF244321}">
                <p14:modId xmlns:p14="http://schemas.microsoft.com/office/powerpoint/2010/main" val="1579011935"/>
              </p:ext>
            </p:extLst>
          </p:nvPr>
        </p:nvGraphicFramePr>
        <p:xfrm>
          <a:off x="457200" y="1645920"/>
          <a:ext cx="5486400" cy="914400"/>
        </p:xfrm>
        <a:graphic>
          <a:graphicData uri="http://schemas.openxmlformats.org/drawingml/2006/table">
            <a:tbl>
              <a:tblPr/>
              <a:tblGrid>
                <a:gridCol w="2194560"/>
                <a:gridCol w="1097280"/>
                <a:gridCol w="1097280"/>
                <a:gridCol w="1097280"/>
              </a:tblGrid>
              <a:tr h="384048">
                <a:tc>
                  <a:txBody>
                    <a:bodyPr/>
                    <a:lstStyle/>
                    <a:p>
                      <a:pPr algn="l" indent="0" marL="0">
                        <a:buNone/>
                      </a:pPr>
                      <a:r>
                        <a:rPr lang="en-US" sz="1100" b="1" dirty="0">
                          <a:solidFill>
                            <a:srgbClr val="FFFFFF"/>
                          </a:solidFill>
                          <a:latin typeface="Calibri" pitchFamily="34" charset="0"/>
                          <a:ea typeface="Calibri" pitchFamily="34" charset="-122"/>
                          <a:cs typeface="Calibri" pitchFamily="34" charset="-120"/>
                        </a:rPr>
                        <a:t>Company</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TEV/EBITDA</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P/E</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c>
                  <a:txBody>
                    <a:bodyPr/>
                    <a:lstStyle/>
                    <a:p>
                      <a:pPr algn="ctr" indent="0" marL="0">
                        <a:buNone/>
                      </a:pPr>
                      <a:r>
                        <a:rPr lang="en-US" sz="1100" b="1" dirty="0">
                          <a:solidFill>
                            <a:srgbClr val="FFFFFF"/>
                          </a:solidFill>
                          <a:latin typeface="Calibri" pitchFamily="34" charset="0"/>
                          <a:ea typeface="Calibri" pitchFamily="34" charset="-122"/>
                          <a:cs typeface="Calibri" pitchFamily="34" charset="-120"/>
                        </a:rPr>
                        <a:t>EBITDA margin</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solidFill>
                      <a:srgbClr val="14213D"/>
                    </a:solidFill>
                  </a:tcPr>
                </a:tc>
              </a:tr>
              <a:tr h="384048">
                <a:tc>
                  <a:txBody>
                    <a:bodyPr/>
                    <a:lstStyle/>
                    <a:p>
                      <a:pPr algn="l" indent="0" marL="0">
                        <a:buNone/>
                      </a:pPr>
                      <a:r>
                        <a:rPr lang="en-US" sz="1100" b="1" dirty="0">
                          <a:solidFill>
                            <a:srgbClr val="1E2530"/>
                          </a:solidFill>
                          <a:latin typeface="Calibri" pitchFamily="34" charset="0"/>
                          <a:ea typeface="Calibri" pitchFamily="34" charset="-122"/>
                          <a:cs typeface="Calibri" pitchFamily="34" charset="-120"/>
                        </a:rPr>
                        <a:t>Viscofan (BME:VIS)</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b="1" dirty="0">
                          <a:solidFill>
                            <a:srgbClr val="1E2530"/>
                          </a:solidFill>
                          <a:latin typeface="Calibri" pitchFamily="34" charset="0"/>
                          <a:ea typeface="Calibri" pitchFamily="34" charset="-122"/>
                          <a:cs typeface="Calibri" pitchFamily="34" charset="-120"/>
                        </a:rPr>
                        <a:t>9.9x</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b="1" dirty="0">
                          <a:solidFill>
                            <a:srgbClr val="1E2530"/>
                          </a:solidFill>
                          <a:latin typeface="Calibri" pitchFamily="34" charset="0"/>
                          <a:ea typeface="Calibri" pitchFamily="34" charset="-122"/>
                          <a:cs typeface="Calibri" pitchFamily="34" charset="-120"/>
                        </a:rPr>
                        <a:t>15.0x</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b="1" dirty="0">
                          <a:solidFill>
                            <a:srgbClr val="1E2530"/>
                          </a:solidFill>
                          <a:latin typeface="Calibri" pitchFamily="34" charset="0"/>
                          <a:ea typeface="Calibri" pitchFamily="34" charset="-122"/>
                          <a:cs typeface="Calibri" pitchFamily="34" charset="-120"/>
                        </a:rPr>
                        <a:t>21.5%</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r h="384048">
                <a:tc>
                  <a:txBody>
                    <a:bodyPr/>
                    <a:lstStyle/>
                    <a:p>
                      <a:pPr algn="l" indent="0" marL="0">
                        <a:buNone/>
                      </a:pPr>
                      <a:r>
                        <a:rPr lang="en-US" sz="1100" dirty="0">
                          <a:solidFill>
                            <a:srgbClr val="1E2530"/>
                          </a:solidFill>
                          <a:latin typeface="Calibri" pitchFamily="34" charset="0"/>
                          <a:ea typeface="Calibri" pitchFamily="34" charset="-122"/>
                          <a:cs typeface="Calibri" pitchFamily="34" charset="-120"/>
                        </a:rPr>
                        <a:t>Ebro Foods (BME:EBRO)</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7.5x</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12.5x</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c>
                  <a:txBody>
                    <a:bodyPr/>
                    <a:lstStyle/>
                    <a:p>
                      <a:pPr algn="ctr" indent="0" marL="0">
                        <a:buNone/>
                      </a:pPr>
                      <a:r>
                        <a:rPr lang="en-US" sz="1100" dirty="0">
                          <a:solidFill>
                            <a:srgbClr val="1E2530"/>
                          </a:solidFill>
                          <a:latin typeface="Calibri" pitchFamily="34" charset="0"/>
                          <a:ea typeface="Calibri" pitchFamily="34" charset="-122"/>
                          <a:cs typeface="Calibri" pitchFamily="34" charset="-120"/>
                        </a:rPr>
                        <a:t>13.3%</a:t>
                      </a:r>
                      <a:endParaRPr lang="en-US" sz="1100" dirty="0">
                        <a:latin typeface="Calibri" charset="0"/>
                        <a:ea typeface="Calibri" charset="0"/>
                        <a:cs typeface="Calibri" charset="0"/>
                      </a:endParaRPr>
                    </a:p>
                  </a:txBody>
                  <a:tcPr marL="63500" marR="63500" marT="38100" marB="38100" anchor="ctr">
                    <a:lnL w="6350" cap="flat" cmpd="sng" algn="ctr">
                      <a:solidFill>
                        <a:srgbClr val="D5DBE3"/>
                      </a:solidFill>
                      <a:prstDash val="solid"/>
                      <a:round/>
                      <a:headEnd type="none" w="med" len="med"/>
                      <a:tailEnd type="none" w="med" len="med"/>
                    </a:lnL>
                    <a:lnR w="6350" cap="flat" cmpd="sng" algn="ctr">
                      <a:solidFill>
                        <a:srgbClr val="D5DBE3"/>
                      </a:solidFill>
                      <a:prstDash val="solid"/>
                      <a:round/>
                      <a:headEnd type="none" w="med" len="med"/>
                      <a:tailEnd type="none" w="med" len="med"/>
                    </a:lnR>
                    <a:lnT w="6350" cap="flat" cmpd="sng" algn="ctr">
                      <a:solidFill>
                        <a:srgbClr val="D5DBE3"/>
                      </a:solidFill>
                      <a:prstDash val="solid"/>
                      <a:round/>
                      <a:headEnd type="none" w="med" len="med"/>
                      <a:tailEnd type="none" w="med" len="med"/>
                    </a:lnT>
                    <a:lnB w="6350" cap="flat" cmpd="sng" algn="ctr">
                      <a:solidFill>
                        <a:srgbClr val="D5DBE3"/>
                      </a:solidFill>
                      <a:prstDash val="solid"/>
                      <a:round/>
                      <a:headEnd type="none" w="med" len="med"/>
                      <a:tailEnd type="none" w="med" len="med"/>
                    </a:lnB>
                  </a:tcPr>
                </a:tc>
              </a:tr>
            </a:tbl>
          </a:graphicData>
        </a:graphic>
      </p:graphicFrame>
      <p:sp>
        <p:nvSpPr>
          <p:cNvPr id="7" name="Text 4"/>
          <p:cNvSpPr txBox="1"/>
          <p:nvPr/>
        </p:nvSpPr>
        <p:spPr>
          <a:xfrm>
            <a:off x="457200" y="2971800"/>
            <a:ext cx="5486400" cy="320040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E2530"/>
                </a:solidFill>
                <a:latin typeface="Calibri" pitchFamily="34" charset="0"/>
                <a:ea typeface="Calibri" pitchFamily="34" charset="-122"/>
                <a:cs typeface="Calibri" pitchFamily="34" charset="-120"/>
              </a:rPr>
              <a:t>Direct casing peers are few and mostly private: Devro was taken private by SARIA (2022); Shenguan (HK:0829) is a small Chinese collagen player; Viskase is controlled by Icahn. Hence multiples are a secondary check</a:t>
            </a:r>
            <a:endParaRPr lang="en-US" sz="1100" dirty="0"/>
          </a:p>
          <a:p>
            <a:pPr marL="152400" indent="-152400">
              <a:spcAft>
                <a:spcPts val="400"/>
              </a:spcAft>
              <a:buSzPct val="100000"/>
              <a:buChar char="•"/>
            </a:pPr>
            <a:r>
              <a:rPr lang="en-US" sz="1100" dirty="0">
                <a:solidFill>
                  <a:srgbClr val="1E2530"/>
                </a:solidFill>
                <a:latin typeface="Calibri" pitchFamily="34" charset="0"/>
                <a:ea typeface="Calibri" pitchFamily="34" charset="-122"/>
                <a:cs typeface="Calibri" pitchFamily="34" charset="-120"/>
              </a:rPr>
              <a:t>The 30% premium to Ebro reflects ~8pp higher margins and niche leadership. Our base case keeps it; our bear case removes it</a:t>
            </a:r>
            <a:endParaRPr lang="en-US" sz="1100" dirty="0"/>
          </a:p>
          <a:p>
            <a:pPr marL="152400" indent="-152400">
              <a:spcAft>
                <a:spcPts val="400"/>
              </a:spcAft>
              <a:buSzPct val="100000"/>
              <a:buChar char="•"/>
            </a:pPr>
            <a:r>
              <a:rPr lang="en-US" sz="1100" dirty="0">
                <a:solidFill>
                  <a:srgbClr val="1E2530"/>
                </a:solidFill>
                <a:latin typeface="Calibri" pitchFamily="34" charset="0"/>
                <a:ea typeface="Calibri" pitchFamily="34" charset="-122"/>
                <a:cs typeface="Calibri" pitchFamily="34" charset="-120"/>
              </a:rPr>
              <a:t>The broad agri/food peer set in the source reports (salmon, olive oil, agri-commodities) was dropped as not comparable</a:t>
            </a:r>
            <a:endParaRPr lang="en-US" sz="1100" dirty="0"/>
          </a:p>
        </p:txBody>
      </p:sp>
      <p:sp>
        <p:nvSpPr>
          <p:cNvPr id="8" name="Text 5"/>
          <p:cNvSpPr txBox="1"/>
          <p:nvPr/>
        </p:nvSpPr>
        <p:spPr>
          <a:xfrm>
            <a:off x="6400800" y="1645920"/>
            <a:ext cx="5303520" cy="320040"/>
          </a:xfrm>
          <a:prstGeom prst="rect">
            <a:avLst/>
          </a:prstGeom>
          <a:noFill/>
          <a:ln/>
        </p:spPr>
        <p:txBody>
          <a:bodyPr wrap="square" lIns="0" tIns="0" rIns="0" bIns="0" rtlCol="0" anchor="t"/>
          <a:lstStyle/>
          <a:p>
            <a:pPr indent="0" marL="0">
              <a:buNone/>
            </a:pPr>
            <a:r>
              <a:rPr lang="en-US" sz="1400" b="1" dirty="0">
                <a:solidFill>
                  <a:srgbClr val="14213D"/>
                </a:solidFill>
                <a:latin typeface="Cambria" pitchFamily="34" charset="0"/>
                <a:ea typeface="Cambria" pitchFamily="34" charset="-122"/>
                <a:cs typeface="Cambria" pitchFamily="34" charset="-120"/>
              </a:rPr>
              <a:t>Corrections to the source reports</a:t>
            </a:r>
            <a:endParaRPr lang="en-US" sz="1400" dirty="0"/>
          </a:p>
        </p:txBody>
      </p:sp>
      <p:sp>
        <p:nvSpPr>
          <p:cNvPr id="9" name="Text 6"/>
          <p:cNvSpPr txBox="1"/>
          <p:nvPr/>
        </p:nvSpPr>
        <p:spPr>
          <a:xfrm>
            <a:off x="6400800" y="2057400"/>
            <a:ext cx="5330952" cy="4114800"/>
          </a:xfrm>
          <a:prstGeom prst="rect">
            <a:avLst/>
          </a:prstGeom>
          <a:noFill/>
          <a:ln/>
        </p:spPr>
        <p:txBody>
          <a:bodyPr wrap="square" lIns="0" tIns="0" rIns="0" bIns="0" rtlCol="0" anchor="t"/>
          <a:lstStyle/>
          <a:p>
            <a:pPr marL="152400" indent="-152400">
              <a:spcAft>
                <a:spcPts val="400"/>
              </a:spcAft>
              <a:buSzPct val="100000"/>
              <a:buChar char="•"/>
            </a:pPr>
            <a:r>
              <a:rPr lang="en-US" sz="1100" dirty="0">
                <a:solidFill>
                  <a:srgbClr val="1E2530"/>
                </a:solidFill>
                <a:latin typeface="Calibri" pitchFamily="34" charset="0"/>
                <a:ea typeface="Calibri" pitchFamily="34" charset="-122"/>
                <a:cs typeface="Calibri" pitchFamily="34" charset="-120"/>
              </a:rPr>
              <a:t>Source DCF and comps mixed USD figures with a EUR share price; we rebuilt everything in EUR</a:t>
            </a:r>
            <a:endParaRPr lang="en-US" sz="1100" dirty="0"/>
          </a:p>
          <a:p>
            <a:pPr marL="152400" indent="-152400">
              <a:spcAft>
                <a:spcPts val="400"/>
              </a:spcAft>
              <a:buSzPct val="100000"/>
              <a:buChar char="•"/>
            </a:pPr>
            <a:r>
              <a:rPr lang="en-US" sz="1100" dirty="0">
                <a:solidFill>
                  <a:srgbClr val="1E2530"/>
                </a:solidFill>
                <a:latin typeface="Calibri" pitchFamily="34" charset="0"/>
                <a:ea typeface="Calibri" pitchFamily="34" charset="-122"/>
                <a:cs typeface="Calibri" pitchFamily="34" charset="-120"/>
              </a:rPr>
              <a:t>USD consensus implied +8.6% FY26 revenue growth (FX translation); we use EUR consensus (EBITDA €300.5M / €328.1M / €355.9M)</a:t>
            </a:r>
            <a:endParaRPr lang="en-US" sz="1100" dirty="0"/>
          </a:p>
          <a:p>
            <a:pPr marL="152400" indent="-152400">
              <a:spcAft>
                <a:spcPts val="400"/>
              </a:spcAft>
              <a:buSzPct val="100000"/>
              <a:buChar char="•"/>
            </a:pPr>
            <a:r>
              <a:rPr lang="en-US" sz="1100" dirty="0">
                <a:solidFill>
                  <a:srgbClr val="1E2530"/>
                </a:solidFill>
                <a:latin typeface="Calibri" pitchFamily="34" charset="0"/>
                <a:ea typeface="Calibri" pitchFamily="34" charset="-122"/>
                <a:cs typeface="Calibri" pitchFamily="34" charset="-120"/>
              </a:rPr>
              <a:t>Leverage: the source's 29% debt weight was book-based; market weights give 11%</a:t>
            </a:r>
            <a:endParaRPr lang="en-US" sz="1100" dirty="0"/>
          </a:p>
          <a:p>
            <a:pPr marL="152400" indent="-152400">
              <a:spcAft>
                <a:spcPts val="400"/>
              </a:spcAft>
              <a:buSzPct val="100000"/>
              <a:buChar char="•"/>
            </a:pPr>
            <a:r>
              <a:rPr lang="en-US" sz="1100" dirty="0">
                <a:solidFill>
                  <a:srgbClr val="1E2530"/>
                </a:solidFill>
                <a:latin typeface="Calibri" pitchFamily="34" charset="0"/>
                <a:ea typeface="Calibri" pitchFamily="34" charset="-122"/>
                <a:cs typeface="Calibri" pitchFamily="34" charset="-120"/>
              </a:rPr>
              <a:t>€21.9M in the debt bridge is tax paid, not FX; the Middle East shock is 2026, not 2025</a:t>
            </a:r>
            <a:endParaRPr lang="en-US" sz="1100" dirty="0"/>
          </a:p>
          <a:p>
            <a:pPr marL="152400" indent="-152400">
              <a:spcAft>
                <a:spcPts val="400"/>
              </a:spcAft>
              <a:buSzPct val="100000"/>
              <a:buChar char="•"/>
            </a:pPr>
            <a:r>
              <a:rPr lang="en-US" sz="1100" dirty="0">
                <a:solidFill>
                  <a:srgbClr val="1E2530"/>
                </a:solidFill>
                <a:latin typeface="Calibri" pitchFamily="34" charset="0"/>
                <a:ea typeface="Calibri" pitchFamily="34" charset="-122"/>
                <a:cs typeface="Calibri" pitchFamily="34" charset="-120"/>
              </a:rPr>
              <a:t>Devro is owned by SARIA, not Shenguan</a:t>
            </a:r>
            <a:endParaRPr lang="en-US" sz="1100" dirty="0"/>
          </a:p>
        </p:txBody>
      </p:sp>
      <p:sp>
        <p:nvSpPr>
          <p:cNvPr id="10" name="Text 7"/>
          <p:cNvSpPr txBox="1"/>
          <p:nvPr/>
        </p:nvSpPr>
        <p:spPr>
          <a:xfrm>
            <a:off x="457200" y="6473952"/>
            <a:ext cx="10180015" cy="274320"/>
          </a:xfrm>
          <a:prstGeom prst="rect">
            <a:avLst/>
          </a:prstGeom>
          <a:noFill/>
          <a:ln/>
        </p:spPr>
        <p:txBody>
          <a:bodyPr wrap="square" lIns="0" tIns="0" rIns="0" bIns="0" rtlCol="0" anchor="b"/>
          <a:lstStyle/>
          <a:p>
            <a:pPr indent="0" marL="0">
              <a:buNone/>
            </a:pPr>
            <a:r>
              <a:rPr lang="en-US" sz="850" dirty="0">
                <a:solidFill>
                  <a:srgbClr val="6B7684"/>
                </a:solidFill>
                <a:latin typeface="Calibri" pitchFamily="34" charset="0"/>
                <a:ea typeface="Calibri" pitchFamily="34" charset="-122"/>
                <a:cs typeface="Calibri" pitchFamily="34" charset="-120"/>
              </a:rPr>
              <a:t>Sources: S&amp;P Capital IQ multiples (priced 30 Sep 2026); team review of source research reports.</a:t>
            </a:r>
            <a:endParaRPr lang="en-US" sz="850" dirty="0"/>
          </a:p>
        </p:txBody>
      </p:sp>
      <p:sp>
        <p:nvSpPr>
          <p:cNvPr id="11" name="Text 8"/>
          <p:cNvSpPr txBox="1"/>
          <p:nvPr/>
        </p:nvSpPr>
        <p:spPr>
          <a:xfrm>
            <a:off x="8991295" y="6473952"/>
            <a:ext cx="2743200" cy="274320"/>
          </a:xfrm>
          <a:prstGeom prst="rect">
            <a:avLst/>
          </a:prstGeom>
          <a:noFill/>
          <a:ln/>
        </p:spPr>
        <p:txBody>
          <a:bodyPr wrap="square" lIns="0" tIns="0" rIns="0" bIns="0" rtlCol="0" anchor="b"/>
          <a:lstStyle/>
          <a:p>
            <a:pPr algn="r" indent="0" marL="0">
              <a:buNone/>
            </a:pPr>
            <a:r>
              <a:rPr lang="en-US" sz="850" dirty="0">
                <a:solidFill>
                  <a:srgbClr val="6B7684"/>
                </a:solidFill>
                <a:latin typeface="Calibri" pitchFamily="34" charset="0"/>
                <a:ea typeface="Calibri" pitchFamily="34" charset="-122"/>
                <a:cs typeface="Calibri" pitchFamily="34" charset="-120"/>
              </a:rPr>
              <a:t>HF &amp; Quant A · Viscofan (BME:VIS)</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347472"/>
            <a:ext cx="384048" cy="384048"/>
          </a:xfrm>
          <a:prstGeom prst="ellipse">
            <a:avLst/>
          </a:prstGeom>
          <a:solidFill>
            <a:srgbClr val="E8702A"/>
          </a:solidFill>
          <a:ln w="12700">
            <a:solidFill>
              <a:srgbClr val="E8702A"/>
            </a:solidFill>
            <a:prstDash val="solid"/>
          </a:ln>
        </p:spPr>
      </p:sp>
      <p:sp>
        <p:nvSpPr>
          <p:cNvPr id="3" name="Text 1"/>
          <p:cNvSpPr txBox="1"/>
          <p:nvPr/>
        </p:nvSpPr>
        <p:spPr>
          <a:xfrm>
            <a:off x="457200" y="347472"/>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A6</a:t>
            </a:r>
            <a:endParaRPr lang="en-US" sz="1100" dirty="0"/>
          </a:p>
        </p:txBody>
      </p:sp>
      <p:sp>
        <p:nvSpPr>
          <p:cNvPr id="4" name="Text 2"/>
          <p:cNvSpPr txBox="1"/>
          <p:nvPr/>
        </p:nvSpPr>
        <p:spPr>
          <a:xfrm>
            <a:off x="960120" y="347472"/>
            <a:ext cx="7315200" cy="384048"/>
          </a:xfrm>
          <a:prstGeom prst="rect">
            <a:avLst/>
          </a:prstGeom>
          <a:noFill/>
          <a:ln/>
        </p:spPr>
        <p:txBody>
          <a:bodyPr wrap="square" lIns="0" tIns="0" rIns="0" bIns="0" rtlCol="0" anchor="ctr"/>
          <a:lstStyle/>
          <a:p>
            <a:pPr indent="0" marL="0">
              <a:buNone/>
            </a:pPr>
            <a:r>
              <a:rPr lang="en-US" sz="1100" b="1" spc="200" kern="0" dirty="0">
                <a:solidFill>
                  <a:srgbClr val="5B7083"/>
                </a:solidFill>
                <a:latin typeface="Calibri" pitchFamily="34" charset="0"/>
                <a:ea typeface="Calibri" pitchFamily="34" charset="-122"/>
                <a:cs typeface="Calibri" pitchFamily="34" charset="-120"/>
              </a:rPr>
              <a:t>APPENDIX · TEAM CONTRIBUTION</a:t>
            </a:r>
            <a:endParaRPr lang="en-US" sz="1100" dirty="0"/>
          </a:p>
        </p:txBody>
      </p:sp>
      <p:sp>
        <p:nvSpPr>
          <p:cNvPr id="5" name="Text 3"/>
          <p:cNvSpPr txBox="1"/>
          <p:nvPr/>
        </p:nvSpPr>
        <p:spPr>
          <a:xfrm>
            <a:off x="457200" y="777240"/>
            <a:ext cx="11277295" cy="685800"/>
          </a:xfrm>
          <a:prstGeom prst="rect">
            <a:avLst/>
          </a:prstGeom>
          <a:noFill/>
          <a:ln/>
        </p:spPr>
        <p:txBody>
          <a:bodyPr wrap="square" lIns="0" tIns="0" rIns="0" bIns="0" rtlCol="0" anchor="t"/>
          <a:lstStyle/>
          <a:p>
            <a:pPr indent="0" marL="0">
              <a:buNone/>
            </a:pPr>
            <a:r>
              <a:rPr lang="en-US" sz="2400" b="1" dirty="0">
                <a:solidFill>
                  <a:srgbClr val="14213D"/>
                </a:solidFill>
                <a:latin typeface="Cambria" pitchFamily="34" charset="0"/>
                <a:ea typeface="Cambria" pitchFamily="34" charset="-122"/>
                <a:cs typeface="Cambria" pitchFamily="34" charset="-120"/>
              </a:rPr>
              <a:t>Team contribution: HF &amp; Quant A</a:t>
            </a:r>
            <a:endParaRPr lang="en-US" sz="2400" dirty="0"/>
          </a:p>
        </p:txBody>
      </p:sp>
      <p:sp>
        <p:nvSpPr>
          <p:cNvPr id="6" name="Shape 4"/>
          <p:cNvSpPr/>
          <p:nvPr/>
        </p:nvSpPr>
        <p:spPr>
          <a:xfrm>
            <a:off x="457200" y="2011680"/>
            <a:ext cx="2103120" cy="2194560"/>
          </a:xfrm>
          <a:prstGeom prst="roundRect">
            <a:avLst>
              <a:gd name="adj" fmla="val 3478"/>
            </a:avLst>
          </a:prstGeom>
          <a:solidFill>
            <a:srgbClr val="F3F5F8"/>
          </a:solidFill>
          <a:ln w="12700">
            <a:solidFill>
              <a:srgbClr val="F3F5F8"/>
            </a:solidFill>
            <a:prstDash val="solid"/>
          </a:ln>
        </p:spPr>
      </p:sp>
      <p:sp>
        <p:nvSpPr>
          <p:cNvPr id="7" name="Shape 5"/>
          <p:cNvSpPr/>
          <p:nvPr/>
        </p:nvSpPr>
        <p:spPr>
          <a:xfrm>
            <a:off x="1097280" y="2286000"/>
            <a:ext cx="822960" cy="822960"/>
          </a:xfrm>
          <a:prstGeom prst="ellipse">
            <a:avLst/>
          </a:prstGeom>
          <a:solidFill>
            <a:srgbClr val="14213D"/>
          </a:solidFill>
          <a:ln w="12700">
            <a:solidFill>
              <a:srgbClr val="14213D"/>
            </a:solidFill>
            <a:prstDash val="solid"/>
          </a:ln>
        </p:spPr>
      </p:sp>
      <p:sp>
        <p:nvSpPr>
          <p:cNvPr id="8" name="Text 6"/>
          <p:cNvSpPr txBox="1"/>
          <p:nvPr/>
        </p:nvSpPr>
        <p:spPr>
          <a:xfrm>
            <a:off x="1097280" y="2286000"/>
            <a:ext cx="82296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CG</a:t>
            </a:r>
            <a:endParaRPr lang="en-US" sz="2000" dirty="0"/>
          </a:p>
        </p:txBody>
      </p:sp>
      <p:sp>
        <p:nvSpPr>
          <p:cNvPr id="9" name="Text 7"/>
          <p:cNvSpPr txBox="1"/>
          <p:nvPr/>
        </p:nvSpPr>
        <p:spPr>
          <a:xfrm>
            <a:off x="548640" y="3200400"/>
            <a:ext cx="192024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Carmen Gavilanes</a:t>
            </a:r>
            <a:endParaRPr lang="en-US" sz="1300" dirty="0"/>
          </a:p>
        </p:txBody>
      </p:sp>
      <p:sp>
        <p:nvSpPr>
          <p:cNvPr id="10" name="Text 8"/>
          <p:cNvSpPr txBox="1"/>
          <p:nvPr/>
        </p:nvSpPr>
        <p:spPr>
          <a:xfrm>
            <a:off x="548640" y="3749040"/>
            <a:ext cx="1920240" cy="365760"/>
          </a:xfrm>
          <a:prstGeom prst="rect">
            <a:avLst/>
          </a:prstGeom>
          <a:noFill/>
          <a:ln/>
        </p:spPr>
        <p:txBody>
          <a:bodyPr wrap="square" lIns="0" tIns="0" rIns="0" bIns="0" rtlCol="0" anchor="t"/>
          <a:lstStyle/>
          <a:p>
            <a:pPr algn="ctr" indent="0" marL="0">
              <a:buNone/>
            </a:pPr>
            <a:r>
              <a:rPr lang="en-US" sz="1100" dirty="0">
                <a:solidFill>
                  <a:srgbClr val="6B7684"/>
                </a:solidFill>
                <a:latin typeface="Calibri" pitchFamily="34" charset="0"/>
                <a:ea typeface="Calibri" pitchFamily="34" charset="-122"/>
                <a:cs typeface="Calibri" pitchFamily="34" charset="-120"/>
              </a:rPr>
              <a:t>[role to confirm]</a:t>
            </a:r>
            <a:endParaRPr lang="en-US" sz="1100" dirty="0"/>
          </a:p>
        </p:txBody>
      </p:sp>
      <p:sp>
        <p:nvSpPr>
          <p:cNvPr id="11" name="Shape 9"/>
          <p:cNvSpPr/>
          <p:nvPr/>
        </p:nvSpPr>
        <p:spPr>
          <a:xfrm>
            <a:off x="2743200" y="2011680"/>
            <a:ext cx="2103120" cy="2194560"/>
          </a:xfrm>
          <a:prstGeom prst="roundRect">
            <a:avLst>
              <a:gd name="adj" fmla="val 3478"/>
            </a:avLst>
          </a:prstGeom>
          <a:solidFill>
            <a:srgbClr val="F3F5F8"/>
          </a:solidFill>
          <a:ln w="12700">
            <a:solidFill>
              <a:srgbClr val="F3F5F8"/>
            </a:solidFill>
            <a:prstDash val="solid"/>
          </a:ln>
        </p:spPr>
      </p:sp>
      <p:sp>
        <p:nvSpPr>
          <p:cNvPr id="12" name="Shape 10"/>
          <p:cNvSpPr/>
          <p:nvPr/>
        </p:nvSpPr>
        <p:spPr>
          <a:xfrm>
            <a:off x="3383280" y="2286000"/>
            <a:ext cx="822960" cy="822960"/>
          </a:xfrm>
          <a:prstGeom prst="ellipse">
            <a:avLst/>
          </a:prstGeom>
          <a:solidFill>
            <a:srgbClr val="14213D"/>
          </a:solidFill>
          <a:ln w="12700">
            <a:solidFill>
              <a:srgbClr val="14213D"/>
            </a:solidFill>
            <a:prstDash val="solid"/>
          </a:ln>
        </p:spPr>
      </p:sp>
      <p:sp>
        <p:nvSpPr>
          <p:cNvPr id="13" name="Text 11"/>
          <p:cNvSpPr txBox="1"/>
          <p:nvPr/>
        </p:nvSpPr>
        <p:spPr>
          <a:xfrm>
            <a:off x="3383280" y="2286000"/>
            <a:ext cx="82296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EF</a:t>
            </a:r>
            <a:endParaRPr lang="en-US" sz="2000" dirty="0"/>
          </a:p>
        </p:txBody>
      </p:sp>
      <p:sp>
        <p:nvSpPr>
          <p:cNvPr id="14" name="Text 12"/>
          <p:cNvSpPr txBox="1"/>
          <p:nvPr/>
        </p:nvSpPr>
        <p:spPr>
          <a:xfrm>
            <a:off x="2834640" y="3200400"/>
            <a:ext cx="192024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Eduardo Fortemps</a:t>
            </a:r>
            <a:endParaRPr lang="en-US" sz="1300" dirty="0"/>
          </a:p>
        </p:txBody>
      </p:sp>
      <p:sp>
        <p:nvSpPr>
          <p:cNvPr id="15" name="Text 13"/>
          <p:cNvSpPr txBox="1"/>
          <p:nvPr/>
        </p:nvSpPr>
        <p:spPr>
          <a:xfrm>
            <a:off x="2834640" y="3749040"/>
            <a:ext cx="1920240" cy="365760"/>
          </a:xfrm>
          <a:prstGeom prst="rect">
            <a:avLst/>
          </a:prstGeom>
          <a:noFill/>
          <a:ln/>
        </p:spPr>
        <p:txBody>
          <a:bodyPr wrap="square" lIns="0" tIns="0" rIns="0" bIns="0" rtlCol="0" anchor="t"/>
          <a:lstStyle/>
          <a:p>
            <a:pPr algn="ctr" indent="0" marL="0">
              <a:buNone/>
            </a:pPr>
            <a:r>
              <a:rPr lang="en-US" sz="1100" dirty="0">
                <a:solidFill>
                  <a:srgbClr val="6B7684"/>
                </a:solidFill>
                <a:latin typeface="Calibri" pitchFamily="34" charset="0"/>
                <a:ea typeface="Calibri" pitchFamily="34" charset="-122"/>
                <a:cs typeface="Calibri" pitchFamily="34" charset="-120"/>
              </a:rPr>
              <a:t>[role to confirm]</a:t>
            </a:r>
            <a:endParaRPr lang="en-US" sz="1100" dirty="0"/>
          </a:p>
        </p:txBody>
      </p:sp>
      <p:sp>
        <p:nvSpPr>
          <p:cNvPr id="16" name="Shape 14"/>
          <p:cNvSpPr/>
          <p:nvPr/>
        </p:nvSpPr>
        <p:spPr>
          <a:xfrm>
            <a:off x="5029200" y="2011680"/>
            <a:ext cx="2103120" cy="2194560"/>
          </a:xfrm>
          <a:prstGeom prst="roundRect">
            <a:avLst>
              <a:gd name="adj" fmla="val 3478"/>
            </a:avLst>
          </a:prstGeom>
          <a:solidFill>
            <a:srgbClr val="F3F5F8"/>
          </a:solidFill>
          <a:ln w="12700">
            <a:solidFill>
              <a:srgbClr val="F3F5F8"/>
            </a:solidFill>
            <a:prstDash val="solid"/>
          </a:ln>
        </p:spPr>
      </p:sp>
      <p:sp>
        <p:nvSpPr>
          <p:cNvPr id="17" name="Shape 15"/>
          <p:cNvSpPr/>
          <p:nvPr/>
        </p:nvSpPr>
        <p:spPr>
          <a:xfrm>
            <a:off x="5669280" y="2286000"/>
            <a:ext cx="822960" cy="822960"/>
          </a:xfrm>
          <a:prstGeom prst="ellipse">
            <a:avLst/>
          </a:prstGeom>
          <a:solidFill>
            <a:srgbClr val="14213D"/>
          </a:solidFill>
          <a:ln w="12700">
            <a:solidFill>
              <a:srgbClr val="14213D"/>
            </a:solidFill>
            <a:prstDash val="solid"/>
          </a:ln>
        </p:spPr>
      </p:sp>
      <p:sp>
        <p:nvSpPr>
          <p:cNvPr id="18" name="Text 16"/>
          <p:cNvSpPr txBox="1"/>
          <p:nvPr/>
        </p:nvSpPr>
        <p:spPr>
          <a:xfrm>
            <a:off x="5669280" y="2286000"/>
            <a:ext cx="82296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IQ</a:t>
            </a:r>
            <a:endParaRPr lang="en-US" sz="2000" dirty="0"/>
          </a:p>
        </p:txBody>
      </p:sp>
      <p:sp>
        <p:nvSpPr>
          <p:cNvPr id="19" name="Text 17"/>
          <p:cNvSpPr txBox="1"/>
          <p:nvPr/>
        </p:nvSpPr>
        <p:spPr>
          <a:xfrm>
            <a:off x="5120640" y="3200400"/>
            <a:ext cx="192024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Ignacio Queipo de Llano</a:t>
            </a:r>
            <a:endParaRPr lang="en-US" sz="1300" dirty="0"/>
          </a:p>
        </p:txBody>
      </p:sp>
      <p:sp>
        <p:nvSpPr>
          <p:cNvPr id="20" name="Text 18"/>
          <p:cNvSpPr txBox="1"/>
          <p:nvPr/>
        </p:nvSpPr>
        <p:spPr>
          <a:xfrm>
            <a:off x="5120640" y="3749040"/>
            <a:ext cx="1920240" cy="365760"/>
          </a:xfrm>
          <a:prstGeom prst="rect">
            <a:avLst/>
          </a:prstGeom>
          <a:noFill/>
          <a:ln/>
        </p:spPr>
        <p:txBody>
          <a:bodyPr wrap="square" lIns="0" tIns="0" rIns="0" bIns="0" rtlCol="0" anchor="t"/>
          <a:lstStyle/>
          <a:p>
            <a:pPr algn="ctr" indent="0" marL="0">
              <a:buNone/>
            </a:pPr>
            <a:r>
              <a:rPr lang="en-US" sz="1100" dirty="0">
                <a:solidFill>
                  <a:srgbClr val="6B7684"/>
                </a:solidFill>
                <a:latin typeface="Calibri" pitchFamily="34" charset="0"/>
                <a:ea typeface="Calibri" pitchFamily="34" charset="-122"/>
                <a:cs typeface="Calibri" pitchFamily="34" charset="-120"/>
              </a:rPr>
              <a:t>[role to confirm]</a:t>
            </a:r>
            <a:endParaRPr lang="en-US" sz="1100" dirty="0"/>
          </a:p>
        </p:txBody>
      </p:sp>
      <p:sp>
        <p:nvSpPr>
          <p:cNvPr id="21" name="Shape 19"/>
          <p:cNvSpPr/>
          <p:nvPr/>
        </p:nvSpPr>
        <p:spPr>
          <a:xfrm>
            <a:off x="7315200" y="2011680"/>
            <a:ext cx="2103120" cy="2194560"/>
          </a:xfrm>
          <a:prstGeom prst="roundRect">
            <a:avLst>
              <a:gd name="adj" fmla="val 3478"/>
            </a:avLst>
          </a:prstGeom>
          <a:solidFill>
            <a:srgbClr val="F3F5F8"/>
          </a:solidFill>
          <a:ln w="12700">
            <a:solidFill>
              <a:srgbClr val="F3F5F8"/>
            </a:solidFill>
            <a:prstDash val="solid"/>
          </a:ln>
        </p:spPr>
      </p:sp>
      <p:sp>
        <p:nvSpPr>
          <p:cNvPr id="22" name="Shape 20"/>
          <p:cNvSpPr/>
          <p:nvPr/>
        </p:nvSpPr>
        <p:spPr>
          <a:xfrm>
            <a:off x="7955280" y="2286000"/>
            <a:ext cx="822960" cy="822960"/>
          </a:xfrm>
          <a:prstGeom prst="ellipse">
            <a:avLst/>
          </a:prstGeom>
          <a:solidFill>
            <a:srgbClr val="14213D"/>
          </a:solidFill>
          <a:ln w="12700">
            <a:solidFill>
              <a:srgbClr val="14213D"/>
            </a:solidFill>
            <a:prstDash val="solid"/>
          </a:ln>
        </p:spPr>
      </p:sp>
      <p:sp>
        <p:nvSpPr>
          <p:cNvPr id="23" name="Text 21"/>
          <p:cNvSpPr txBox="1"/>
          <p:nvPr/>
        </p:nvSpPr>
        <p:spPr>
          <a:xfrm>
            <a:off x="7955280" y="2286000"/>
            <a:ext cx="82296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JG</a:t>
            </a:r>
            <a:endParaRPr lang="en-US" sz="2000" dirty="0"/>
          </a:p>
        </p:txBody>
      </p:sp>
      <p:sp>
        <p:nvSpPr>
          <p:cNvPr id="24" name="Text 22"/>
          <p:cNvSpPr txBox="1"/>
          <p:nvPr/>
        </p:nvSpPr>
        <p:spPr>
          <a:xfrm>
            <a:off x="7406640" y="3200400"/>
            <a:ext cx="192024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Jaime Gefaell</a:t>
            </a:r>
            <a:endParaRPr lang="en-US" sz="1300" dirty="0"/>
          </a:p>
        </p:txBody>
      </p:sp>
      <p:sp>
        <p:nvSpPr>
          <p:cNvPr id="25" name="Text 23"/>
          <p:cNvSpPr txBox="1"/>
          <p:nvPr/>
        </p:nvSpPr>
        <p:spPr>
          <a:xfrm>
            <a:off x="7406640" y="3749040"/>
            <a:ext cx="1920240" cy="365760"/>
          </a:xfrm>
          <a:prstGeom prst="rect">
            <a:avLst/>
          </a:prstGeom>
          <a:noFill/>
          <a:ln/>
        </p:spPr>
        <p:txBody>
          <a:bodyPr wrap="square" lIns="0" tIns="0" rIns="0" bIns="0" rtlCol="0" anchor="t"/>
          <a:lstStyle/>
          <a:p>
            <a:pPr algn="ctr" indent="0" marL="0">
              <a:buNone/>
            </a:pPr>
            <a:r>
              <a:rPr lang="en-US" sz="1100" dirty="0">
                <a:solidFill>
                  <a:srgbClr val="6B7684"/>
                </a:solidFill>
                <a:latin typeface="Calibri" pitchFamily="34" charset="0"/>
                <a:ea typeface="Calibri" pitchFamily="34" charset="-122"/>
                <a:cs typeface="Calibri" pitchFamily="34" charset="-120"/>
              </a:rPr>
              <a:t>[role to confirm]</a:t>
            </a:r>
            <a:endParaRPr lang="en-US" sz="1100" dirty="0"/>
          </a:p>
        </p:txBody>
      </p:sp>
      <p:sp>
        <p:nvSpPr>
          <p:cNvPr id="26" name="Shape 24"/>
          <p:cNvSpPr/>
          <p:nvPr/>
        </p:nvSpPr>
        <p:spPr>
          <a:xfrm>
            <a:off x="9601200" y="2011680"/>
            <a:ext cx="2103120" cy="2194560"/>
          </a:xfrm>
          <a:prstGeom prst="roundRect">
            <a:avLst>
              <a:gd name="adj" fmla="val 3478"/>
            </a:avLst>
          </a:prstGeom>
          <a:solidFill>
            <a:srgbClr val="F3F5F8"/>
          </a:solidFill>
          <a:ln w="12700">
            <a:solidFill>
              <a:srgbClr val="F3F5F8"/>
            </a:solidFill>
            <a:prstDash val="solid"/>
          </a:ln>
        </p:spPr>
      </p:sp>
      <p:sp>
        <p:nvSpPr>
          <p:cNvPr id="27" name="Shape 25"/>
          <p:cNvSpPr/>
          <p:nvPr/>
        </p:nvSpPr>
        <p:spPr>
          <a:xfrm>
            <a:off x="10241280" y="2286000"/>
            <a:ext cx="822960" cy="822960"/>
          </a:xfrm>
          <a:prstGeom prst="ellipse">
            <a:avLst/>
          </a:prstGeom>
          <a:solidFill>
            <a:srgbClr val="14213D"/>
          </a:solidFill>
          <a:ln w="12700">
            <a:solidFill>
              <a:srgbClr val="14213D"/>
            </a:solidFill>
            <a:prstDash val="solid"/>
          </a:ln>
        </p:spPr>
      </p:sp>
      <p:sp>
        <p:nvSpPr>
          <p:cNvPr id="28" name="Text 26"/>
          <p:cNvSpPr txBox="1"/>
          <p:nvPr/>
        </p:nvSpPr>
        <p:spPr>
          <a:xfrm>
            <a:off x="10241280" y="2286000"/>
            <a:ext cx="822960" cy="82296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+1</a:t>
            </a:r>
            <a:endParaRPr lang="en-US" sz="2000" dirty="0"/>
          </a:p>
        </p:txBody>
      </p:sp>
      <p:sp>
        <p:nvSpPr>
          <p:cNvPr id="29" name="Text 27"/>
          <p:cNvSpPr txBox="1"/>
          <p:nvPr/>
        </p:nvSpPr>
        <p:spPr>
          <a:xfrm>
            <a:off x="9692640" y="3200400"/>
            <a:ext cx="1920240" cy="502920"/>
          </a:xfrm>
          <a:prstGeom prst="rect">
            <a:avLst/>
          </a:prstGeom>
          <a:noFill/>
          <a:ln/>
        </p:spPr>
        <p:txBody>
          <a:bodyPr wrap="square" lIns="0" tIns="0" rIns="0" bIns="0" rtlCol="0" anchor="ctr"/>
          <a:lstStyle/>
          <a:p>
            <a:pPr algn="ctr" indent="0" marL="0">
              <a:buNone/>
            </a:pPr>
            <a:r>
              <a:rPr lang="en-US" sz="1300" b="1" dirty="0">
                <a:solidFill>
                  <a:srgbClr val="14213D"/>
                </a:solidFill>
                <a:latin typeface="Calibri" pitchFamily="34" charset="0"/>
                <a:ea typeface="Calibri" pitchFamily="34" charset="-122"/>
                <a:cs typeface="Calibri" pitchFamily="34" charset="-120"/>
              </a:rPr>
              <a:t>MiM student</a:t>
            </a:r>
            <a:endParaRPr lang="en-US" sz="1300" dirty="0"/>
          </a:p>
        </p:txBody>
      </p:sp>
      <p:sp>
        <p:nvSpPr>
          <p:cNvPr id="30" name="Text 28"/>
          <p:cNvSpPr txBox="1"/>
          <p:nvPr/>
        </p:nvSpPr>
        <p:spPr>
          <a:xfrm>
            <a:off x="9692640" y="3749040"/>
            <a:ext cx="1920240" cy="365760"/>
          </a:xfrm>
          <a:prstGeom prst="rect">
            <a:avLst/>
          </a:prstGeom>
          <a:noFill/>
          <a:ln/>
        </p:spPr>
        <p:txBody>
          <a:bodyPr wrap="square" lIns="0" tIns="0" rIns="0" bIns="0" rtlCol="0" anchor="t"/>
          <a:lstStyle/>
          <a:p>
            <a:pPr algn="ctr" indent="0" marL="0">
              <a:buNone/>
            </a:pPr>
            <a:r>
              <a:rPr lang="en-US" sz="1100" dirty="0">
                <a:solidFill>
                  <a:srgbClr val="6B7684"/>
                </a:solidFill>
                <a:latin typeface="Calibri" pitchFamily="34" charset="0"/>
                <a:ea typeface="Calibri" pitchFamily="34" charset="-122"/>
                <a:cs typeface="Calibri" pitchFamily="34" charset="-120"/>
              </a:rPr>
              <a:t>[name &amp; role]</a:t>
            </a:r>
            <a:endParaRPr lang="en-US" sz="1100" dirty="0"/>
          </a:p>
        </p:txBody>
      </p:sp>
      <p:sp>
        <p:nvSpPr>
          <p:cNvPr id="31" name="Text 29"/>
          <p:cNvSpPr txBox="1"/>
          <p:nvPr/>
        </p:nvSpPr>
        <p:spPr>
          <a:xfrm>
            <a:off x="457200" y="4572000"/>
            <a:ext cx="11247120" cy="365760"/>
          </a:xfrm>
          <a:prstGeom prst="rect">
            <a:avLst/>
          </a:prstGeom>
          <a:noFill/>
          <a:ln/>
        </p:spPr>
        <p:txBody>
          <a:bodyPr wrap="square" lIns="0" tIns="0" rIns="0" bIns="0" rtlCol="0" anchor="t"/>
          <a:lstStyle/>
          <a:p>
            <a:pPr indent="0" marL="0">
              <a:buNone/>
            </a:pPr>
            <a:r>
              <a:rPr lang="en-US" sz="1100" dirty="0">
                <a:solidFill>
                  <a:srgbClr val="6B7684"/>
                </a:solidFill>
                <a:latin typeface="Calibri" pitchFamily="34" charset="0"/>
                <a:ea typeface="Calibri" pitchFamily="34" charset="-122"/>
                <a:cs typeface="Calibri" pitchFamily="34" charset="-120"/>
              </a:rPr>
              <a:t>Roles: Company &amp; market · Thesis &amp; variant view · Valuation · Risks &amp; downside · Slides &amp; storyline</a:t>
            </a:r>
            <a:endParaRPr lang="en-US" sz="1100" dirty="0"/>
          </a:p>
        </p:txBody>
      </p:sp>
      <p:sp>
        <p:nvSpPr>
          <p:cNvPr id="32" name="Text 30"/>
          <p:cNvSpPr txBox="1"/>
          <p:nvPr/>
        </p:nvSpPr>
        <p:spPr>
          <a:xfrm>
            <a:off x="457200" y="6473952"/>
            <a:ext cx="10180015" cy="274320"/>
          </a:xfrm>
          <a:prstGeom prst="rect">
            <a:avLst/>
          </a:prstGeom>
          <a:noFill/>
          <a:ln/>
        </p:spPr>
        <p:txBody>
          <a:bodyPr wrap="square" lIns="0" tIns="0" rIns="0" bIns="0" rtlCol="0" anchor="b"/>
          <a:lstStyle/>
          <a:p>
            <a:pPr indent="0" marL="0">
              <a:buNone/>
            </a:pPr>
            <a:r>
              <a:rPr lang="en-US" sz="850" dirty="0">
                <a:solidFill>
                  <a:srgbClr val="6B7684"/>
                </a:solidFill>
                <a:latin typeface="Calibri" pitchFamily="34" charset="0"/>
                <a:ea typeface="Calibri" pitchFamily="34" charset="-122"/>
                <a:cs typeface="Calibri" pitchFamily="34" charset="-120"/>
              </a:rPr>
              <a:t>IESE MiF &amp; MiM Finance Pitch Competition · 1–2 October 2026</a:t>
            </a:r>
            <a:endParaRPr lang="en-US" sz="850" dirty="0"/>
          </a:p>
        </p:txBody>
      </p:sp>
      <p:sp>
        <p:nvSpPr>
          <p:cNvPr id="33" name="Text 31"/>
          <p:cNvSpPr txBox="1"/>
          <p:nvPr/>
        </p:nvSpPr>
        <p:spPr>
          <a:xfrm>
            <a:off x="8991295" y="6473952"/>
            <a:ext cx="2743200" cy="274320"/>
          </a:xfrm>
          <a:prstGeom prst="rect">
            <a:avLst/>
          </a:prstGeom>
          <a:noFill/>
          <a:ln/>
        </p:spPr>
        <p:txBody>
          <a:bodyPr wrap="square" lIns="0" tIns="0" rIns="0" bIns="0" rtlCol="0" anchor="b"/>
          <a:lstStyle/>
          <a:p>
            <a:pPr algn="r" indent="0" marL="0">
              <a:buNone/>
            </a:pPr>
            <a:r>
              <a:rPr lang="en-US" sz="850" dirty="0">
                <a:solidFill>
                  <a:srgbClr val="6B7684"/>
                </a:solidFill>
                <a:latin typeface="Calibri" pitchFamily="34" charset="0"/>
                <a:ea typeface="Calibri" pitchFamily="34" charset="-122"/>
                <a:cs typeface="Calibri" pitchFamily="34" charset="-120"/>
              </a:rPr>
              <a:t>HF &amp; Quant A · Viscofan (BME:VIS)</a:t>
            </a:r>
            <a:endParaRPr lang="en-US" sz="8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Viscofan – Long – HF &amp; Quant A</dc:title>
  <dc:subject>PptxGenJS Presentation</dc:subject>
  <dc:creator>PptxGenJS</dc:creator>
  <cp:lastModifiedBy>PptxGenJS</cp:lastModifiedBy>
  <cp:revision>1</cp:revision>
  <dcterms:created xsi:type="dcterms:W3CDTF">2026-10-01T18:11:29Z</dcterms:created>
  <dcterms:modified xsi:type="dcterms:W3CDTF">2026-10-01T18:11:29Z</dcterms:modified>
</cp:coreProperties>
</file>